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536" r:id="rId2"/>
    <p:sldId id="541" r:id="rId3"/>
    <p:sldId id="542" r:id="rId4"/>
  </p:sldIdLst>
  <p:sldSz cx="9144000" cy="6858000" type="screen4x3"/>
  <p:notesSz cx="6799263" cy="9929813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90E9521-6377-4938-A6C1-03AF772C470D}" v="2" dt="2026-09-09T08:52:25.2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14" autoAdjust="0"/>
    <p:restoredTop sz="86432" autoAdjust="0"/>
  </p:normalViewPr>
  <p:slideViewPr>
    <p:cSldViewPr snapToGrid="0">
      <p:cViewPr varScale="1">
        <p:scale>
          <a:sx n="66" d="100"/>
          <a:sy n="66" d="100"/>
        </p:scale>
        <p:origin x="191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microsoft.com/office/2016/11/relationships/changesInfo" Target="changesInfos/changesInfo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RGE GALLUD CANO" userId="aa07a950-3061-465d-9845-1f16ea714d1e" providerId="ADAL" clId="{652E886E-EB52-40C6-999B-D6033CDA24D2}"/>
    <pc:docChg chg="undo custSel addSld delSld modSld sldOrd modNotesMaster modHandout">
      <pc:chgData name="JORGE GALLUD CANO" userId="aa07a950-3061-465d-9845-1f16ea714d1e" providerId="ADAL" clId="{652E886E-EB52-40C6-999B-D6033CDA24D2}" dt="2026-09-09T08:52:25.232" v="519"/>
      <pc:docMkLst>
        <pc:docMk/>
      </pc:docMkLst>
      <pc:sldChg chg="modSp mod">
        <pc:chgData name="JORGE GALLUD CANO" userId="aa07a950-3061-465d-9845-1f16ea714d1e" providerId="ADAL" clId="{652E886E-EB52-40C6-999B-D6033CDA24D2}" dt="2026-09-09T08:52:25.232" v="519"/>
        <pc:sldMkLst>
          <pc:docMk/>
          <pc:sldMk cId="707880807" sldId="536"/>
        </pc:sldMkLst>
        <pc:spChg chg="mod">
          <ac:chgData name="JORGE GALLUD CANO" userId="aa07a950-3061-465d-9845-1f16ea714d1e" providerId="ADAL" clId="{652E886E-EB52-40C6-999B-D6033CDA24D2}" dt="2026-09-09T08:51:35.082" v="514" actId="6549"/>
          <ac:spMkLst>
            <pc:docMk/>
            <pc:sldMk cId="707880807" sldId="536"/>
            <ac:spMk id="17" creationId="{00000000-0000-0000-0000-000000000000}"/>
          </ac:spMkLst>
        </pc:spChg>
        <pc:spChg chg="mod">
          <ac:chgData name="JORGE GALLUD CANO" userId="aa07a950-3061-465d-9845-1f16ea714d1e" providerId="ADAL" clId="{652E886E-EB52-40C6-999B-D6033CDA24D2}" dt="2026-09-09T08:52:25.232" v="519"/>
          <ac:spMkLst>
            <pc:docMk/>
            <pc:sldMk cId="707880807" sldId="536"/>
            <ac:spMk id="18" creationId="{00000000-0000-0000-0000-000000000000}"/>
          </ac:spMkLst>
        </pc:spChg>
      </pc:sldChg>
      <pc:sldChg chg="del">
        <pc:chgData name="JORGE GALLUD CANO" userId="aa07a950-3061-465d-9845-1f16ea714d1e" providerId="ADAL" clId="{652E886E-EB52-40C6-999B-D6033CDA24D2}" dt="2026-09-09T08:52:11.836" v="516" actId="47"/>
        <pc:sldMkLst>
          <pc:docMk/>
          <pc:sldMk cId="465850784" sldId="537"/>
        </pc:sldMkLst>
      </pc:sldChg>
      <pc:sldChg chg="del">
        <pc:chgData name="JORGE GALLUD CANO" userId="aa07a950-3061-465d-9845-1f16ea714d1e" providerId="ADAL" clId="{652E886E-EB52-40C6-999B-D6033CDA24D2}" dt="2026-09-09T08:52:11.836" v="516" actId="47"/>
        <pc:sldMkLst>
          <pc:docMk/>
          <pc:sldMk cId="4067792214" sldId="538"/>
        </pc:sldMkLst>
      </pc:sldChg>
      <pc:sldChg chg="del">
        <pc:chgData name="JORGE GALLUD CANO" userId="aa07a950-3061-465d-9845-1f16ea714d1e" providerId="ADAL" clId="{652E886E-EB52-40C6-999B-D6033CDA24D2}" dt="2026-09-09T08:52:11.836" v="516" actId="47"/>
        <pc:sldMkLst>
          <pc:docMk/>
          <pc:sldMk cId="1448990937" sldId="539"/>
        </pc:sldMkLst>
      </pc:sldChg>
      <pc:sldChg chg="del">
        <pc:chgData name="JORGE GALLUD CANO" userId="aa07a950-3061-465d-9845-1f16ea714d1e" providerId="ADAL" clId="{652E886E-EB52-40C6-999B-D6033CDA24D2}" dt="2026-09-09T08:52:11.836" v="516" actId="47"/>
        <pc:sldMkLst>
          <pc:docMk/>
          <pc:sldMk cId="955192983" sldId="540"/>
        </pc:sldMkLst>
      </pc:sldChg>
      <pc:sldChg chg="del">
        <pc:chgData name="JORGE GALLUD CANO" userId="aa07a950-3061-465d-9845-1f16ea714d1e" providerId="ADAL" clId="{652E886E-EB52-40C6-999B-D6033CDA24D2}" dt="2026-09-09T08:52:11.836" v="516" actId="47"/>
        <pc:sldMkLst>
          <pc:docMk/>
          <pc:sldMk cId="112043818" sldId="543"/>
        </pc:sldMkLst>
      </pc:sldChg>
      <pc:sldChg chg="del">
        <pc:chgData name="JORGE GALLUD CANO" userId="aa07a950-3061-465d-9845-1f16ea714d1e" providerId="ADAL" clId="{652E886E-EB52-40C6-999B-D6033CDA24D2}" dt="2026-09-09T08:52:11.836" v="516" actId="47"/>
        <pc:sldMkLst>
          <pc:docMk/>
          <pc:sldMk cId="3834304839" sldId="544"/>
        </pc:sldMkLst>
      </pc:sldChg>
      <pc:sldChg chg="del">
        <pc:chgData name="JORGE GALLUD CANO" userId="aa07a950-3061-465d-9845-1f16ea714d1e" providerId="ADAL" clId="{652E886E-EB52-40C6-999B-D6033CDA24D2}" dt="2026-09-09T08:51:55.756" v="515" actId="47"/>
        <pc:sldMkLst>
          <pc:docMk/>
          <pc:sldMk cId="2999834531" sldId="545"/>
        </pc:sldMkLst>
      </pc:sldChg>
      <pc:sldChg chg="del">
        <pc:chgData name="JORGE GALLUD CANO" userId="aa07a950-3061-465d-9845-1f16ea714d1e" providerId="ADAL" clId="{652E886E-EB52-40C6-999B-D6033CDA24D2}" dt="2026-09-09T08:52:11.836" v="516" actId="47"/>
        <pc:sldMkLst>
          <pc:docMk/>
          <pc:sldMk cId="1714084538" sldId="546"/>
        </pc:sldMkLst>
      </pc:sldChg>
      <pc:sldChg chg="del">
        <pc:chgData name="JORGE GALLUD CANO" userId="aa07a950-3061-465d-9845-1f16ea714d1e" providerId="ADAL" clId="{652E886E-EB52-40C6-999B-D6033CDA24D2}" dt="2026-09-09T08:52:11.836" v="516" actId="47"/>
        <pc:sldMkLst>
          <pc:docMk/>
          <pc:sldMk cId="2788892632" sldId="547"/>
        </pc:sldMkLst>
      </pc:sldChg>
      <pc:sldChg chg="del">
        <pc:chgData name="JORGE GALLUD CANO" userId="aa07a950-3061-465d-9845-1f16ea714d1e" providerId="ADAL" clId="{652E886E-EB52-40C6-999B-D6033CDA24D2}" dt="2026-09-09T08:52:11.836" v="516" actId="47"/>
        <pc:sldMkLst>
          <pc:docMk/>
          <pc:sldMk cId="4059919958" sldId="548"/>
        </pc:sldMkLst>
      </pc:sldChg>
      <pc:sldChg chg="del">
        <pc:chgData name="JORGE GALLUD CANO" userId="aa07a950-3061-465d-9845-1f16ea714d1e" providerId="ADAL" clId="{652E886E-EB52-40C6-999B-D6033CDA24D2}" dt="2026-09-09T08:52:11.836" v="516" actId="47"/>
        <pc:sldMkLst>
          <pc:docMk/>
          <pc:sldMk cId="1554437338" sldId="549"/>
        </pc:sldMkLst>
      </pc:sldChg>
      <pc:sldChg chg="del">
        <pc:chgData name="JORGE GALLUD CANO" userId="aa07a950-3061-465d-9845-1f16ea714d1e" providerId="ADAL" clId="{652E886E-EB52-40C6-999B-D6033CDA24D2}" dt="2026-09-09T08:52:11.836" v="516" actId="47"/>
        <pc:sldMkLst>
          <pc:docMk/>
          <pc:sldMk cId="3794647123" sldId="550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46347" cy="498215"/>
          </a:xfrm>
          <a:prstGeom prst="rect">
            <a:avLst/>
          </a:prstGeom>
        </p:spPr>
        <p:txBody>
          <a:bodyPr vert="horz" lIns="91430" tIns="45716" rIns="91430" bIns="45716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51345" y="2"/>
            <a:ext cx="2946347" cy="498215"/>
          </a:xfrm>
          <a:prstGeom prst="rect">
            <a:avLst/>
          </a:prstGeom>
        </p:spPr>
        <p:txBody>
          <a:bodyPr vert="horz" lIns="91430" tIns="45716" rIns="91430" bIns="45716" rtlCol="0"/>
          <a:lstStyle>
            <a:lvl1pPr algn="r">
              <a:defRPr sz="1200"/>
            </a:lvl1pPr>
          </a:lstStyle>
          <a:p>
            <a:fld id="{9356850D-52B1-405F-8CD7-E0365C566C9E}" type="datetimeFigureOut">
              <a:rPr lang="es-ES" smtClean="0"/>
              <a:t>09/09/2026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2" y="9431603"/>
            <a:ext cx="2946347" cy="498214"/>
          </a:xfrm>
          <a:prstGeom prst="rect">
            <a:avLst/>
          </a:prstGeom>
        </p:spPr>
        <p:txBody>
          <a:bodyPr vert="horz" lIns="91430" tIns="45716" rIns="91430" bIns="45716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51345" y="9431603"/>
            <a:ext cx="2946347" cy="498214"/>
          </a:xfrm>
          <a:prstGeom prst="rect">
            <a:avLst/>
          </a:prstGeom>
        </p:spPr>
        <p:txBody>
          <a:bodyPr vert="horz" lIns="91430" tIns="45716" rIns="91430" bIns="45716" rtlCol="0" anchor="b"/>
          <a:lstStyle>
            <a:lvl1pPr algn="r">
              <a:defRPr sz="1200"/>
            </a:lvl1pPr>
          </a:lstStyle>
          <a:p>
            <a:fld id="{AA1D005A-BFD1-4A33-B93F-A326C62FF44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75998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46347" cy="498215"/>
          </a:xfrm>
          <a:prstGeom prst="rect">
            <a:avLst/>
          </a:prstGeom>
        </p:spPr>
        <p:txBody>
          <a:bodyPr vert="horz" lIns="91430" tIns="45716" rIns="91430" bIns="45716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51345" y="2"/>
            <a:ext cx="2946347" cy="498215"/>
          </a:xfrm>
          <a:prstGeom prst="rect">
            <a:avLst/>
          </a:prstGeom>
        </p:spPr>
        <p:txBody>
          <a:bodyPr vert="horz" lIns="91430" tIns="45716" rIns="91430" bIns="45716" rtlCol="0"/>
          <a:lstStyle>
            <a:lvl1pPr algn="r">
              <a:defRPr sz="1200"/>
            </a:lvl1pPr>
          </a:lstStyle>
          <a:p>
            <a:fld id="{EA1C35A5-6E39-4CDE-A04F-1B1EEA008340}" type="datetimeFigureOut">
              <a:rPr lang="es-ES" smtClean="0"/>
              <a:t>09/09/2026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165225" y="1239838"/>
            <a:ext cx="4468813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6" rIns="91430" bIns="45716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79928" y="4778724"/>
            <a:ext cx="5439410" cy="3909864"/>
          </a:xfrm>
          <a:prstGeom prst="rect">
            <a:avLst/>
          </a:prstGeom>
        </p:spPr>
        <p:txBody>
          <a:bodyPr vert="horz" lIns="91430" tIns="45716" rIns="91430" bIns="45716" rtlCol="0"/>
          <a:lstStyle/>
          <a:p>
            <a:pPr lvl="0"/>
            <a:r>
              <a:rPr lang="es-ES"/>
              <a:t>Edit the text style of the pattern</a:t>
            </a:r>
          </a:p>
          <a:p>
            <a:pPr lvl="1"/>
            <a:r>
              <a:rPr lang="es-ES"/>
              <a:t>Second level</a:t>
            </a:r>
          </a:p>
          <a:p>
            <a:pPr lvl="2"/>
            <a:r>
              <a:rPr lang="es-ES"/>
              <a:t>Third level</a:t>
            </a:r>
          </a:p>
          <a:p>
            <a:pPr lvl="3"/>
            <a:r>
              <a:rPr lang="es-ES"/>
              <a:t>Fourth level</a:t>
            </a:r>
          </a:p>
          <a:p>
            <a:pPr lvl="4"/>
            <a:r>
              <a:rPr lang="es-ES"/>
              <a:t>Fifth level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31603"/>
            <a:ext cx="2946347" cy="498214"/>
          </a:xfrm>
          <a:prstGeom prst="rect">
            <a:avLst/>
          </a:prstGeom>
        </p:spPr>
        <p:txBody>
          <a:bodyPr vert="horz" lIns="91430" tIns="45716" rIns="91430" bIns="45716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51345" y="9431603"/>
            <a:ext cx="2946347" cy="498214"/>
          </a:xfrm>
          <a:prstGeom prst="rect">
            <a:avLst/>
          </a:prstGeom>
        </p:spPr>
        <p:txBody>
          <a:bodyPr vert="horz" lIns="91430" tIns="45716" rIns="91430" bIns="45716" rtlCol="0" anchor="b"/>
          <a:lstStyle>
            <a:lvl1pPr algn="r">
              <a:defRPr sz="1200"/>
            </a:lvl1pPr>
          </a:lstStyle>
          <a:p>
            <a:fld id="{1AC4CD01-607E-441F-90BB-5949BD8D465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81732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723308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010957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49786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>
            <a:noAutofit/>
          </a:bodyPr>
          <a:lstStyle>
            <a:lvl1pPr algn="l">
              <a:defRPr sz="3200"/>
            </a:lvl1pPr>
          </a:lstStyle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</p:spTree>
    <p:extLst>
      <p:ext uri="{BB962C8B-B14F-4D97-AF65-F5344CB8AC3E}">
        <p14:creationId xmlns:p14="http://schemas.microsoft.com/office/powerpoint/2010/main" val="2664473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s-ES"/>
              <a:t>FC21</a:t>
            </a:r>
            <a:endParaRPr lang="es-ES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205EE-51C7-4D1A-8E6C-D977F3A45C5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54068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s-ES" dirty="0"/>
              <a:t>Editar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s-ES"/>
              <a:t>FC21</a:t>
            </a:r>
            <a:endParaRPr lang="es-E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205EE-51C7-4D1A-8E6C-D977F3A45C5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34407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28650" y="365126"/>
            <a:ext cx="3868340" cy="823912"/>
          </a:xfrm>
        </p:spPr>
        <p:txBody>
          <a:bodyPr anchor="b">
            <a:noAutofit/>
          </a:bodyPr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29842" y="1355726"/>
            <a:ext cx="3868340" cy="4833937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4629150" y="365127"/>
            <a:ext cx="3887391" cy="823912"/>
          </a:xfrm>
        </p:spPr>
        <p:txBody>
          <a:bodyPr anchor="b">
            <a:noAutofit/>
          </a:bodyPr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4629150" y="1355726"/>
            <a:ext cx="3887391" cy="4833937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FC21</a:t>
            </a:r>
            <a:endParaRPr lang="es-ES" dirty="0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205EE-51C7-4D1A-8E6C-D977F3A45C5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34704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dirty="0"/>
              <a:t>Click to modify the pattern title style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 the text style of the pattern</a:t>
            </a:r>
          </a:p>
          <a:p>
            <a:pPr lvl="1"/>
            <a:r>
              <a:rPr lang="es-ES"/>
              <a:t>Second level</a:t>
            </a:r>
          </a:p>
          <a:p>
            <a:pPr lvl="2"/>
            <a:r>
              <a:rPr lang="es-ES"/>
              <a:t>Third level</a:t>
            </a:r>
          </a:p>
          <a:p>
            <a:pPr lvl="3"/>
            <a:r>
              <a:rPr lang="es-ES"/>
              <a:t>Fourth level</a:t>
            </a:r>
          </a:p>
          <a:p>
            <a:pPr lvl="4"/>
            <a:r>
              <a:rPr lang="es-ES"/>
              <a:t>Fifth level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s-ES"/>
              <a:t>FC21</a:t>
            </a:r>
            <a:endParaRPr lang="es-ES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0205EE-51C7-4D1A-8E6C-D977F3A45C5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80680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ítulo 1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dirty="0" err="1"/>
              <a:t>Unit</a:t>
            </a:r>
            <a:r>
              <a:rPr lang="es-ES" dirty="0"/>
              <a:t> 4</a:t>
            </a:r>
            <a:br>
              <a:rPr lang="es-ES" dirty="0"/>
            </a:br>
            <a:r>
              <a:rPr lang="es-ES" dirty="0" err="1"/>
              <a:t>Financial</a:t>
            </a:r>
            <a:r>
              <a:rPr lang="es-ES" dirty="0"/>
              <a:t> </a:t>
            </a:r>
            <a:r>
              <a:rPr lang="es-ES" dirty="0" err="1"/>
              <a:t>Analysis</a:t>
            </a:r>
            <a:endParaRPr lang="es-ES" dirty="0"/>
          </a:p>
        </p:txBody>
      </p:sp>
      <p:sp>
        <p:nvSpPr>
          <p:cNvPr id="18" name="Subtítulo 17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ES" dirty="0" err="1"/>
              <a:t>Financial</a:t>
            </a:r>
            <a:r>
              <a:rPr lang="es-ES" dirty="0"/>
              <a:t> </a:t>
            </a:r>
            <a:r>
              <a:rPr lang="es-ES" dirty="0" err="1"/>
              <a:t>analysis</a:t>
            </a:r>
            <a:endParaRPr lang="es-ES" dirty="0"/>
          </a:p>
          <a:p>
            <a:r>
              <a:rPr lang="es-ES" dirty="0" err="1"/>
              <a:t>Average</a:t>
            </a:r>
            <a:r>
              <a:rPr lang="es-ES" dirty="0"/>
              <a:t> </a:t>
            </a:r>
            <a:r>
              <a:rPr lang="es-ES" dirty="0" err="1"/>
              <a:t>payback</a:t>
            </a:r>
            <a:r>
              <a:rPr lang="es-ES" dirty="0"/>
              <a:t> time</a:t>
            </a:r>
          </a:p>
        </p:txBody>
      </p:sp>
    </p:spTree>
    <p:extLst>
      <p:ext uri="{BB962C8B-B14F-4D97-AF65-F5344CB8AC3E}">
        <p14:creationId xmlns:p14="http://schemas.microsoft.com/office/powerpoint/2010/main" val="7078808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Financial analysis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s-ES" dirty="0">
                <a:solidFill>
                  <a:prstClr val="black"/>
                </a:solidFill>
                <a:latin typeface="Montserrat"/>
              </a:rPr>
              <a:t>Financial analysis: </a:t>
            </a:r>
            <a:r>
              <a:rPr kumimoji="0" lang="es-ES" b="0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ability to meet debts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s-ES" dirty="0">
                <a:solidFill>
                  <a:prstClr val="black"/>
                </a:solidFill>
                <a:latin typeface="Montserrat"/>
              </a:rPr>
              <a:t>In the short term, </a:t>
            </a:r>
            <a:r>
              <a:rPr lang="es-ES" b="1" dirty="0">
                <a:solidFill>
                  <a:prstClr val="black"/>
                </a:solidFill>
                <a:latin typeface="Montserrat"/>
              </a:rPr>
              <a:t>liquidity</a:t>
            </a:r>
            <a:r>
              <a:rPr lang="es-ES" dirty="0">
                <a:solidFill>
                  <a:prstClr val="black"/>
                </a:solidFill>
                <a:latin typeface="Montserrat"/>
              </a:rPr>
              <a:t>:</a:t>
            </a:r>
            <a:endParaRPr kumimoji="0" lang="es-ES" b="0" i="0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ontserrat"/>
              <a:ea typeface="+mn-ea"/>
              <a:cs typeface="+mn-cs"/>
            </a:endParaRPr>
          </a:p>
          <a:p>
            <a:pPr lvl="1">
              <a:lnSpc>
                <a:spcPct val="150000"/>
              </a:lnSpc>
              <a:tabLst>
                <a:tab pos="5111750" algn="l"/>
              </a:tabLst>
            </a:pPr>
            <a:r>
              <a:rPr lang="es-ES" dirty="0">
                <a:solidFill>
                  <a:prstClr val="black"/>
                </a:solidFill>
                <a:latin typeface="Montserrat"/>
              </a:rPr>
              <a:t>Working capital = CA</a:t>
            </a:r>
            <a:r>
              <a:rPr kumimoji="0" lang="es-ES" b="0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 - CL (over A)</a:t>
            </a:r>
            <a:endParaRPr lang="es-ES" dirty="0">
              <a:solidFill>
                <a:prstClr val="black"/>
              </a:solidFill>
              <a:latin typeface="Montserrat"/>
            </a:endParaRPr>
          </a:p>
          <a:p>
            <a:pPr lvl="1">
              <a:lnSpc>
                <a:spcPct val="150000"/>
              </a:lnSpc>
              <a:tabLst>
                <a:tab pos="5111750" algn="l"/>
              </a:tabLst>
            </a:pPr>
            <a:r>
              <a:rPr lang="es-ES" dirty="0" err="1">
                <a:solidFill>
                  <a:prstClr val="black"/>
                </a:solidFill>
                <a:latin typeface="Montserrat"/>
              </a:rPr>
              <a:t>Average</a:t>
            </a:r>
            <a:r>
              <a:rPr lang="es-ES" dirty="0">
                <a:solidFill>
                  <a:prstClr val="black"/>
                </a:solidFill>
                <a:latin typeface="Montserrat"/>
              </a:rPr>
              <a:t> </a:t>
            </a:r>
            <a:r>
              <a:rPr lang="es-ES" dirty="0" err="1">
                <a:solidFill>
                  <a:prstClr val="black"/>
                </a:solidFill>
                <a:latin typeface="Montserrat"/>
              </a:rPr>
              <a:t>payback</a:t>
            </a:r>
            <a:r>
              <a:rPr lang="es-ES" dirty="0">
                <a:solidFill>
                  <a:prstClr val="black"/>
                </a:solidFill>
                <a:latin typeface="Montserrat"/>
              </a:rPr>
              <a:t> time</a:t>
            </a:r>
          </a:p>
          <a:p>
            <a:pPr lvl="1">
              <a:lnSpc>
                <a:spcPct val="150000"/>
              </a:lnSpc>
              <a:tabLst>
                <a:tab pos="5111750" algn="l"/>
              </a:tabLst>
            </a:pPr>
            <a:r>
              <a:rPr lang="es-ES" dirty="0">
                <a:solidFill>
                  <a:prstClr val="black"/>
                </a:solidFill>
                <a:latin typeface="Montserrat"/>
              </a:rPr>
              <a:t>Liquidity ratio = </a:t>
            </a:r>
            <a:r>
              <a:rPr kumimoji="0" lang="es-ES" b="0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CA / CL (</a:t>
            </a:r>
            <a:r>
              <a:rPr kumimoji="0" lang="es-ES" b="0" i="0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subtract</a:t>
            </a:r>
            <a:r>
              <a:rPr kumimoji="0" lang="es-ES" b="0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 </a:t>
            </a:r>
            <a:r>
              <a:rPr kumimoji="0" lang="es-ES" b="0" i="0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inventories</a:t>
            </a:r>
            <a:r>
              <a:rPr kumimoji="0" lang="es-ES" b="0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 </a:t>
            </a:r>
            <a:r>
              <a:rPr kumimoji="0" lang="es-ES" b="0" i="0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for</a:t>
            </a:r>
            <a:r>
              <a:rPr kumimoji="0" lang="es-ES" b="0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 </a:t>
            </a:r>
            <a:r>
              <a:rPr kumimoji="0" lang="es-ES" b="0" i="0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acid</a:t>
            </a:r>
            <a:r>
              <a:rPr kumimoji="0" lang="es-ES" b="0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 test)</a:t>
            </a:r>
          </a:p>
          <a:p>
            <a:pPr>
              <a:lnSpc>
                <a:spcPct val="150000"/>
              </a:lnSpc>
              <a:tabLst>
                <a:tab pos="5111750" algn="l"/>
              </a:tabLst>
            </a:pPr>
            <a:r>
              <a:rPr lang="es-ES" dirty="0">
                <a:solidFill>
                  <a:prstClr val="black"/>
                </a:solidFill>
                <a:latin typeface="Montserrat"/>
              </a:rPr>
              <a:t>In </a:t>
            </a:r>
            <a:r>
              <a:rPr lang="es-ES" dirty="0" err="1">
                <a:solidFill>
                  <a:prstClr val="black"/>
                </a:solidFill>
                <a:latin typeface="Montserrat"/>
              </a:rPr>
              <a:t>the</a:t>
            </a:r>
            <a:r>
              <a:rPr lang="es-ES" dirty="0">
                <a:solidFill>
                  <a:prstClr val="black"/>
                </a:solidFill>
                <a:latin typeface="Montserrat"/>
              </a:rPr>
              <a:t> </a:t>
            </a:r>
            <a:r>
              <a:rPr lang="es-ES" dirty="0" err="1">
                <a:solidFill>
                  <a:prstClr val="black"/>
                </a:solidFill>
                <a:latin typeface="Montserrat"/>
              </a:rPr>
              <a:t>long</a:t>
            </a:r>
            <a:r>
              <a:rPr lang="es-ES" dirty="0">
                <a:solidFill>
                  <a:prstClr val="black"/>
                </a:solidFill>
                <a:latin typeface="Montserrat"/>
              </a:rPr>
              <a:t> </a:t>
            </a:r>
            <a:r>
              <a:rPr lang="es-ES" dirty="0" err="1">
                <a:solidFill>
                  <a:prstClr val="black"/>
                </a:solidFill>
                <a:latin typeface="Montserrat"/>
              </a:rPr>
              <a:t>term</a:t>
            </a:r>
            <a:r>
              <a:rPr lang="es-ES" dirty="0">
                <a:solidFill>
                  <a:prstClr val="black"/>
                </a:solidFill>
                <a:latin typeface="Montserrat"/>
              </a:rPr>
              <a:t>, </a:t>
            </a:r>
            <a:r>
              <a:rPr kumimoji="0" lang="es-ES" b="1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solvency</a:t>
            </a:r>
            <a:r>
              <a:rPr lang="es-ES" dirty="0">
                <a:solidFill>
                  <a:prstClr val="black"/>
                </a:solidFill>
                <a:latin typeface="Montserrat"/>
              </a:rPr>
              <a:t>:</a:t>
            </a:r>
            <a:endParaRPr kumimoji="0" lang="es-ES" b="0" i="0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ontserrat"/>
              <a:ea typeface="+mn-ea"/>
              <a:cs typeface="+mn-cs"/>
            </a:endParaRPr>
          </a:p>
          <a:p>
            <a:pPr lvl="1">
              <a:lnSpc>
                <a:spcPct val="150000"/>
              </a:lnSpc>
              <a:tabLst>
                <a:tab pos="5111750" algn="l"/>
              </a:tabLst>
            </a:pPr>
            <a:r>
              <a:rPr kumimoji="0" lang="es-ES" b="0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Solvency Ratio = </a:t>
            </a:r>
            <a:r>
              <a:rPr lang="es-ES" dirty="0">
                <a:solidFill>
                  <a:prstClr val="black"/>
                </a:solidFill>
                <a:latin typeface="Montserrat"/>
              </a:rPr>
              <a:t>A </a:t>
            </a:r>
            <a:r>
              <a:rPr kumimoji="0" lang="es-ES" b="0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/>
                <a:ea typeface="+mn-ea"/>
                <a:cs typeface="+mn-cs"/>
              </a:rPr>
              <a:t>/ P</a:t>
            </a:r>
          </a:p>
          <a:p>
            <a:pPr lvl="1">
              <a:lnSpc>
                <a:spcPct val="150000"/>
              </a:lnSpc>
              <a:tabLst>
                <a:tab pos="5111750" algn="l"/>
              </a:tabLst>
            </a:pPr>
            <a:r>
              <a:rPr lang="es-ES" dirty="0">
                <a:solidFill>
                  <a:prstClr val="black"/>
                </a:solidFill>
                <a:latin typeface="Montserrat"/>
              </a:rPr>
              <a:t>Z Altman</a:t>
            </a:r>
            <a:endParaRPr kumimoji="0" lang="es-ES" b="0" i="0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ontserrat"/>
              <a:ea typeface="+mn-ea"/>
              <a:cs typeface="+mn-cs"/>
            </a:endParaRPr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205EE-51C7-4D1A-8E6C-D977F3A45C5C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8481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1EB62C-530D-CAA1-C1E9-9A6797CF86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CFS</a:t>
            </a:r>
          </a:p>
        </p:txBody>
      </p:sp>
      <p:graphicFrame>
        <p:nvGraphicFramePr>
          <p:cNvPr id="4" name="Marcador de contenido 3">
            <a:extLst>
              <a:ext uri="{FF2B5EF4-FFF2-40B4-BE49-F238E27FC236}">
                <a16:creationId xmlns:a16="http://schemas.microsoft.com/office/drawing/2014/main" id="{41C0237A-71FA-8EB3-C80C-9905220E82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75854110"/>
              </p:ext>
            </p:extLst>
          </p:nvPr>
        </p:nvGraphicFramePr>
        <p:xfrm>
          <a:off x="628649" y="1825625"/>
          <a:ext cx="5220000" cy="30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0">
                  <a:extLst>
                    <a:ext uri="{9D8B030D-6E8A-4147-A177-3AD203B41FA5}">
                      <a16:colId xmlns:a16="http://schemas.microsoft.com/office/drawing/2014/main" val="3613664808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03567503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06468438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876901950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Life cycle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CFO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CFI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CFF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44589146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/>
                      <a:r>
                        <a:rPr lang="es-E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introduction</a:t>
                      </a:r>
                      <a:endParaRPr lang="es-ES" sz="1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80000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+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1960781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/>
                      <a:r>
                        <a:rPr lang="es-E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growth</a:t>
                      </a:r>
                    </a:p>
                  </a:txBody>
                  <a:tcPr marL="180000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+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+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02055146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/>
                      <a:r>
                        <a:rPr lang="es-E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maturity</a:t>
                      </a:r>
                    </a:p>
                  </a:txBody>
                  <a:tcPr marL="180000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+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5914317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/>
                      <a:r>
                        <a:rPr lang="es-E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decline</a:t>
                      </a:r>
                    </a:p>
                  </a:txBody>
                  <a:tcPr marL="180000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+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+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9108343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/>
                      <a:r>
                        <a:rPr lang="es-E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restructuring</a:t>
                      </a:r>
                    </a:p>
                  </a:txBody>
                  <a:tcPr marL="180000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+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+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6443713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/>
                      <a:r>
                        <a:rPr lang="es-E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liquidation</a:t>
                      </a:r>
                    </a:p>
                  </a:txBody>
                  <a:tcPr marL="180000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+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2350372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693241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Escala de grises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jgk">
      <a:majorFont>
        <a:latin typeface="Montserrat Semi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97</TotalTime>
  <Words>98</Words>
  <Application>Microsoft Office PowerPoint</Application>
  <PresentationFormat>Presentación en pantalla (4:3)</PresentationFormat>
  <Paragraphs>42</Paragraphs>
  <Slides>3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9" baseType="lpstr">
      <vt:lpstr>Arial</vt:lpstr>
      <vt:lpstr>Calibri</vt:lpstr>
      <vt:lpstr>Montserrat</vt:lpstr>
      <vt:lpstr>Montserrat SemiBold</vt:lpstr>
      <vt:lpstr>Wingdings</vt:lpstr>
      <vt:lpstr>Tema de Office</vt:lpstr>
      <vt:lpstr>Unit 4 Financial Analysis</vt:lpstr>
      <vt:lpstr>Financial analysis</vt:lpstr>
      <vt:lpstr>CFS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>, docId:E9EC07B154617142189B27290182C271</cp:keywords>
  <cp:lastModifiedBy>JORGE GALLUD CANO</cp:lastModifiedBy>
  <cp:revision>1</cp:revision>
  <dcterms:created xsi:type="dcterms:W3CDTF">2021-03-24T11:03:23Z</dcterms:created>
  <dcterms:modified xsi:type="dcterms:W3CDTF">2026-09-09T08:52:27Z</dcterms:modified>
</cp:coreProperties>
</file>