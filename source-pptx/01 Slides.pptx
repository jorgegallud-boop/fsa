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6" r:id="rId3"/>
    <p:sldId id="257" r:id="rId4"/>
    <p:sldId id="258" r:id="rId5"/>
    <p:sldId id="525" r:id="rId6"/>
    <p:sldId id="278" r:id="rId7"/>
    <p:sldId id="422" r:id="rId8"/>
    <p:sldId id="276" r:id="rId9"/>
    <p:sldId id="527" r:id="rId10"/>
    <p:sldId id="528" r:id="rId11"/>
    <p:sldId id="529" r:id="rId12"/>
    <p:sldId id="530" r:id="rId13"/>
    <p:sldId id="531" r:id="rId14"/>
  </p:sldIdLst>
  <p:sldSz cx="9144000" cy="6858000" type="screen4x3"/>
  <p:notesSz cx="6797675" cy="992505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86432" autoAdjust="0"/>
  </p:normalViewPr>
  <p:slideViewPr>
    <p:cSldViewPr snapToGrid="0">
      <p:cViewPr varScale="1">
        <p:scale>
          <a:sx n="66" d="100"/>
          <a:sy n="66" d="100"/>
        </p:scale>
        <p:origin x="19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LUD CANO" userId="aa07a950-3061-465d-9845-1f16ea714d1e" providerId="ADAL" clId="{652E886E-EB52-40C6-999B-D6033CDA24D2}"/>
    <pc:docChg chg="modSld">
      <pc:chgData name="JORGE GALLUD CANO" userId="aa07a950-3061-465d-9845-1f16ea714d1e" providerId="ADAL" clId="{652E886E-EB52-40C6-999B-D6033CDA24D2}" dt="2026-09-09T08:53:00.903" v="17" actId="20577"/>
      <pc:docMkLst>
        <pc:docMk/>
      </pc:docMkLst>
      <pc:sldChg chg="modSp mod">
        <pc:chgData name="JORGE GALLUD CANO" userId="aa07a950-3061-465d-9845-1f16ea714d1e" providerId="ADAL" clId="{652E886E-EB52-40C6-999B-D6033CDA24D2}" dt="2026-09-09T08:53:00.903" v="17" actId="20577"/>
        <pc:sldMkLst>
          <pc:docMk/>
          <pc:sldMk cId="178495425" sldId="257"/>
        </pc:sldMkLst>
        <pc:spChg chg="mod">
          <ac:chgData name="JORGE GALLUD CANO" userId="aa07a950-3061-465d-9845-1f16ea714d1e" providerId="ADAL" clId="{652E886E-EB52-40C6-999B-D6033CDA24D2}" dt="2026-09-09T08:53:00.903" v="17" actId="20577"/>
          <ac:spMkLst>
            <pc:docMk/>
            <pc:sldMk cId="178495425" sldId="257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9356850D-52B1-405F-8CD7-E0365C566C9E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2" y="9427078"/>
            <a:ext cx="2945659" cy="497974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5" y="9427078"/>
            <a:ext cx="2945659" cy="497974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AA1D005A-BFD1-4A33-B93F-A326C62FF4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9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7976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EA1C35A5-6E39-4CDE-A04F-1B1EEA008340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3" tIns="45702" rIns="91403" bIns="45702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9"/>
          </a:xfrm>
          <a:prstGeom prst="rect">
            <a:avLst/>
          </a:prstGeom>
        </p:spPr>
        <p:txBody>
          <a:bodyPr vert="horz" lIns="91403" tIns="45702" rIns="91403" bIns="45702" rtlCol="0"/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27078"/>
            <a:ext cx="2945659" cy="497974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5" y="9427078"/>
            <a:ext cx="2945659" cy="497974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1AC4CD01-607E-441F-90BB-5949BD8D46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73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9488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02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13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233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Asses</a:t>
            </a:r>
            <a:r>
              <a:rPr lang="es-ES" dirty="0"/>
              <a:t> </a:t>
            </a:r>
            <a:r>
              <a:rPr lang="es-ES" dirty="0" err="1"/>
              <a:t>value</a:t>
            </a:r>
            <a:endParaRPr lang="es-ES" dirty="0"/>
          </a:p>
          <a:p>
            <a:r>
              <a:rPr lang="es-ES" dirty="0" err="1"/>
              <a:t>Decision</a:t>
            </a:r>
            <a:r>
              <a:rPr lang="es-ES" dirty="0"/>
              <a:t> </a:t>
            </a:r>
            <a:r>
              <a:rPr lang="es-ES" dirty="0" err="1"/>
              <a:t>making</a:t>
            </a:r>
            <a:endParaRPr lang="es-ES" dirty="0"/>
          </a:p>
          <a:p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users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1931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The conceptual framework of the PGC develops the usefulness of accounting </a:t>
            </a:r>
            <a:r>
              <a:rPr lang="es-ES" dirty="0" err="1"/>
              <a:t>information.</a:t>
            </a:r>
          </a:p>
          <a:p>
            <a:r>
              <a:rPr lang="es-ES" dirty="0"/>
              <a:t>It must be understandable (clear, reliable) and useful (comparable, relevant).</a:t>
            </a:r>
          </a:p>
          <a:p>
            <a:r>
              <a:rPr lang="es-ES" dirty="0"/>
              <a:t>All users receive the same </a:t>
            </a:r>
            <a:r>
              <a:rPr lang="es-ES" dirty="0" err="1"/>
              <a:t>information </a:t>
            </a:r>
            <a:r>
              <a:rPr lang="es-ES" dirty="0"/>
              <a:t>and each one assesses the risk-return ratio.</a:t>
            </a:r>
          </a:p>
        </p:txBody>
      </p:sp>
    </p:spTree>
    <p:extLst>
      <p:ext uri="{BB962C8B-B14F-4D97-AF65-F5344CB8AC3E}">
        <p14:creationId xmlns:p14="http://schemas.microsoft.com/office/powerpoint/2010/main" val="3158107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34">
              <a:defRPr/>
            </a:pPr>
            <a:r>
              <a:rPr lang="es-ES" dirty="0"/>
              <a:t>The application of </a:t>
            </a:r>
            <a:r>
              <a:rPr lang="es-ES" baseline="0" dirty="0"/>
              <a:t>accounting principles gives a true and fair view; the objective is not to comply with the principles, but to give a true and fair </a:t>
            </a:r>
            <a:r>
              <a:rPr lang="es-ES" baseline="0" dirty="0" err="1"/>
              <a:t>view</a:t>
            </a:r>
            <a:r>
              <a:rPr lang="es-ES" baseline="0" dirty="0"/>
              <a:t> (relative </a:t>
            </a:r>
            <a:r>
              <a:rPr lang="es-ES" baseline="0" dirty="0" err="1"/>
              <a:t>importance</a:t>
            </a:r>
            <a:r>
              <a:rPr lang="es-ES" baseline="0" dirty="0"/>
              <a:t> </a:t>
            </a:r>
            <a:r>
              <a:rPr lang="es-ES" baseline="0" dirty="0" err="1"/>
              <a:t>principle</a:t>
            </a:r>
            <a:r>
              <a:rPr lang="es-ES" baseline="0" dirty="0"/>
              <a:t>).</a:t>
            </a:r>
            <a:endParaRPr lang="es-ES" dirty="0"/>
          </a:p>
          <a:p>
            <a:pPr defTabSz="914034">
              <a:defRPr/>
            </a:pPr>
            <a:r>
              <a:rPr lang="es-ES" dirty="0"/>
              <a:t>1. If the company is in liquidation, the net worth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determined.</a:t>
            </a:r>
          </a:p>
          <a:p>
            <a:pPr defTabSz="914034">
              <a:defRPr/>
            </a:pPr>
            <a:r>
              <a:rPr lang="es-ES" dirty="0"/>
              <a:t>2. Charge its expenditure/revenue to each financial year (</a:t>
            </a:r>
            <a:r>
              <a:rPr lang="es-ES" dirty="0" err="1"/>
              <a:t>accrual</a:t>
            </a:r>
            <a:r>
              <a:rPr lang="es-ES" dirty="0"/>
              <a:t>).</a:t>
            </a:r>
          </a:p>
          <a:p>
            <a:pPr defTabSz="914034">
              <a:defRPr/>
            </a:pPr>
            <a:r>
              <a:rPr lang="es-ES" dirty="0"/>
              <a:t>3. Maintain criteria or explain</a:t>
            </a:r>
          </a:p>
          <a:p>
            <a:pPr defTabSz="914034">
              <a:defRPr/>
            </a:pPr>
            <a:r>
              <a:rPr lang="es-ES" dirty="0"/>
              <a:t>4. When estimating or valuing (inventories, risks, litigation). Benefits when realised; risks </a:t>
            </a:r>
            <a:r>
              <a:rPr lang="es-ES" baseline="0" dirty="0"/>
              <a:t>when known.</a:t>
            </a:r>
            <a:endParaRPr lang="es-ES" dirty="0"/>
          </a:p>
          <a:p>
            <a:pPr defTabSz="914034">
              <a:defRPr/>
            </a:pPr>
            <a:r>
              <a:rPr lang="es-ES" dirty="0"/>
              <a:t>5. Neither assets with liabilities nor expenses with income</a:t>
            </a:r>
          </a:p>
          <a:p>
            <a:pPr defTabSz="914034">
              <a:defRPr/>
            </a:pPr>
            <a:r>
              <a:rPr lang="es-ES" dirty="0"/>
              <a:t>6. Strict non-application where materiality is relative (quantity or quality), provided that it does not blur the true and fair view.</a:t>
            </a:r>
          </a:p>
        </p:txBody>
      </p:sp>
    </p:spTree>
    <p:extLst>
      <p:ext uri="{BB962C8B-B14F-4D97-AF65-F5344CB8AC3E}">
        <p14:creationId xmlns:p14="http://schemas.microsoft.com/office/powerpoint/2010/main" val="3185913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8402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2846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dirty="0">
                <a:solidFill>
                  <a:srgbClr val="002060"/>
                </a:solidFill>
              </a:rPr>
              <a:t>The obligations of the entrepreneur with regard to accounting are set out in the </a:t>
            </a:r>
            <a:r>
              <a:rPr lang="es-ES" altLang="es-ES" sz="1200" dirty="0">
                <a:solidFill>
                  <a:srgbClr val="0070C0"/>
                </a:solidFill>
              </a:rPr>
              <a:t>Commercial Code (</a:t>
            </a:r>
            <a:r>
              <a:rPr lang="es-ES" altLang="es-ES" sz="1200" dirty="0" err="1">
                <a:solidFill>
                  <a:srgbClr val="0070C0"/>
                </a:solidFill>
              </a:rPr>
              <a:t>CCo</a:t>
            </a:r>
            <a:r>
              <a:rPr lang="es-ES" altLang="es-ES" sz="1200" dirty="0">
                <a:solidFill>
                  <a:srgbClr val="0070C0"/>
                </a:solidFill>
              </a:rPr>
              <a:t>) </a:t>
            </a:r>
            <a:r>
              <a:rPr lang="es-ES" altLang="es-ES" sz="1200" dirty="0">
                <a:solidFill>
                  <a:srgbClr val="002060"/>
                </a:solidFill>
              </a:rPr>
              <a:t>in Title III "Accounting by Entrepreneurs" (art. 25-49). It is structured in sections:</a:t>
            </a:r>
            <a:endParaRPr lang="es-ES" altLang="es-ES" sz="1200" b="1" dirty="0"/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b="0" dirty="0"/>
              <a:t>FIRST. </a:t>
            </a:r>
            <a:r>
              <a:rPr lang="es-ES" altLang="es-ES" sz="1200" b="0" dirty="0">
                <a:solidFill>
                  <a:srgbClr val="002060"/>
                </a:solidFill>
              </a:rPr>
              <a:t>Employers' books (Art. 25 to 33)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b="0" dirty="0"/>
              <a:t>SECOND. </a:t>
            </a:r>
            <a:r>
              <a:rPr lang="es-ES" altLang="es-ES" sz="1200" b="0" dirty="0">
                <a:solidFill>
                  <a:srgbClr val="002060"/>
                </a:solidFill>
              </a:rPr>
              <a:t>Annual accounts (Art. 34 to 41)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b="0" dirty="0"/>
              <a:t>THIRD. </a:t>
            </a:r>
            <a:r>
              <a:rPr lang="es-ES" altLang="es-ES" sz="1200" b="0" dirty="0">
                <a:solidFill>
                  <a:srgbClr val="002060"/>
                </a:solidFill>
              </a:rPr>
              <a:t>Presentation of the accounts of groups of companies (Art. 42-49)</a:t>
            </a:r>
          </a:p>
        </p:txBody>
      </p:sp>
    </p:spTree>
    <p:extLst>
      <p:ext uri="{BB962C8B-B14F-4D97-AF65-F5344CB8AC3E}">
        <p14:creationId xmlns:p14="http://schemas.microsoft.com/office/powerpoint/2010/main" val="1006874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s-ES" dirty="0"/>
              <a:t>Minute book: resolutions of the General Shareholders' Meetings.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" dirty="0"/>
              <a:t>They are legalised in the </a:t>
            </a:r>
            <a:r>
              <a:rPr lang="es-ES" dirty="0" err="1"/>
              <a:t>commercial</a:t>
            </a:r>
            <a:r>
              <a:rPr lang="es-ES" dirty="0"/>
              <a:t> </a:t>
            </a:r>
            <a:r>
              <a:rPr lang="es-ES" dirty="0" err="1"/>
              <a:t>register</a:t>
            </a:r>
            <a:r>
              <a:rPr lang="es-ES" dirty="0"/>
              <a:t>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b="0" dirty="0">
                <a:solidFill>
                  <a:srgbClr val="002060"/>
                </a:solidFill>
              </a:rPr>
              <a:t>Rules for the elaboration </a:t>
            </a:r>
            <a:r>
              <a:rPr lang="es-ES" altLang="es-ES" sz="1200" b="0" dirty="0" err="1">
                <a:solidFill>
                  <a:srgbClr val="002060"/>
                </a:solidFill>
              </a:rPr>
              <a:t>of</a:t>
            </a:r>
            <a:r>
              <a:rPr lang="es-ES" altLang="es-ES" sz="1200" b="0" dirty="0">
                <a:solidFill>
                  <a:srgbClr val="002060"/>
                </a:solidFill>
              </a:rPr>
              <a:t> FS and their </a:t>
            </a:r>
            <a:r>
              <a:rPr lang="es-ES" altLang="es-ES" sz="1200" b="0" dirty="0" err="1">
                <a:solidFill>
                  <a:srgbClr val="002060"/>
                </a:solidFill>
              </a:rPr>
              <a:t>composition</a:t>
            </a:r>
            <a:r>
              <a:rPr lang="es-ES" altLang="es-ES" sz="1200" b="0" dirty="0">
                <a:solidFill>
                  <a:srgbClr val="002060"/>
                </a:solidFill>
              </a:rPr>
              <a:t> (</a:t>
            </a:r>
            <a:r>
              <a:rPr lang="es-ES" altLang="es-ES" sz="1200" b="0" dirty="0" err="1">
                <a:solidFill>
                  <a:srgbClr val="002060"/>
                </a:solidFill>
              </a:rPr>
              <a:t>Unit</a:t>
            </a:r>
            <a:r>
              <a:rPr lang="es-ES" altLang="es-ES" sz="1200" b="0" dirty="0">
                <a:solidFill>
                  <a:srgbClr val="002060"/>
                </a:solidFill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214817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s-ES" altLang="es-ES" sz="1200" dirty="0">
                <a:solidFill>
                  <a:srgbClr val="002060"/>
                </a:solidFill>
              </a:rPr>
              <a:t>Management </a:t>
            </a:r>
            <a:r>
              <a:rPr lang="es-ES" altLang="es-ES" sz="1200" dirty="0" err="1">
                <a:solidFill>
                  <a:srgbClr val="002060"/>
                </a:solidFill>
              </a:rPr>
              <a:t>report</a:t>
            </a:r>
            <a:r>
              <a:rPr lang="es-ES" altLang="es-ES" sz="1200" dirty="0">
                <a:solidFill>
                  <a:srgbClr val="002060"/>
                </a:solidFill>
              </a:rPr>
              <a:t> (</a:t>
            </a:r>
            <a:r>
              <a:rPr lang="es-ES" altLang="es-ES" sz="1200" dirty="0" err="1">
                <a:solidFill>
                  <a:srgbClr val="002060"/>
                </a:solidFill>
              </a:rPr>
              <a:t>not</a:t>
            </a:r>
            <a:r>
              <a:rPr lang="es-ES" altLang="es-ES" sz="1200" dirty="0">
                <a:solidFill>
                  <a:srgbClr val="002060"/>
                </a:solidFill>
              </a:rPr>
              <a:t> FS): </a:t>
            </a:r>
            <a:r>
              <a:rPr lang="es-ES_tradnl" sz="1200" kern="0" dirty="0">
                <a:solidFill>
                  <a:schemeClr val="accent4">
                    <a:lumMod val="75000"/>
                  </a:schemeClr>
                </a:solidFill>
              </a:rPr>
              <a:t>developments in the company after year-end, main risks and uncertainties. Not mandatory in </a:t>
            </a:r>
            <a:r>
              <a:rPr lang="es-ES_tradnl" sz="1200" kern="0" dirty="0" err="1">
                <a:solidFill>
                  <a:schemeClr val="accent4">
                    <a:lumMod val="75000"/>
                  </a:schemeClr>
                </a:solidFill>
              </a:rPr>
              <a:t>simplier</a:t>
            </a:r>
            <a:r>
              <a:rPr lang="es-ES_tradnl" sz="1200" kern="0" dirty="0">
                <a:solidFill>
                  <a:schemeClr val="accent4">
                    <a:lumMod val="75000"/>
                  </a:schemeClr>
                </a:solidFill>
              </a:rPr>
              <a:t> form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s-ES_tradnl" sz="1200" kern="0" dirty="0">
                <a:solidFill>
                  <a:schemeClr val="accent4">
                    <a:lumMod val="75000"/>
                  </a:schemeClr>
                </a:solidFill>
              </a:rPr>
              <a:t>The auditor must be given at least 1 month's notice.</a:t>
            </a:r>
          </a:p>
        </p:txBody>
      </p:sp>
    </p:spTree>
    <p:extLst>
      <p:ext uri="{BB962C8B-B14F-4D97-AF65-F5344CB8AC3E}">
        <p14:creationId xmlns:p14="http://schemas.microsoft.com/office/powerpoint/2010/main" val="3872313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D924-8C06-F87D-8FE0-C436ACE9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9455B-3C45-FEEA-F278-1339FC676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22921-0295-FAA8-2D91-4B30CA4B9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endParaRPr lang="es-ES" altLang="es-ES" sz="1200" b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6447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365126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355726"/>
            <a:ext cx="3868340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365127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355726"/>
            <a:ext cx="3887391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7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Click to modify the pattern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0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Financial Statement Analysis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jorge.gallud@uva.es</a:t>
            </a:r>
          </a:p>
          <a:p>
            <a:r>
              <a:rPr lang="es-ES" dirty="0"/>
              <a:t>Office 145</a:t>
            </a:r>
          </a:p>
        </p:txBody>
      </p:sp>
    </p:spTree>
    <p:extLst>
      <p:ext uri="{BB962C8B-B14F-4D97-AF65-F5344CB8AC3E}">
        <p14:creationId xmlns:p14="http://schemas.microsoft.com/office/powerpoint/2010/main" val="2437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Course</a:t>
            </a:r>
            <a:r>
              <a:rPr lang="es-ES" dirty="0"/>
              <a:t> </a:t>
            </a:r>
            <a:r>
              <a:rPr lang="es-ES" dirty="0" err="1"/>
              <a:t>programme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Introduction</a:t>
            </a:r>
          </a:p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FS I: Balance Sheet and </a:t>
            </a:r>
            <a:r>
              <a:rPr lang="es-ES" dirty="0" err="1"/>
              <a:t>Income</a:t>
            </a:r>
            <a:r>
              <a:rPr lang="es-ES" dirty="0"/>
              <a:t> </a:t>
            </a:r>
            <a:r>
              <a:rPr lang="es-ES" dirty="0" err="1"/>
              <a:t>Statement</a:t>
            </a:r>
            <a:endParaRPr lang="es-ES" dirty="0"/>
          </a:p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FS II: </a:t>
            </a:r>
            <a:r>
              <a:rPr lang="es-ES" dirty="0" err="1"/>
              <a:t>Statement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in </a:t>
            </a:r>
            <a:r>
              <a:rPr lang="es-ES" dirty="0" err="1"/>
              <a:t>Equity</a:t>
            </a:r>
            <a:r>
              <a:rPr lang="es-ES" dirty="0"/>
              <a:t>, Cash Flow </a:t>
            </a:r>
            <a:r>
              <a:rPr lang="es-ES" dirty="0" err="1"/>
              <a:t>Statement</a:t>
            </a:r>
            <a:r>
              <a:rPr lang="es-ES" dirty="0"/>
              <a:t> and notes</a:t>
            </a:r>
          </a:p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Profitability analysis</a:t>
            </a:r>
          </a:p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Liquidity analysis</a:t>
            </a:r>
          </a:p>
          <a:p>
            <a:pPr marL="1081088" lvl="1" indent="-360363">
              <a:lnSpc>
                <a:spcPct val="150000"/>
              </a:lnSpc>
              <a:buFont typeface="+mj-lt"/>
              <a:buAutoNum type="arabicPeriod"/>
            </a:pPr>
            <a:r>
              <a:rPr lang="es-ES" dirty="0"/>
              <a:t>Growth analysis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584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Course</a:t>
            </a:r>
            <a:r>
              <a:rPr lang="es-ES" dirty="0"/>
              <a:t> </a:t>
            </a:r>
            <a:r>
              <a:rPr lang="es-ES" dirty="0" err="1"/>
              <a:t>evaluation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225" indent="0">
              <a:lnSpc>
                <a:spcPct val="100000"/>
              </a:lnSpc>
              <a:buNone/>
            </a:pPr>
            <a:r>
              <a:rPr lang="es-ES" dirty="0" err="1"/>
              <a:t>Continuous</a:t>
            </a:r>
            <a:r>
              <a:rPr lang="es-ES" dirty="0"/>
              <a:t> </a:t>
            </a:r>
            <a:r>
              <a:rPr lang="es-ES" dirty="0" err="1"/>
              <a:t>assessment</a:t>
            </a:r>
            <a:r>
              <a:rPr lang="es-ES" dirty="0"/>
              <a:t> (30%):</a:t>
            </a:r>
          </a:p>
          <a:p>
            <a:pPr marL="768350" lvl="1" indent="0">
              <a:lnSpc>
                <a:spcPct val="100000"/>
              </a:lnSpc>
              <a:buNone/>
            </a:pPr>
            <a:r>
              <a:rPr lang="es-ES" dirty="0" err="1"/>
              <a:t>Exams</a:t>
            </a:r>
            <a:endParaRPr lang="es-ES" dirty="0"/>
          </a:p>
          <a:p>
            <a:pPr marL="768350" lvl="1" indent="0">
              <a:lnSpc>
                <a:spcPct val="100000"/>
              </a:lnSpc>
              <a:buNone/>
            </a:pPr>
            <a:r>
              <a:rPr lang="es-ES" dirty="0"/>
              <a:t>Other </a:t>
            </a:r>
            <a:r>
              <a:rPr lang="es-ES" dirty="0" err="1"/>
              <a:t>activities</a:t>
            </a:r>
            <a:endParaRPr lang="es-ES" dirty="0"/>
          </a:p>
          <a:p>
            <a:pPr marL="22225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dirty="0"/>
              <a:t>Final </a:t>
            </a:r>
            <a:r>
              <a:rPr lang="es-ES" dirty="0" err="1"/>
              <a:t>exam</a:t>
            </a:r>
            <a:r>
              <a:rPr lang="es-ES" dirty="0"/>
              <a:t> (70%): 19th Jan</a:t>
            </a:r>
          </a:p>
          <a:p>
            <a:pPr marL="22225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dirty="0"/>
              <a:t>	Final </a:t>
            </a:r>
            <a:r>
              <a:rPr lang="es-ES" dirty="0" err="1"/>
              <a:t>exam</a:t>
            </a:r>
            <a:r>
              <a:rPr lang="es-ES" dirty="0"/>
              <a:t> &gt; 3,5</a:t>
            </a:r>
          </a:p>
          <a:p>
            <a:pPr marL="22225" lvl="1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s-ES" dirty="0"/>
              <a:t>	Global </a:t>
            </a:r>
            <a:r>
              <a:rPr lang="es-ES" dirty="0" err="1"/>
              <a:t>calification</a:t>
            </a:r>
            <a:r>
              <a:rPr lang="es-ES" dirty="0"/>
              <a:t> &gt;5 </a:t>
            </a:r>
          </a:p>
          <a:p>
            <a:pPr marL="22225" lvl="1" indent="0">
              <a:lnSpc>
                <a:spcPct val="100000"/>
              </a:lnSpc>
              <a:spcBef>
                <a:spcPts val="1000"/>
              </a:spcBef>
              <a:buNone/>
            </a:pPr>
            <a:endParaRPr lang="es-ES" dirty="0"/>
          </a:p>
          <a:p>
            <a:pPr marL="22225" indent="0">
              <a:lnSpc>
                <a:spcPct val="100000"/>
              </a:lnSpc>
              <a:buNone/>
            </a:pPr>
            <a:r>
              <a:rPr lang="es-ES" dirty="0"/>
              <a:t>Final </a:t>
            </a:r>
            <a:r>
              <a:rPr lang="es-ES" dirty="0" err="1"/>
              <a:t>exam</a:t>
            </a:r>
            <a:r>
              <a:rPr lang="es-ES" dirty="0"/>
              <a:t> (100%) : 3</a:t>
            </a:r>
            <a:r>
              <a:rPr lang="es-ES" baseline="30000" dirty="0"/>
              <a:t>th</a:t>
            </a:r>
            <a:r>
              <a:rPr lang="es-ES" dirty="0"/>
              <a:t> Feb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49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Unit</a:t>
            </a:r>
            <a:r>
              <a:rPr lang="es-ES" dirty="0"/>
              <a:t> 1</a:t>
            </a:r>
            <a:br>
              <a:rPr lang="es-ES" dirty="0"/>
            </a:br>
            <a:r>
              <a:rPr lang="es-ES" dirty="0"/>
              <a:t>introduction</a:t>
            </a:r>
          </a:p>
        </p:txBody>
      </p:sp>
      <p:sp>
        <p:nvSpPr>
          <p:cNvPr id="18" name="Subtítulo 1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09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Definition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Accounting is the economic discipline responsible for providing </a:t>
            </a:r>
            <a:r>
              <a:rPr lang="es-ES" b="1" dirty="0"/>
              <a:t>information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on the economic activity carried out by a company or organisation.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dirty="0"/>
          </a:p>
          <a:p>
            <a:pPr lvl="1"/>
            <a:r>
              <a:rPr lang="es-ES" dirty="0"/>
              <a:t>Identify</a:t>
            </a:r>
          </a:p>
          <a:p>
            <a:pPr lvl="1"/>
            <a:r>
              <a:rPr lang="es-ES" dirty="0"/>
              <a:t>Measure</a:t>
            </a:r>
          </a:p>
          <a:p>
            <a:pPr lvl="1"/>
            <a:r>
              <a:rPr lang="es-ES" dirty="0"/>
              <a:t>Communicate</a:t>
            </a:r>
          </a:p>
          <a:p>
            <a:pPr>
              <a:buFont typeface="Wingdings" panose="05000000000000000000" pitchFamily="2" charset="2"/>
              <a:buChar char="§"/>
            </a:pPr>
            <a:endParaRPr lang="es-ES" dirty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Phases of the accounting cycle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101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requirements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dirty="0"/>
              <a:t>The role of regulation. </a:t>
            </a:r>
            <a:r>
              <a:rPr lang="en-US" dirty="0"/>
              <a:t>Spanish </a:t>
            </a:r>
            <a:r>
              <a:rPr lang="en-US"/>
              <a:t>General Accounting Plan (</a:t>
            </a:r>
            <a:r>
              <a:rPr lang="es-ES" dirty="0"/>
              <a:t>PGC)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/>
              <a:t>Financial reporting requirements:</a:t>
            </a:r>
          </a:p>
          <a:p>
            <a:pPr lvl="1">
              <a:lnSpc>
                <a:spcPct val="150000"/>
              </a:lnSpc>
            </a:pPr>
            <a:r>
              <a:rPr lang="es-ES" dirty="0"/>
              <a:t>Clear: standard</a:t>
            </a:r>
          </a:p>
          <a:p>
            <a:pPr lvl="1">
              <a:lnSpc>
                <a:spcPct val="150000"/>
              </a:lnSpc>
            </a:pPr>
            <a:r>
              <a:rPr lang="es-ES" dirty="0"/>
              <a:t>Reliable: </a:t>
            </a:r>
            <a:r>
              <a:rPr lang="es-ES" dirty="0" err="1"/>
              <a:t>neither</a:t>
            </a:r>
            <a:r>
              <a:rPr lang="es-ES" dirty="0"/>
              <a:t> </a:t>
            </a:r>
            <a:r>
              <a:rPr lang="es-ES" dirty="0" err="1"/>
              <a:t>errors</a:t>
            </a:r>
            <a:r>
              <a:rPr lang="es-ES" dirty="0"/>
              <a:t> </a:t>
            </a:r>
            <a:r>
              <a:rPr lang="es-ES" dirty="0" err="1"/>
              <a:t>nor</a:t>
            </a:r>
            <a:r>
              <a:rPr lang="es-ES" dirty="0"/>
              <a:t> </a:t>
            </a:r>
            <a:r>
              <a:rPr lang="es-ES" dirty="0" err="1"/>
              <a:t>biases</a:t>
            </a:r>
            <a:endParaRPr lang="es-ES" dirty="0"/>
          </a:p>
          <a:p>
            <a:pPr lvl="1">
              <a:lnSpc>
                <a:spcPct val="150000"/>
              </a:lnSpc>
            </a:pPr>
            <a:r>
              <a:rPr lang="es-ES" dirty="0"/>
              <a:t>Comparable: over time and sector</a:t>
            </a:r>
          </a:p>
          <a:p>
            <a:pPr lvl="1">
              <a:lnSpc>
                <a:spcPct val="150000"/>
              </a:lnSpc>
            </a:pPr>
            <a:r>
              <a:rPr kumimoji="0" lang="es-ES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Relevant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: useful for </a:t>
            </a:r>
            <a:r>
              <a:rPr kumimoji="0" lang="es-E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decision making</a:t>
            </a:r>
          </a:p>
          <a:p>
            <a:pPr lvl="1">
              <a:lnSpc>
                <a:spcPct val="150000"/>
              </a:lnSpc>
            </a:pP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775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Accounting</a:t>
            </a:r>
            <a:r>
              <a:rPr lang="es-ES" dirty="0"/>
              <a:t> principles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Going concern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Accrual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Uniformity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Prudence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No compensation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Relative importance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7</a:t>
            </a:fld>
            <a:endParaRPr lang="es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45707-6A3A-4981-8530-40339BD4AA57}"/>
              </a:ext>
            </a:extLst>
          </p:cNvPr>
          <p:cNvSpPr txBox="1"/>
          <p:nvPr/>
        </p:nvSpPr>
        <p:spPr>
          <a:xfrm>
            <a:off x="5836695" y="1429079"/>
            <a:ext cx="2678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i="1" dirty="0"/>
              <a:t>#faithful_image</a:t>
            </a:r>
          </a:p>
        </p:txBody>
      </p:sp>
    </p:spTree>
    <p:extLst>
      <p:ext uri="{BB962C8B-B14F-4D97-AF65-F5344CB8AC3E}">
        <p14:creationId xmlns:p14="http://schemas.microsoft.com/office/powerpoint/2010/main" val="224416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Accounting</a:t>
            </a:r>
            <a:r>
              <a:rPr lang="es-ES" dirty="0"/>
              <a:t> </a:t>
            </a:r>
            <a:r>
              <a:rPr lang="es-ES" dirty="0" err="1"/>
              <a:t>users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7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2400" dirty="0"/>
              <a:t>Internal, linked to the company:</a:t>
            </a:r>
          </a:p>
          <a:p>
            <a:pPr lvl="1"/>
            <a:r>
              <a:rPr lang="es-ES" sz="2000" dirty="0"/>
              <a:t>Owners</a:t>
            </a:r>
          </a:p>
          <a:p>
            <a:pPr lvl="1"/>
            <a:r>
              <a:rPr lang="es-ES" sz="2000" dirty="0"/>
              <a:t>Administrators and managers</a:t>
            </a:r>
          </a:p>
          <a:p>
            <a:pPr lvl="1"/>
            <a:r>
              <a:rPr lang="es-ES" sz="2000" dirty="0"/>
              <a:t>Employees</a:t>
            </a:r>
          </a:p>
          <a:p>
            <a:r>
              <a:rPr lang="es-ES" sz="2400" dirty="0"/>
              <a:t>External:</a:t>
            </a:r>
          </a:p>
          <a:p>
            <a:pPr lvl="1"/>
            <a:r>
              <a:rPr lang="es-ES" sz="2000" dirty="0"/>
              <a:t>Investors</a:t>
            </a:r>
          </a:p>
          <a:p>
            <a:pPr lvl="1"/>
            <a:r>
              <a:rPr lang="es-ES" sz="2000" dirty="0"/>
              <a:t>Public administration</a:t>
            </a:r>
          </a:p>
          <a:p>
            <a:pPr lvl="1"/>
            <a:r>
              <a:rPr lang="es-ES" sz="2000" dirty="0"/>
              <a:t>Creditors</a:t>
            </a:r>
          </a:p>
          <a:p>
            <a:pPr lvl="1"/>
            <a:r>
              <a:rPr lang="es-ES" sz="2000" dirty="0"/>
              <a:t>Clients</a:t>
            </a:r>
          </a:p>
          <a:p>
            <a:pPr lvl="1"/>
            <a:endParaRPr lang="es-ES" sz="200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445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Accounting</a:t>
            </a:r>
            <a:r>
              <a:rPr lang="es-ES" dirty="0"/>
              <a:t> </a:t>
            </a:r>
            <a:r>
              <a:rPr lang="es-ES" dirty="0" err="1"/>
              <a:t>users</a:t>
            </a:r>
            <a:endParaRPr lang="es-ES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3E6F599-B490-24FB-9AF1-F6AE69C92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705494"/>
              </p:ext>
            </p:extLst>
          </p:nvPr>
        </p:nvGraphicFramePr>
        <p:xfrm>
          <a:off x="628650" y="1825625"/>
          <a:ext cx="7600950" cy="306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943">
                  <a:extLst>
                    <a:ext uri="{9D8B030D-6E8A-4147-A177-3AD203B41FA5}">
                      <a16:colId xmlns:a16="http://schemas.microsoft.com/office/drawing/2014/main" val="860611996"/>
                    </a:ext>
                  </a:extLst>
                </a:gridCol>
                <a:gridCol w="3356651">
                  <a:extLst>
                    <a:ext uri="{9D8B030D-6E8A-4147-A177-3AD203B41FA5}">
                      <a16:colId xmlns:a16="http://schemas.microsoft.com/office/drawing/2014/main" val="3560946894"/>
                    </a:ext>
                  </a:extLst>
                </a:gridCol>
                <a:gridCol w="2280356">
                  <a:extLst>
                    <a:ext uri="{9D8B030D-6E8A-4147-A177-3AD203B41FA5}">
                      <a16:colId xmlns:a16="http://schemas.microsoft.com/office/drawing/2014/main" val="203369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s-E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Interest</a:t>
                      </a:r>
                      <a:endParaRPr lang="es-E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s-E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284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1" dirty="0">
                          <a:solidFill>
                            <a:schemeClr val="tx1"/>
                          </a:solidFill>
                        </a:rPr>
                        <a:t>Managers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Sound management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Expected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Profitability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Growth</a:t>
                      </a:r>
                      <a:endParaRPr lang="es-ES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10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Creditors</a:t>
                      </a:r>
                      <a:endParaRPr lang="es-E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s-ES" sz="1800" dirty="0"/>
                        <a:t>Recovering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Liquidity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Solvency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02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Employees</a:t>
                      </a:r>
                      <a:endParaRPr lang="es-E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/>
                        <a:t>Job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Liquidity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s-ES" sz="1800" dirty="0">
                          <a:solidFill>
                            <a:schemeClr val="tx1"/>
                          </a:solidFill>
                        </a:rPr>
                        <a:t>Continuity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97125"/>
                  </a:ext>
                </a:extLst>
              </a:tr>
            </a:tbl>
          </a:graphicData>
        </a:graphic>
      </p:graphicFrame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92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Financial</a:t>
            </a:r>
            <a:r>
              <a:rPr lang="es-ES" dirty="0"/>
              <a:t> statements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10</a:t>
            </a:fld>
            <a:endParaRPr lang="es-E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1D8BE8-5AF5-00EB-B4B4-EA295A23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dirty="0"/>
              <a:t>Phases of accounting information: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Accounting cycle (12 months)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Verification, approval and </a:t>
            </a:r>
            <a:r>
              <a:rPr lang="es-ES" dirty="0" err="1"/>
              <a:t>submission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FS</a:t>
            </a:r>
          </a:p>
          <a:p>
            <a:pPr lvl="1">
              <a:lnSpc>
                <a:spcPct val="100000"/>
              </a:lnSpc>
            </a:pPr>
            <a:r>
              <a:rPr lang="es-ES" dirty="0" err="1"/>
              <a:t>Disclosure</a:t>
            </a:r>
            <a:endParaRPr lang="es-ES" dirty="0"/>
          </a:p>
          <a:p>
            <a:pPr lvl="1">
              <a:lnSpc>
                <a:spcPct val="100000"/>
              </a:lnSpc>
            </a:pPr>
            <a:r>
              <a:rPr lang="es-ES" dirty="0"/>
              <a:t>Analysis and interpretation </a:t>
            </a:r>
            <a:r>
              <a:rPr lang="es-ES" dirty="0" err="1"/>
              <a:t>of</a:t>
            </a:r>
            <a:r>
              <a:rPr lang="es-ES" dirty="0"/>
              <a:t> FS</a:t>
            </a:r>
          </a:p>
          <a:p>
            <a:pPr>
              <a:lnSpc>
                <a:spcPct val="100000"/>
              </a:lnSpc>
            </a:pPr>
            <a:r>
              <a:rPr lang="es-ES" dirty="0"/>
              <a:t>Commercial Code (</a:t>
            </a:r>
            <a:r>
              <a:rPr lang="es-ES" dirty="0" err="1"/>
              <a:t>Cco</a:t>
            </a:r>
            <a:r>
              <a:rPr lang="es-ES" dirty="0"/>
              <a:t>): obligations of the entrepreneur</a:t>
            </a:r>
          </a:p>
          <a:p>
            <a:pPr>
              <a:lnSpc>
                <a:spcPct val="100000"/>
              </a:lnSpc>
            </a:pPr>
            <a:r>
              <a:rPr lang="en-US" dirty="0"/>
              <a:t>Consolidated Text of the Law of Capital Companies </a:t>
            </a:r>
            <a:r>
              <a:rPr lang="es-ES" dirty="0"/>
              <a:t>(TRLSC): formulation of the financial statements</a:t>
            </a:r>
          </a:p>
          <a:p>
            <a:pPr lvl="1">
              <a:lnSpc>
                <a:spcPct val="100000"/>
              </a:lnSpc>
            </a:pPr>
            <a:endParaRPr lang="es-ES" dirty="0"/>
          </a:p>
          <a:p>
            <a:pPr>
              <a:lnSpc>
                <a:spcPct val="10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60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CCo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11</a:t>
            </a:fld>
            <a:endParaRPr lang="es-E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1D8BE8-5AF5-00EB-B4B4-EA295A23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dirty="0"/>
              <a:t>Establishes the obligation to keep a journal, inventories and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 dirty="0"/>
              <a:t>. Minute book.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Preserved (6 years)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Legalised (&lt; 4 months) in the Commercial Register</a:t>
            </a:r>
          </a:p>
          <a:p>
            <a:pPr lvl="2">
              <a:lnSpc>
                <a:spcPct val="100000"/>
              </a:lnSpc>
            </a:pPr>
            <a:r>
              <a:rPr lang="es-ES" dirty="0" err="1"/>
              <a:t>Journal</a:t>
            </a:r>
            <a:r>
              <a:rPr lang="es-ES" dirty="0"/>
              <a:t> and </a:t>
            </a:r>
            <a:r>
              <a:rPr lang="es-ES" dirty="0" err="1"/>
              <a:t>quarterly</a:t>
            </a:r>
            <a:r>
              <a:rPr lang="es-ES" dirty="0"/>
              <a:t> trial balances</a:t>
            </a:r>
          </a:p>
          <a:p>
            <a:pPr lvl="2">
              <a:lnSpc>
                <a:spcPct val="100000"/>
              </a:lnSpc>
            </a:pPr>
            <a:r>
              <a:rPr lang="es-ES" dirty="0"/>
              <a:t>Closing inventory</a:t>
            </a:r>
          </a:p>
          <a:p>
            <a:pPr lvl="2">
              <a:lnSpc>
                <a:spcPct val="100000"/>
              </a:lnSpc>
            </a:pP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 dirty="0"/>
              <a:t>, in euro, signed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shareholders</a:t>
            </a:r>
            <a:r>
              <a:rPr lang="es-ES" dirty="0"/>
              <a:t> and </a:t>
            </a:r>
            <a:r>
              <a:rPr lang="es-ES" dirty="0" err="1"/>
              <a:t>administrators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246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Capital </a:t>
            </a:r>
            <a:r>
              <a:rPr lang="es-ES" dirty="0" err="1"/>
              <a:t>companies</a:t>
            </a:r>
            <a:r>
              <a:rPr lang="es-ES" dirty="0"/>
              <a:t> </a:t>
            </a:r>
            <a:r>
              <a:rPr lang="es-ES" dirty="0" err="1"/>
              <a:t>law</a:t>
            </a:r>
            <a:r>
              <a:rPr lang="es-ES" dirty="0"/>
              <a:t> (TRLSC)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12</a:t>
            </a:fld>
            <a:endParaRPr lang="es-E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1D8BE8-5AF5-00EB-B4B4-EA295A23E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b="1" dirty="0"/>
              <a:t>Preparation </a:t>
            </a:r>
            <a:r>
              <a:rPr lang="es-ES" dirty="0" err="1"/>
              <a:t>of</a:t>
            </a:r>
            <a:r>
              <a:rPr lang="es-ES" b="1" dirty="0"/>
              <a:t>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 dirty="0"/>
              <a:t>, management report and proposal for the allocation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profit</a:t>
            </a:r>
            <a:r>
              <a:rPr lang="es-ES" dirty="0"/>
              <a:t> (&lt; 3 months)</a:t>
            </a:r>
          </a:p>
          <a:p>
            <a:pPr>
              <a:lnSpc>
                <a:spcPct val="100000"/>
              </a:lnSpc>
            </a:pPr>
            <a:r>
              <a:rPr lang="es-ES" b="1" dirty="0"/>
              <a:t>Verification </a:t>
            </a:r>
            <a:r>
              <a:rPr lang="es-ES" dirty="0"/>
              <a:t>(&gt;1 month) by the auditor appointed by the General Meeting (3-9 years). Exceptions (2 characteristics, 2 years):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Total assets ≤ 2.850.000€.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Sales ≤ 5.700.000€.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Average number of employees ≤ 50</a:t>
            </a:r>
            <a:endParaRPr lang="es-ES" sz="1600" dirty="0"/>
          </a:p>
          <a:p>
            <a:pPr>
              <a:lnSpc>
                <a:spcPct val="100000"/>
              </a:lnSpc>
            </a:pPr>
            <a:r>
              <a:rPr lang="es-ES" b="1" dirty="0"/>
              <a:t>Approval </a:t>
            </a:r>
            <a:r>
              <a:rPr lang="es-ES" dirty="0"/>
              <a:t>of the accounts by the General Meeting (&lt; 6 months) and of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allocation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profit</a:t>
            </a:r>
            <a:r>
              <a:rPr lang="es-ES" dirty="0"/>
              <a:t>.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Legal reserve* and dividends (</a:t>
            </a:r>
            <a:r>
              <a:rPr lang="es-ES" dirty="0" err="1"/>
              <a:t>if</a:t>
            </a:r>
            <a:r>
              <a:rPr lang="es-ES" dirty="0"/>
              <a:t> E ≥ capital)</a:t>
            </a:r>
            <a:br>
              <a:rPr lang="es-ES" dirty="0"/>
            </a:br>
            <a:r>
              <a:rPr lang="es-ES" dirty="0"/>
              <a:t>*10% of profit until 20% of share capital is reached</a:t>
            </a:r>
          </a:p>
          <a:p>
            <a:pPr lvl="1">
              <a:lnSpc>
                <a:spcPct val="100000"/>
              </a:lnSpc>
            </a:pPr>
            <a:r>
              <a:rPr lang="es-ES" dirty="0" err="1"/>
              <a:t>Submit</a:t>
            </a:r>
            <a:r>
              <a:rPr lang="es-ES" dirty="0"/>
              <a:t> (&lt;1 month)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 dirty="0"/>
              <a:t>, </a:t>
            </a:r>
            <a:r>
              <a:rPr lang="es-ES" dirty="0" err="1"/>
              <a:t>management</a:t>
            </a:r>
            <a:r>
              <a:rPr lang="es-ES" dirty="0"/>
              <a:t> report and </a:t>
            </a:r>
            <a:r>
              <a:rPr lang="es-ES" dirty="0" err="1"/>
              <a:t>audit</a:t>
            </a:r>
            <a:r>
              <a:rPr lang="es-ES" dirty="0"/>
              <a:t> </a:t>
            </a:r>
            <a:r>
              <a:rPr lang="es-ES" dirty="0" err="1"/>
              <a:t>report</a:t>
            </a:r>
            <a:r>
              <a:rPr lang="es-ES" dirty="0"/>
              <a:t> in the Commercial Registry.</a:t>
            </a:r>
          </a:p>
        </p:txBody>
      </p:sp>
    </p:spTree>
    <p:extLst>
      <p:ext uri="{BB962C8B-B14F-4D97-AF65-F5344CB8AC3E}">
        <p14:creationId xmlns:p14="http://schemas.microsoft.com/office/powerpoint/2010/main" val="24282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9636-0B88-F589-2F26-52467F47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7B4C6-D294-D62E-38BF-A001564C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each situation, find the allocation of profit that </a:t>
            </a:r>
            <a:r>
              <a:rPr lang="en-US" sz="2400" dirty="0" err="1"/>
              <a:t>maximises</a:t>
            </a:r>
            <a:r>
              <a:rPr lang="en-US" sz="2400" dirty="0"/>
              <a:t> the distribution of dividends</a:t>
            </a:r>
            <a:endParaRPr lang="es-ES" sz="24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2D1BB9-AE5C-9DC3-B917-9098ECEB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13</a:t>
            </a:fld>
            <a:endParaRPr lang="es-E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1480F5-F7BC-7C10-403D-D86AC765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s-ES" dirty="0"/>
              <a:t>Capital 200,000; Reserves 50,000; </a:t>
            </a:r>
            <a:r>
              <a:rPr lang="es-ES" dirty="0" err="1"/>
              <a:t>Profit</a:t>
            </a:r>
            <a:r>
              <a:rPr lang="es-ES" dirty="0"/>
              <a:t> 30,000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s-ES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s-ES" dirty="0"/>
              <a:t>Capital 200,000; Reserves 10,000; </a:t>
            </a:r>
            <a:r>
              <a:rPr lang="es-ES" dirty="0" err="1"/>
              <a:t>Profit</a:t>
            </a:r>
            <a:r>
              <a:rPr lang="es-ES" dirty="0"/>
              <a:t> 30,000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s-ES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s-ES" dirty="0"/>
              <a:t>Capital 200,000; Reserves 10,000; </a:t>
            </a:r>
            <a:r>
              <a:rPr lang="es-ES" dirty="0" err="1"/>
              <a:t>Loss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years</a:t>
            </a:r>
            <a:r>
              <a:rPr lang="es-ES" dirty="0"/>
              <a:t> (20,000); </a:t>
            </a:r>
            <a:r>
              <a:rPr lang="es-ES" dirty="0" err="1"/>
              <a:t>Profit</a:t>
            </a:r>
            <a:r>
              <a:rPr lang="es-ES" dirty="0"/>
              <a:t> 30,000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s-ES" dirty="0"/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s-ES" dirty="0"/>
              <a:t>Capital 100,000; </a:t>
            </a:r>
            <a:r>
              <a:rPr lang="es-ES" dirty="0" err="1"/>
              <a:t>Loss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years</a:t>
            </a:r>
            <a:r>
              <a:rPr lang="es-ES" dirty="0"/>
              <a:t> (25,000); </a:t>
            </a:r>
            <a:r>
              <a:rPr lang="es-ES" dirty="0" err="1"/>
              <a:t>Profit</a:t>
            </a:r>
            <a:r>
              <a:rPr lang="es-ES" dirty="0"/>
              <a:t> 50,000</a:t>
            </a:r>
          </a:p>
          <a:p>
            <a:pPr>
              <a:lnSpc>
                <a:spcPct val="10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126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gk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2701</TotalTime>
  <Words>824</Words>
  <Application>Microsoft Office PowerPoint</Application>
  <PresentationFormat>Presentación en pantalla (4:3)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Montserrat</vt:lpstr>
      <vt:lpstr>Montserrat SemiBold</vt:lpstr>
      <vt:lpstr>Wingdings</vt:lpstr>
      <vt:lpstr>Tema de Office</vt:lpstr>
      <vt:lpstr>Financial Statement Analysis</vt:lpstr>
      <vt:lpstr>Course programme</vt:lpstr>
      <vt:lpstr>Course evaluation</vt:lpstr>
      <vt:lpstr>Unit 1 introduction</vt:lpstr>
      <vt:lpstr>Definition</vt:lpstr>
      <vt:lpstr>Information requirements</vt:lpstr>
      <vt:lpstr>Accounting principles</vt:lpstr>
      <vt:lpstr>Accounting users</vt:lpstr>
      <vt:lpstr>Accounting users</vt:lpstr>
      <vt:lpstr>Financial statements</vt:lpstr>
      <vt:lpstr>CCo</vt:lpstr>
      <vt:lpstr>Capital companies law (TRLSC)</vt:lpstr>
      <vt:lpstr>For each situation, find the allocation of profit that maximises the distribution of dividends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, docId:E9EC07B154617142189B27290182C271</cp:keywords>
  <cp:lastModifiedBy>JORGE GALLUD CANO</cp:lastModifiedBy>
  <cp:revision>2</cp:revision>
  <dcterms:created xsi:type="dcterms:W3CDTF">2021-03-24T11:03:23Z</dcterms:created>
  <dcterms:modified xsi:type="dcterms:W3CDTF">2026-09-09T08:53:06Z</dcterms:modified>
</cp:coreProperties>
</file>