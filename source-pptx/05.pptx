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536" r:id="rId2"/>
    <p:sldId id="547" r:id="rId3"/>
    <p:sldId id="548" r:id="rId4"/>
    <p:sldId id="537" r:id="rId5"/>
    <p:sldId id="546" r:id="rId6"/>
    <p:sldId id="549" r:id="rId7"/>
    <p:sldId id="550" r:id="rId8"/>
    <p:sldId id="539" r:id="rId9"/>
    <p:sldId id="538" r:id="rId10"/>
    <p:sldId id="540" r:id="rId11"/>
    <p:sldId id="543" r:id="rId12"/>
    <p:sldId id="544" r:id="rId13"/>
    <p:sldId id="545" r:id="rId14"/>
  </p:sldIdLst>
  <p:sldSz cx="9144000" cy="6858000" type="screen4x3"/>
  <p:notesSz cx="6799263" cy="9929813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5462593-3F86-4B43-9983-F879FA17539C}" v="1" dt="2026-09-09T08:51:05.39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114" autoAdjust="0"/>
    <p:restoredTop sz="86432" autoAdjust="0"/>
  </p:normalViewPr>
  <p:slideViewPr>
    <p:cSldViewPr snapToGrid="0">
      <p:cViewPr varScale="1">
        <p:scale>
          <a:sx n="66" d="100"/>
          <a:sy n="66" d="100"/>
        </p:scale>
        <p:origin x="19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RGE GALLUD CANO" userId="aa07a950-3061-465d-9845-1f16ea714d1e" providerId="ADAL" clId="{652E886E-EB52-40C6-999B-D6033CDA24D2}"/>
    <pc:docChg chg="undo custSel addSld delSld modSld sldOrd modNotesMaster modHandout">
      <pc:chgData name="JORGE GALLUD CANO" userId="aa07a950-3061-465d-9845-1f16ea714d1e" providerId="ADAL" clId="{652E886E-EB52-40C6-999B-D6033CDA24D2}" dt="2026-09-09T08:51:22.658" v="516" actId="47"/>
      <pc:docMkLst>
        <pc:docMk/>
      </pc:docMkLst>
      <pc:sldChg chg="modSp mod">
        <pc:chgData name="JORGE GALLUD CANO" userId="aa07a950-3061-465d-9845-1f16ea714d1e" providerId="ADAL" clId="{652E886E-EB52-40C6-999B-D6033CDA24D2}" dt="2026-09-09T08:51:11.648" v="515" actId="6549"/>
        <pc:sldMkLst>
          <pc:docMk/>
          <pc:sldMk cId="707880807" sldId="536"/>
        </pc:sldMkLst>
        <pc:spChg chg="mod">
          <ac:chgData name="JORGE GALLUD CANO" userId="aa07a950-3061-465d-9845-1f16ea714d1e" providerId="ADAL" clId="{652E886E-EB52-40C6-999B-D6033CDA24D2}" dt="2026-09-09T08:51:05.390" v="514"/>
          <ac:spMkLst>
            <pc:docMk/>
            <pc:sldMk cId="707880807" sldId="536"/>
            <ac:spMk id="17" creationId="{00000000-0000-0000-0000-000000000000}"/>
          </ac:spMkLst>
        </pc:spChg>
        <pc:spChg chg="mod">
          <ac:chgData name="JORGE GALLUD CANO" userId="aa07a950-3061-465d-9845-1f16ea714d1e" providerId="ADAL" clId="{652E886E-EB52-40C6-999B-D6033CDA24D2}" dt="2026-09-09T08:51:11.648" v="515" actId="6549"/>
          <ac:spMkLst>
            <pc:docMk/>
            <pc:sldMk cId="707880807" sldId="536"/>
            <ac:spMk id="18" creationId="{00000000-0000-0000-0000-000000000000}"/>
          </ac:spMkLst>
        </pc:spChg>
      </pc:sldChg>
      <pc:sldChg chg="del">
        <pc:chgData name="JORGE GALLUD CANO" userId="aa07a950-3061-465d-9845-1f16ea714d1e" providerId="ADAL" clId="{652E886E-EB52-40C6-999B-D6033CDA24D2}" dt="2026-09-09T08:51:22.658" v="516" actId="47"/>
        <pc:sldMkLst>
          <pc:docMk/>
          <pc:sldMk cId="3848481124" sldId="541"/>
        </pc:sldMkLst>
      </pc:sldChg>
      <pc:sldChg chg="del">
        <pc:chgData name="JORGE GALLUD CANO" userId="aa07a950-3061-465d-9845-1f16ea714d1e" providerId="ADAL" clId="{652E886E-EB52-40C6-999B-D6033CDA24D2}" dt="2026-09-09T08:51:22.658" v="516" actId="47"/>
        <pc:sldMkLst>
          <pc:docMk/>
          <pc:sldMk cId="1306932417" sldId="542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2" y="2"/>
            <a:ext cx="2946347" cy="498215"/>
          </a:xfrm>
          <a:prstGeom prst="rect">
            <a:avLst/>
          </a:prstGeom>
        </p:spPr>
        <p:txBody>
          <a:bodyPr vert="horz" lIns="91430" tIns="45716" rIns="91430" bIns="45716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51345" y="2"/>
            <a:ext cx="2946347" cy="498215"/>
          </a:xfrm>
          <a:prstGeom prst="rect">
            <a:avLst/>
          </a:prstGeom>
        </p:spPr>
        <p:txBody>
          <a:bodyPr vert="horz" lIns="91430" tIns="45716" rIns="91430" bIns="45716" rtlCol="0"/>
          <a:lstStyle>
            <a:lvl1pPr algn="r">
              <a:defRPr sz="1200"/>
            </a:lvl1pPr>
          </a:lstStyle>
          <a:p>
            <a:fld id="{9356850D-52B1-405F-8CD7-E0365C566C9E}" type="datetimeFigureOut">
              <a:rPr lang="es-ES" smtClean="0"/>
              <a:t>09/09/2026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2" y="9431603"/>
            <a:ext cx="2946347" cy="498214"/>
          </a:xfrm>
          <a:prstGeom prst="rect">
            <a:avLst/>
          </a:prstGeom>
        </p:spPr>
        <p:txBody>
          <a:bodyPr vert="horz" lIns="91430" tIns="45716" rIns="91430" bIns="45716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51345" y="9431603"/>
            <a:ext cx="2946347" cy="498214"/>
          </a:xfrm>
          <a:prstGeom prst="rect">
            <a:avLst/>
          </a:prstGeom>
        </p:spPr>
        <p:txBody>
          <a:bodyPr vert="horz" lIns="91430" tIns="45716" rIns="91430" bIns="45716" rtlCol="0" anchor="b"/>
          <a:lstStyle>
            <a:lvl1pPr algn="r">
              <a:defRPr sz="1200"/>
            </a:lvl1pPr>
          </a:lstStyle>
          <a:p>
            <a:fld id="{AA1D005A-BFD1-4A33-B93F-A326C62FF44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7599825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2" y="2"/>
            <a:ext cx="2946347" cy="498215"/>
          </a:xfrm>
          <a:prstGeom prst="rect">
            <a:avLst/>
          </a:prstGeom>
        </p:spPr>
        <p:txBody>
          <a:bodyPr vert="horz" lIns="91430" tIns="45716" rIns="91430" bIns="45716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51345" y="2"/>
            <a:ext cx="2946347" cy="498215"/>
          </a:xfrm>
          <a:prstGeom prst="rect">
            <a:avLst/>
          </a:prstGeom>
        </p:spPr>
        <p:txBody>
          <a:bodyPr vert="horz" lIns="91430" tIns="45716" rIns="91430" bIns="45716" rtlCol="0"/>
          <a:lstStyle>
            <a:lvl1pPr algn="r">
              <a:defRPr sz="1200"/>
            </a:lvl1pPr>
          </a:lstStyle>
          <a:p>
            <a:fld id="{EA1C35A5-6E39-4CDE-A04F-1B1EEA008340}" type="datetimeFigureOut">
              <a:rPr lang="es-ES" smtClean="0"/>
              <a:t>09/09/2026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165225" y="1239838"/>
            <a:ext cx="4468813" cy="3352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0" tIns="45716" rIns="91430" bIns="45716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79928" y="4778724"/>
            <a:ext cx="5439410" cy="3909864"/>
          </a:xfrm>
          <a:prstGeom prst="rect">
            <a:avLst/>
          </a:prstGeom>
        </p:spPr>
        <p:txBody>
          <a:bodyPr vert="horz" lIns="91430" tIns="45716" rIns="91430" bIns="45716" rtlCol="0"/>
          <a:lstStyle/>
          <a:p>
            <a:pPr lvl="0"/>
            <a:r>
              <a:rPr lang="es-ES"/>
              <a:t>Edit the text style of the pattern</a:t>
            </a:r>
          </a:p>
          <a:p>
            <a:pPr lvl="1"/>
            <a:r>
              <a:rPr lang="es-ES"/>
              <a:t>Second level</a:t>
            </a:r>
          </a:p>
          <a:p>
            <a:pPr lvl="2"/>
            <a:r>
              <a:rPr lang="es-ES"/>
              <a:t>Third level</a:t>
            </a:r>
          </a:p>
          <a:p>
            <a:pPr lvl="3"/>
            <a:r>
              <a:rPr lang="es-ES"/>
              <a:t>Fourth level</a:t>
            </a:r>
          </a:p>
          <a:p>
            <a:pPr lvl="4"/>
            <a:r>
              <a:rPr lang="es-ES"/>
              <a:t>Fifth level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2" y="9431603"/>
            <a:ext cx="2946347" cy="498214"/>
          </a:xfrm>
          <a:prstGeom prst="rect">
            <a:avLst/>
          </a:prstGeom>
        </p:spPr>
        <p:txBody>
          <a:bodyPr vert="horz" lIns="91430" tIns="45716" rIns="91430" bIns="45716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51345" y="9431603"/>
            <a:ext cx="2946347" cy="498214"/>
          </a:xfrm>
          <a:prstGeom prst="rect">
            <a:avLst/>
          </a:prstGeom>
        </p:spPr>
        <p:txBody>
          <a:bodyPr vert="horz" lIns="91430" tIns="45716" rIns="91430" bIns="45716" rtlCol="0" anchor="b"/>
          <a:lstStyle>
            <a:lvl1pPr algn="r">
              <a:defRPr sz="1200"/>
            </a:lvl1pPr>
          </a:lstStyle>
          <a:p>
            <a:fld id="{1AC4CD01-607E-441F-90BB-5949BD8D465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181732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723308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C6B748-F6F8-6AA2-2B2E-9358180AD4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0564E5-E390-A3E2-629A-6ACAB3061B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FD0D81-30E6-217F-009F-E6AE603E0A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806759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55DB74-EDBE-F2EE-07A6-41F8F1EBC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84D25B-D17D-C9A3-B3A3-459C89E332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8C5BA4-6153-6F5B-FE45-C8D65B0DEC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H. More </a:t>
            </a:r>
            <a:r>
              <a:rPr lang="es-ES" dirty="0" err="1"/>
              <a:t>liquid</a:t>
            </a:r>
            <a:r>
              <a:rPr lang="es-ES" dirty="0"/>
              <a:t> </a:t>
            </a:r>
            <a:r>
              <a:rPr lang="es-ES" dirty="0" err="1"/>
              <a:t>assets</a:t>
            </a:r>
            <a:r>
              <a:rPr lang="es-ES" dirty="0"/>
              <a:t> and les </a:t>
            </a:r>
            <a:r>
              <a:rPr lang="es-ES" dirty="0" err="1"/>
              <a:t>liabilities</a:t>
            </a:r>
            <a:endParaRPr lang="es-ES" dirty="0"/>
          </a:p>
          <a:p>
            <a:r>
              <a:rPr lang="es-ES" dirty="0"/>
              <a:t>V. Non-</a:t>
            </a:r>
            <a:r>
              <a:rPr lang="es-ES" dirty="0" err="1"/>
              <a:t>current</a:t>
            </a:r>
            <a:r>
              <a:rPr lang="es-ES" dirty="0"/>
              <a:t> A&gt;</a:t>
            </a:r>
            <a:r>
              <a:rPr lang="es-ES" dirty="0" err="1"/>
              <a:t>current</a:t>
            </a:r>
            <a:r>
              <a:rPr lang="es-ES" dirty="0"/>
              <a:t>, </a:t>
            </a:r>
            <a:r>
              <a:rPr lang="es-ES" dirty="0" err="1"/>
              <a:t>also</a:t>
            </a:r>
            <a:r>
              <a:rPr lang="es-ES" dirty="0"/>
              <a:t> in L; </a:t>
            </a:r>
            <a:r>
              <a:rPr lang="es-ES" dirty="0" err="1"/>
              <a:t>stable</a:t>
            </a:r>
            <a:r>
              <a:rPr lang="es-ES" dirty="0"/>
              <a:t> </a:t>
            </a:r>
            <a:r>
              <a:rPr lang="es-ES" dirty="0" err="1"/>
              <a:t>situation</a:t>
            </a:r>
            <a:r>
              <a:rPr lang="es-ES" dirty="0"/>
              <a:t>. </a:t>
            </a:r>
            <a:r>
              <a:rPr lang="es-ES" dirty="0" err="1"/>
              <a:t>Current</a:t>
            </a:r>
            <a:r>
              <a:rPr lang="es-ES" dirty="0"/>
              <a:t> A &gt; L (WC&gt;0)</a:t>
            </a:r>
          </a:p>
        </p:txBody>
      </p:sp>
    </p:spTree>
    <p:extLst>
      <p:ext uri="{BB962C8B-B14F-4D97-AF65-F5344CB8AC3E}">
        <p14:creationId xmlns:p14="http://schemas.microsoft.com/office/powerpoint/2010/main" val="38445537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(a specific year or the previous one). </a:t>
            </a:r>
            <a:r>
              <a:rPr lang="es-ES" dirty="0" err="1"/>
              <a:t>Ex</a:t>
            </a:r>
            <a:r>
              <a:rPr lang="es-ES" dirty="0"/>
              <a:t>:</a:t>
            </a:r>
            <a:r>
              <a:rPr lang="el-GR" dirty="0"/>
              <a:t> Δsales </a:t>
            </a:r>
            <a:r>
              <a:rPr lang="es-ES" dirty="0"/>
              <a:t>similar to</a:t>
            </a:r>
            <a:r>
              <a:rPr lang="el-GR" dirty="0"/>
              <a:t> Δprovisioning</a:t>
            </a:r>
            <a:r>
              <a:rPr lang="es-E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581076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CD3E26-EDAA-A28E-0249-BBFFC4F35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C5BE4D-2A64-47E9-730F-85507FB6B4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B229F3-FFE6-7D7F-2B2E-0A005120F7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152542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38011A-DE21-9925-3145-09EC2E93C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E5CC5D-B564-6AFA-6FE2-E4585FD9EA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CDE060-E123-B58A-852D-7579B58648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532478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75D790-C65A-BBE0-CF31-04047D4A90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3683DD-B1FA-3E9C-D762-FF47137262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60ACC5-4108-DEE8-CCDF-44D878997C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809018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141509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8353172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It is not feasible to compare ratios between companies. The sector average is a good benchmark.</a:t>
            </a:r>
          </a:p>
          <a:p>
            <a:r>
              <a:rPr lang="es-ES" dirty="0"/>
              <a:t>To test the effects on ROE, it must be fulfilled that BAII=BAI+Financial expenses (or work with the Financial Result).</a:t>
            </a:r>
          </a:p>
        </p:txBody>
      </p:sp>
    </p:spTree>
    <p:extLst>
      <p:ext uri="{BB962C8B-B14F-4D97-AF65-F5344CB8AC3E}">
        <p14:creationId xmlns:p14="http://schemas.microsoft.com/office/powerpoint/2010/main" val="40213981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A7DD55-69A1-3A2A-2571-594F0A6970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E35F89-1C0B-1236-B284-D76FE7B574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162FC6-5DF1-1147-4F7E-9C6E3B6819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707295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EB187-B69C-40CE-7C0A-BD2BBFB89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BCF11A-8D34-263C-60AB-BD9987283C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1C37DE-8420-C3EF-AA16-342DF8040F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6150035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6C8A7F-5E8C-B90A-9BA2-A161E05E6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AA1192-8E4A-7C93-8A0E-BA8642A8E0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B137EC-298B-2548-0D96-EC82D21199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706730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>
            <a:noAutofit/>
          </a:bodyPr>
          <a:lstStyle>
            <a:lvl1pPr algn="l">
              <a:defRPr sz="3200"/>
            </a:lvl1pPr>
          </a:lstStyle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26644736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FC21</a:t>
            </a:r>
            <a:endParaRPr lang="es-ES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205EE-51C7-4D1A-8E6C-D977F3A45C5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54068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 dirty="0"/>
              <a:t>Editar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FC21</a:t>
            </a:r>
            <a:endParaRPr lang="es-E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205EE-51C7-4D1A-8E6C-D977F3A45C5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344073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28650" y="365126"/>
            <a:ext cx="3868340" cy="823912"/>
          </a:xfrm>
        </p:spPr>
        <p:txBody>
          <a:bodyPr anchor="b">
            <a:noAutofit/>
          </a:bodyPr>
          <a:lstStyle>
            <a:lvl1pPr marL="0" indent="0">
              <a:buNone/>
              <a:defRPr sz="3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dirty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29842" y="1355726"/>
            <a:ext cx="3868340" cy="4833937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29150" y="365127"/>
            <a:ext cx="3887391" cy="823912"/>
          </a:xfrm>
        </p:spPr>
        <p:txBody>
          <a:bodyPr anchor="b">
            <a:noAutofit/>
          </a:bodyPr>
          <a:lstStyle>
            <a:lvl1pPr marL="0" indent="0">
              <a:buNone/>
              <a:defRPr sz="3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dirty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29150" y="1355726"/>
            <a:ext cx="3887391" cy="4833937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FC21</a:t>
            </a:r>
            <a:endParaRPr lang="es-ES" dirty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205EE-51C7-4D1A-8E6C-D977F3A45C5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347045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Click to modify the pattern title style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 the text style of the pattern</a:t>
            </a:r>
          </a:p>
          <a:p>
            <a:pPr lvl="1"/>
            <a:r>
              <a:rPr lang="es-ES"/>
              <a:t>Second level</a:t>
            </a:r>
          </a:p>
          <a:p>
            <a:pPr lvl="2"/>
            <a:r>
              <a:rPr lang="es-ES"/>
              <a:t>Third level</a:t>
            </a:r>
          </a:p>
          <a:p>
            <a:pPr lvl="3"/>
            <a:r>
              <a:rPr lang="es-ES"/>
              <a:t>Fourth level</a:t>
            </a:r>
          </a:p>
          <a:p>
            <a:pPr lvl="4"/>
            <a:r>
              <a:rPr lang="es-ES"/>
              <a:t>Fifth level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s-ES"/>
              <a:t>FC21</a:t>
            </a:r>
            <a:endParaRPr lang="es-ES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0205EE-51C7-4D1A-8E6C-D977F3A45C5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880680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talenthackers.net/quienes-somos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ítulo 16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 err="1"/>
              <a:t>Unit</a:t>
            </a:r>
            <a:r>
              <a:rPr lang="es-ES" dirty="0"/>
              <a:t> 4</a:t>
            </a:r>
            <a:br>
              <a:rPr lang="es-ES" dirty="0"/>
            </a:br>
            <a:r>
              <a:rPr lang="es-ES" dirty="0" err="1"/>
              <a:t>Profitability</a:t>
            </a:r>
            <a:r>
              <a:rPr lang="es-ES" dirty="0"/>
              <a:t> </a:t>
            </a:r>
            <a:r>
              <a:rPr lang="es-ES" dirty="0" err="1"/>
              <a:t>Analysis</a:t>
            </a:r>
            <a:endParaRPr lang="es-ES" dirty="0"/>
          </a:p>
        </p:txBody>
      </p:sp>
      <p:sp>
        <p:nvSpPr>
          <p:cNvPr id="18" name="Subtítulo 17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/>
              <a:t>Profitability analysis</a:t>
            </a:r>
          </a:p>
          <a:p>
            <a:r>
              <a:rPr lang="es-ES" dirty="0" err="1"/>
              <a:t>Growth</a:t>
            </a:r>
            <a:r>
              <a:rPr lang="es-ES" dirty="0"/>
              <a:t> analysis</a:t>
            </a:r>
          </a:p>
        </p:txBody>
      </p:sp>
    </p:spTree>
    <p:extLst>
      <p:ext uri="{BB962C8B-B14F-4D97-AF65-F5344CB8AC3E}">
        <p14:creationId xmlns:p14="http://schemas.microsoft.com/office/powerpoint/2010/main" val="7078808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870EA-DFB9-C5C1-1AB0-FCFEDEB3A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78CF4B-C1C6-13D2-B8E8-D5E878C94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Example</a:t>
            </a:r>
            <a:r>
              <a:rPr lang="es-ES" dirty="0"/>
              <a:t> 1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59CAD72-6175-C2D1-D599-699DE555C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205EE-51C7-4D1A-8E6C-D977F3A45C5C}" type="slidenum">
              <a:rPr lang="es-ES" smtClean="0"/>
              <a:t>2</a:t>
            </a:fld>
            <a:endParaRPr lang="es-ES"/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37323687-1D8A-F18E-6201-DFA57EBF27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0396687"/>
              </p:ext>
            </p:extLst>
          </p:nvPr>
        </p:nvGraphicFramePr>
        <p:xfrm>
          <a:off x="628650" y="1690689"/>
          <a:ext cx="5400000" cy="408025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240000">
                  <a:extLst>
                    <a:ext uri="{9D8B030D-6E8A-4147-A177-3AD203B41FA5}">
                      <a16:colId xmlns:a16="http://schemas.microsoft.com/office/drawing/2014/main" val="404887631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549839726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4277767394"/>
                    </a:ext>
                  </a:extLst>
                </a:gridCol>
              </a:tblGrid>
              <a:tr h="313866">
                <a:tc>
                  <a:txBody>
                    <a:bodyPr/>
                    <a:lstStyle/>
                    <a:p>
                      <a:pPr algn="l" fontAlgn="b"/>
                      <a:endParaRPr lang="es-ES" sz="1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T</a:t>
                      </a:r>
                      <a:endParaRPr lang="es-ES" sz="18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T-1</a:t>
                      </a:r>
                      <a:endParaRPr lang="es-ES" sz="18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639674210"/>
                  </a:ext>
                </a:extLst>
              </a:tr>
              <a:tr h="31386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1" u="none" strike="noStrike" dirty="0">
                          <a:effectLst/>
                        </a:rPr>
                        <a:t>Non-current assets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effectLst/>
                        </a:rPr>
                        <a:t>124.000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effectLst/>
                        </a:rPr>
                        <a:t>130.000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349070120"/>
                  </a:ext>
                </a:extLst>
              </a:tr>
              <a:tr h="31386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1" u="none" strike="noStrike" dirty="0">
                          <a:effectLst/>
                        </a:rPr>
                        <a:t>Current assets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effectLst/>
                        </a:rPr>
                        <a:t>76.000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effectLst/>
                        </a:rPr>
                        <a:t>80.000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02157624"/>
                  </a:ext>
                </a:extLst>
              </a:tr>
              <a:tr h="31386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u="none" strike="noStrike" dirty="0">
                          <a:effectLst/>
                        </a:rPr>
                        <a:t> ∟ </a:t>
                      </a:r>
                      <a:r>
                        <a:rPr lang="es-ES" sz="1800" u="none" strike="noStrike" dirty="0" err="1">
                          <a:effectLst/>
                        </a:rPr>
                        <a:t>Inventories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 dirty="0">
                          <a:effectLst/>
                        </a:rPr>
                        <a:t>20.000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 dirty="0">
                          <a:effectLst/>
                        </a:rPr>
                        <a:t>40.000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489009862"/>
                  </a:ext>
                </a:extLst>
              </a:tr>
              <a:tr h="31386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u="none" strike="noStrike" dirty="0">
                          <a:effectLst/>
                        </a:rPr>
                        <a:t> ∟ </a:t>
                      </a:r>
                      <a:r>
                        <a:rPr lang="es-ES" sz="1800" u="none" strike="noStrike" dirty="0" err="1">
                          <a:effectLst/>
                        </a:rPr>
                        <a:t>Trade</a:t>
                      </a:r>
                      <a:r>
                        <a:rPr lang="es-ES" sz="1800" u="none" strike="noStrike" dirty="0">
                          <a:effectLst/>
                        </a:rPr>
                        <a:t> </a:t>
                      </a:r>
                      <a:r>
                        <a:rPr lang="es-ES" sz="1800" u="none" strike="noStrike" dirty="0" err="1">
                          <a:effectLst/>
                        </a:rPr>
                        <a:t>Receivables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 dirty="0">
                          <a:effectLst/>
                        </a:rPr>
                        <a:t>15.000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 dirty="0">
                          <a:effectLst/>
                        </a:rPr>
                        <a:t>17.000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081212691"/>
                  </a:ext>
                </a:extLst>
              </a:tr>
              <a:tr h="313866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800" u="none" strike="noStrike" dirty="0">
                          <a:effectLst/>
                        </a:rPr>
                        <a:t> ∟ Cash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 dirty="0">
                          <a:effectLst/>
                        </a:rPr>
                        <a:t>41.000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 dirty="0">
                          <a:effectLst/>
                        </a:rPr>
                        <a:t>23.000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099743926"/>
                  </a:ext>
                </a:extLst>
              </a:tr>
              <a:tr h="31386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Total Assets</a:t>
                      </a:r>
                      <a:endParaRPr lang="es-ES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200.000</a:t>
                      </a:r>
                      <a:endParaRPr lang="es-ES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210.000</a:t>
                      </a:r>
                      <a:endParaRPr lang="es-ES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2764070"/>
                  </a:ext>
                </a:extLst>
              </a:tr>
              <a:tr h="31386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1" u="none" strike="noStrike" dirty="0">
                          <a:effectLst/>
                        </a:rPr>
                        <a:t>Equity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effectLst/>
                        </a:rPr>
                        <a:t>16.200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effectLst/>
                        </a:rPr>
                        <a:t>12.000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943327476"/>
                  </a:ext>
                </a:extLst>
              </a:tr>
              <a:tr h="31386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1" u="none" strike="noStrike" dirty="0">
                          <a:effectLst/>
                        </a:rPr>
                        <a:t>Non-current liabilities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effectLst/>
                        </a:rPr>
                        <a:t>143.000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effectLst/>
                        </a:rPr>
                        <a:t>150.000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337711787"/>
                  </a:ext>
                </a:extLst>
              </a:tr>
              <a:tr h="31386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1" u="none" strike="noStrike" dirty="0">
                          <a:effectLst/>
                        </a:rPr>
                        <a:t>Current liabilities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effectLst/>
                        </a:rPr>
                        <a:t>40.800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effectLst/>
                        </a:rPr>
                        <a:t>48.000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288519420"/>
                  </a:ext>
                </a:extLst>
              </a:tr>
              <a:tr h="31386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u="none" strike="noStrike" dirty="0">
                          <a:effectLst/>
                        </a:rPr>
                        <a:t> ∟ Suppliers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 dirty="0">
                          <a:effectLst/>
                        </a:rPr>
                        <a:t>30.000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 dirty="0">
                          <a:effectLst/>
                        </a:rPr>
                        <a:t>28.000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819234169"/>
                  </a:ext>
                </a:extLst>
              </a:tr>
              <a:tr h="31386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u="none" strike="noStrike" dirty="0">
                          <a:effectLst/>
                        </a:rPr>
                        <a:t> ∟ Other current liabilities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 dirty="0">
                          <a:effectLst/>
                        </a:rPr>
                        <a:t>10.800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 dirty="0">
                          <a:effectLst/>
                        </a:rPr>
                        <a:t>20.000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661046117"/>
                  </a:ext>
                </a:extLst>
              </a:tr>
              <a:tr h="31386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Total </a:t>
                      </a:r>
                      <a:r>
                        <a:rPr lang="es-ES" sz="1800" b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E+Liabilities</a:t>
                      </a:r>
                      <a:endParaRPr lang="es-ES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200.000</a:t>
                      </a:r>
                      <a:endParaRPr lang="es-ES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210.000</a:t>
                      </a:r>
                      <a:endParaRPr lang="es-ES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82052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88892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153FF-2393-18F8-F423-0862A567F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2ADF67-B9C1-3CAC-9F38-C2A630E86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Example</a:t>
            </a:r>
            <a:r>
              <a:rPr lang="es-ES" dirty="0"/>
              <a:t> 1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DA7726E-E74E-8418-045D-B54C1BE7C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205EE-51C7-4D1A-8E6C-D977F3A45C5C}" type="slidenum">
              <a:rPr lang="es-ES" smtClean="0"/>
              <a:t>3</a:t>
            </a:fld>
            <a:endParaRPr lang="es-ES"/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15CCB113-2E87-73D6-CE8F-5974F1574DB7}"/>
              </a:ext>
            </a:extLst>
          </p:cNvPr>
          <p:cNvGraphicFramePr>
            <a:graphicFrameLocks noGrp="1"/>
          </p:cNvGraphicFramePr>
          <p:nvPr/>
        </p:nvGraphicFramePr>
        <p:xfrm>
          <a:off x="628650" y="1690689"/>
          <a:ext cx="7560000" cy="408025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240000">
                  <a:extLst>
                    <a:ext uri="{9D8B030D-6E8A-4147-A177-3AD203B41FA5}">
                      <a16:colId xmlns:a16="http://schemas.microsoft.com/office/drawing/2014/main" val="404887631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549839726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4277767394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3757293076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993671214"/>
                    </a:ext>
                  </a:extLst>
                </a:gridCol>
              </a:tblGrid>
              <a:tr h="313866">
                <a:tc>
                  <a:txBody>
                    <a:bodyPr/>
                    <a:lstStyle/>
                    <a:p>
                      <a:pPr algn="l" fontAlgn="b"/>
                      <a:endParaRPr lang="es-ES" sz="1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T</a:t>
                      </a:r>
                      <a:endParaRPr lang="es-ES" sz="18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T-1</a:t>
                      </a:r>
                      <a:endParaRPr lang="es-ES" sz="18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Origin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b="1" i="0" u="none" strike="noStrike" dirty="0"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Use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639674210"/>
                  </a:ext>
                </a:extLst>
              </a:tr>
              <a:tr h="31386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1" u="none" strike="noStrike" dirty="0">
                          <a:effectLst/>
                        </a:rPr>
                        <a:t>Non-current assets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effectLst/>
                        </a:rPr>
                        <a:t>124.000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effectLst/>
                        </a:rPr>
                        <a:t>130.000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6.000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s-ES" sz="1800" b="1" i="0" u="none" strike="noStrike" dirty="0">
                        <a:solidFill>
                          <a:srgbClr val="0070C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349070120"/>
                  </a:ext>
                </a:extLst>
              </a:tr>
              <a:tr h="31386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1" u="none" strike="noStrike" dirty="0">
                          <a:effectLst/>
                        </a:rPr>
                        <a:t>Current assets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effectLst/>
                        </a:rPr>
                        <a:t>76.000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effectLst/>
                        </a:rPr>
                        <a:t>80.000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4.000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s-ES" sz="1800" b="1" i="0" u="none" strike="noStrike" dirty="0">
                        <a:solidFill>
                          <a:srgbClr val="0070C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02157624"/>
                  </a:ext>
                </a:extLst>
              </a:tr>
              <a:tr h="31386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u="none" strike="noStrike" dirty="0">
                          <a:effectLst/>
                        </a:rPr>
                        <a:t> ∟ </a:t>
                      </a:r>
                      <a:r>
                        <a:rPr lang="es-ES" sz="1800" u="none" strike="noStrike" dirty="0" err="1">
                          <a:effectLst/>
                        </a:rPr>
                        <a:t>Inventories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 dirty="0">
                          <a:effectLst/>
                        </a:rPr>
                        <a:t>20.000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 dirty="0">
                          <a:effectLst/>
                        </a:rPr>
                        <a:t>40.000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0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20.000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s-ES" sz="1800" b="0" i="0" u="none" strike="noStrike" dirty="0">
                        <a:solidFill>
                          <a:srgbClr val="0070C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489009862"/>
                  </a:ext>
                </a:extLst>
              </a:tr>
              <a:tr h="31386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u="none" strike="noStrike" dirty="0">
                          <a:effectLst/>
                        </a:rPr>
                        <a:t> ∟ </a:t>
                      </a:r>
                      <a:r>
                        <a:rPr lang="es-ES" sz="1800" u="none" strike="noStrike" dirty="0" err="1">
                          <a:effectLst/>
                        </a:rPr>
                        <a:t>Trade</a:t>
                      </a:r>
                      <a:r>
                        <a:rPr lang="es-ES" sz="1800" u="none" strike="noStrike" dirty="0">
                          <a:effectLst/>
                        </a:rPr>
                        <a:t> </a:t>
                      </a:r>
                      <a:r>
                        <a:rPr lang="es-ES" sz="1800" u="none" strike="noStrike" dirty="0" err="1">
                          <a:effectLst/>
                        </a:rPr>
                        <a:t>Receivables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 dirty="0">
                          <a:effectLst/>
                        </a:rPr>
                        <a:t>15.000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 dirty="0">
                          <a:effectLst/>
                        </a:rPr>
                        <a:t>17.000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0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2.000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s-ES" sz="1800" b="0" i="0" u="none" strike="noStrike" dirty="0">
                        <a:solidFill>
                          <a:srgbClr val="0070C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081212691"/>
                  </a:ext>
                </a:extLst>
              </a:tr>
              <a:tr h="313866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800" u="none" strike="noStrike" dirty="0">
                          <a:effectLst/>
                        </a:rPr>
                        <a:t> ∟ Cash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 dirty="0">
                          <a:effectLst/>
                        </a:rPr>
                        <a:t>41.000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 dirty="0">
                          <a:effectLst/>
                        </a:rPr>
                        <a:t>23.000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s-ES" sz="1800" b="0" i="0" u="none" strike="noStrike" dirty="0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18.000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099743926"/>
                  </a:ext>
                </a:extLst>
              </a:tr>
              <a:tr h="31386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Total Assets</a:t>
                      </a:r>
                      <a:endParaRPr lang="es-ES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200.000</a:t>
                      </a:r>
                      <a:endParaRPr lang="es-ES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210.000</a:t>
                      </a:r>
                      <a:endParaRPr lang="es-ES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s-ES" sz="1800" b="1" i="0" u="none" strike="noStrike" dirty="0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s-ES" sz="1800" b="1" i="0" u="none" strike="noStrike" dirty="0">
                        <a:solidFill>
                          <a:srgbClr val="0070C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2764070"/>
                  </a:ext>
                </a:extLst>
              </a:tr>
              <a:tr h="31386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1" u="none" strike="noStrike" dirty="0">
                          <a:effectLst/>
                        </a:rPr>
                        <a:t>Equity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effectLst/>
                        </a:rPr>
                        <a:t>16.200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effectLst/>
                        </a:rPr>
                        <a:t>12.000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4.200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s-ES" sz="1800" b="1" i="0" u="none" strike="noStrike" dirty="0">
                        <a:solidFill>
                          <a:srgbClr val="0070C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943327476"/>
                  </a:ext>
                </a:extLst>
              </a:tr>
              <a:tr h="31386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1" u="none" strike="noStrike" dirty="0">
                          <a:effectLst/>
                        </a:rPr>
                        <a:t>Non-current liabilities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effectLst/>
                        </a:rPr>
                        <a:t>143.000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effectLst/>
                        </a:rPr>
                        <a:t>150.000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s-ES" sz="1800" b="1" i="0" u="none" strike="noStrike" dirty="0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i="0" u="none" strike="noStrike" dirty="0"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7.000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337711787"/>
                  </a:ext>
                </a:extLst>
              </a:tr>
              <a:tr h="31386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1" u="none" strike="noStrike" dirty="0">
                          <a:effectLst/>
                        </a:rPr>
                        <a:t>Current liabilities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effectLst/>
                        </a:rPr>
                        <a:t>40.800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effectLst/>
                        </a:rPr>
                        <a:t>48.000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s-ES" sz="1800" b="1" i="0" u="none" strike="noStrike" dirty="0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i="0" u="none" strike="noStrike" dirty="0"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7.200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288519420"/>
                  </a:ext>
                </a:extLst>
              </a:tr>
              <a:tr h="31386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u="none" strike="noStrike" dirty="0">
                          <a:effectLst/>
                        </a:rPr>
                        <a:t> ∟ Suppliers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 dirty="0">
                          <a:effectLst/>
                        </a:rPr>
                        <a:t>30.000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 dirty="0">
                          <a:effectLst/>
                        </a:rPr>
                        <a:t>28.000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0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2.000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s-ES" sz="1800" b="0" i="0" u="none" strike="noStrike" dirty="0">
                        <a:solidFill>
                          <a:srgbClr val="0070C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819234169"/>
                  </a:ext>
                </a:extLst>
              </a:tr>
              <a:tr h="31386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u="none" strike="noStrike" dirty="0">
                          <a:effectLst/>
                        </a:rPr>
                        <a:t> ∟ Other current liabilities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 dirty="0">
                          <a:effectLst/>
                        </a:rPr>
                        <a:t>10.800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 dirty="0">
                          <a:effectLst/>
                        </a:rPr>
                        <a:t>20.000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s-ES" sz="1800" b="0" i="0" u="none" strike="noStrike" dirty="0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9.200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661046117"/>
                  </a:ext>
                </a:extLst>
              </a:tr>
              <a:tr h="31386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Total </a:t>
                      </a:r>
                      <a:r>
                        <a:rPr lang="es-ES" sz="1800" b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E+Liabilities</a:t>
                      </a:r>
                      <a:endParaRPr lang="es-ES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200.000</a:t>
                      </a:r>
                      <a:endParaRPr lang="es-ES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210.000</a:t>
                      </a:r>
                      <a:endParaRPr lang="es-ES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s-ES" sz="1800" b="1" i="0" u="none" strike="noStrike" dirty="0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s-ES" sz="1800" b="1" i="0" u="none" strike="noStrike" dirty="0">
                        <a:solidFill>
                          <a:srgbClr val="0070C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82052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599199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Introduction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kumimoji="0" lang="es-ES" b="0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Profitability and </a:t>
            </a:r>
            <a:r>
              <a:rPr kumimoji="0" lang="es-ES" b="0" i="0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risk</a:t>
            </a:r>
            <a:endParaRPr kumimoji="0" lang="es-ES" b="0" i="0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s-ES" dirty="0" err="1">
                <a:solidFill>
                  <a:prstClr val="black"/>
                </a:solidFill>
                <a:latin typeface="Montserrat"/>
              </a:rPr>
              <a:t>Financial</a:t>
            </a:r>
            <a:r>
              <a:rPr lang="es-ES" dirty="0">
                <a:solidFill>
                  <a:prstClr val="black"/>
                </a:solidFill>
                <a:latin typeface="Montserrat"/>
              </a:rPr>
              <a:t> </a:t>
            </a:r>
            <a:r>
              <a:rPr lang="es-ES" dirty="0" err="1">
                <a:solidFill>
                  <a:prstClr val="black"/>
                </a:solidFill>
                <a:latin typeface="Montserrat"/>
              </a:rPr>
              <a:t>analysis</a:t>
            </a:r>
            <a:endParaRPr kumimoji="0" lang="es-ES" b="0" i="0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kumimoji="0" lang="es-ES" b="0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Environment, sector, strategy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s-ES" dirty="0">
                <a:solidFill>
                  <a:prstClr val="black"/>
                </a:solidFill>
                <a:latin typeface="Montserrat"/>
              </a:rPr>
              <a:t>Percentage analysis:</a:t>
            </a:r>
          </a:p>
          <a:p>
            <a:pPr lvl="1">
              <a:lnSpc>
                <a:spcPct val="150000"/>
              </a:lnSpc>
            </a:pPr>
            <a:r>
              <a:rPr kumimoji="0" lang="es-ES" b="0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Vertical (static): relative weight of </a:t>
            </a:r>
            <a:r>
              <a:rPr kumimoji="0" lang="es-ES" b="0" i="0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asset</a:t>
            </a:r>
            <a:r>
              <a:rPr kumimoji="0" lang="es-ES" b="0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 </a:t>
            </a:r>
            <a:r>
              <a:rPr kumimoji="0" lang="es-ES" b="0" i="0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items</a:t>
            </a:r>
            <a:r>
              <a:rPr kumimoji="0" lang="es-ES" b="0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.</a:t>
            </a:r>
            <a:br>
              <a:rPr lang="es-ES" dirty="0">
                <a:solidFill>
                  <a:prstClr val="black"/>
                </a:solidFill>
                <a:latin typeface="Montserrat"/>
              </a:rPr>
            </a:br>
            <a:r>
              <a:rPr lang="en-GB" noProof="0" dirty="0"/>
              <a:t>Structural variations are observed over time.</a:t>
            </a:r>
          </a:p>
          <a:p>
            <a:pPr lvl="1">
              <a:lnSpc>
                <a:spcPct val="150000"/>
              </a:lnSpc>
            </a:pPr>
            <a:r>
              <a:rPr lang="en-GB" noProof="0" dirty="0">
                <a:solidFill>
                  <a:prstClr val="black"/>
                </a:solidFill>
                <a:latin typeface="Montserrat"/>
              </a:rPr>
              <a:t>Horizontal (dynamic): comparison of the i</a:t>
            </a:r>
            <a:r>
              <a:rPr lang="en-GB" noProof="0" dirty="0">
                <a:solidFill>
                  <a:prstClr val="black"/>
                </a:solidFill>
              </a:rPr>
              <a:t>tems’ </a:t>
            </a:r>
            <a:r>
              <a:rPr lang="en-GB" noProof="0" dirty="0">
                <a:solidFill>
                  <a:prstClr val="black"/>
                </a:solidFill>
                <a:latin typeface="Montserrat"/>
              </a:rPr>
              <a:t>growth.</a:t>
            </a:r>
            <a:br>
              <a:rPr lang="en-GB" noProof="0" dirty="0">
                <a:solidFill>
                  <a:prstClr val="black"/>
                </a:solidFill>
                <a:latin typeface="Montserrat"/>
              </a:rPr>
            </a:br>
            <a:r>
              <a:rPr lang="en-GB" noProof="0" dirty="0"/>
              <a:t>Over a base year (previous or specific)</a:t>
            </a:r>
            <a:br>
              <a:rPr lang="en-GB" noProof="0" dirty="0"/>
            </a:br>
            <a:r>
              <a:rPr lang="en-GB" noProof="0" dirty="0"/>
              <a:t>Contrast in </a:t>
            </a:r>
            <a:r>
              <a:rPr lang="en-GB" noProof="0"/>
              <a:t>growth rates.</a:t>
            </a:r>
            <a:endParaRPr kumimoji="0" lang="en-GB" b="0" i="0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205EE-51C7-4D1A-8E6C-D977F3A45C5C}" type="slidenum">
              <a:rPr lang="es-ES" smtClean="0"/>
              <a:t>4</a:t>
            </a:fld>
            <a:endParaRPr lang="es-E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10E6129-06BF-3834-9919-137E0FAC50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4568" y="689014"/>
            <a:ext cx="3800782" cy="1577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8507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11C334-D3CE-D8B5-5FF3-216DEA27E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FB5189-3A94-74B0-3891-A0EDE7554C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Example 2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C9EE042-CC2B-C7FD-F90C-B0525628F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205EE-51C7-4D1A-8E6C-D977F3A45C5C}" type="slidenum">
              <a:rPr lang="es-ES" smtClean="0"/>
              <a:t>5</a:t>
            </a:fld>
            <a:endParaRPr lang="es-ES"/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75B5F2AC-DAD1-A25A-92C4-3A1D23D7ED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9903265"/>
              </p:ext>
            </p:extLst>
          </p:nvPr>
        </p:nvGraphicFramePr>
        <p:xfrm>
          <a:off x="628650" y="1690689"/>
          <a:ext cx="5400000" cy="408025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240000">
                  <a:extLst>
                    <a:ext uri="{9D8B030D-6E8A-4147-A177-3AD203B41FA5}">
                      <a16:colId xmlns:a16="http://schemas.microsoft.com/office/drawing/2014/main" val="404887631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549839726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4277767394"/>
                    </a:ext>
                  </a:extLst>
                </a:gridCol>
              </a:tblGrid>
              <a:tr h="313866">
                <a:tc>
                  <a:txBody>
                    <a:bodyPr/>
                    <a:lstStyle/>
                    <a:p>
                      <a:pPr algn="l" fontAlgn="b"/>
                      <a:endParaRPr lang="es-ES" sz="1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T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T-3</a:t>
                      </a:r>
                      <a:endParaRPr lang="es-ES" sz="18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639674210"/>
                  </a:ext>
                </a:extLst>
              </a:tr>
              <a:tr h="31386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1" u="none" strike="noStrike" dirty="0">
                          <a:effectLst/>
                        </a:rPr>
                        <a:t>Non-current assets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effectLst/>
                        </a:rPr>
                        <a:t>350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effectLst/>
                        </a:rPr>
                        <a:t>300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349070120"/>
                  </a:ext>
                </a:extLst>
              </a:tr>
              <a:tr h="31386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1" u="none" strike="noStrike" dirty="0">
                          <a:effectLst/>
                        </a:rPr>
                        <a:t>Current assets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effectLst/>
                        </a:rPr>
                        <a:t>680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effectLst/>
                        </a:rPr>
                        <a:t>380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02157624"/>
                  </a:ext>
                </a:extLst>
              </a:tr>
              <a:tr h="31386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u="none" strike="noStrike" dirty="0">
                          <a:effectLst/>
                        </a:rPr>
                        <a:t> ∟ </a:t>
                      </a:r>
                      <a:r>
                        <a:rPr lang="es-ES" sz="1800" u="none" strike="noStrike" dirty="0" err="1">
                          <a:effectLst/>
                        </a:rPr>
                        <a:t>Inventories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 dirty="0">
                          <a:effectLst/>
                        </a:rPr>
                        <a:t>420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 dirty="0">
                          <a:effectLst/>
                        </a:rPr>
                        <a:t>220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489009862"/>
                  </a:ext>
                </a:extLst>
              </a:tr>
              <a:tr h="31386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u="none" strike="noStrike" dirty="0">
                          <a:effectLst/>
                        </a:rPr>
                        <a:t> ∟ </a:t>
                      </a:r>
                      <a:r>
                        <a:rPr lang="es-ES" sz="1800" u="none" strike="noStrike" dirty="0" err="1">
                          <a:effectLst/>
                        </a:rPr>
                        <a:t>Trade</a:t>
                      </a:r>
                      <a:r>
                        <a:rPr lang="es-ES" sz="1800" u="none" strike="noStrike" dirty="0">
                          <a:effectLst/>
                        </a:rPr>
                        <a:t> </a:t>
                      </a:r>
                      <a:r>
                        <a:rPr lang="es-ES" sz="1800" u="none" strike="noStrike" dirty="0" err="1">
                          <a:effectLst/>
                        </a:rPr>
                        <a:t>Receivables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 dirty="0">
                          <a:effectLst/>
                        </a:rPr>
                        <a:t>210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 dirty="0">
                          <a:effectLst/>
                        </a:rPr>
                        <a:t>120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081212691"/>
                  </a:ext>
                </a:extLst>
              </a:tr>
              <a:tr h="313866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800" u="none" strike="noStrike" dirty="0">
                          <a:effectLst/>
                        </a:rPr>
                        <a:t> ∟ Cash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 dirty="0">
                          <a:effectLst/>
                        </a:rPr>
                        <a:t>50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 dirty="0">
                          <a:effectLst/>
                        </a:rPr>
                        <a:t>40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099743926"/>
                  </a:ext>
                </a:extLst>
              </a:tr>
              <a:tr h="31386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Total Assets</a:t>
                      </a:r>
                      <a:endParaRPr lang="es-ES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1.020</a:t>
                      </a:r>
                      <a:endParaRPr lang="es-ES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680</a:t>
                      </a:r>
                      <a:endParaRPr lang="es-ES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2764070"/>
                  </a:ext>
                </a:extLst>
              </a:tr>
              <a:tr h="31386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1" u="none" strike="noStrike" dirty="0">
                          <a:effectLst/>
                        </a:rPr>
                        <a:t>Equity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effectLst/>
                        </a:rPr>
                        <a:t>354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effectLst/>
                        </a:rPr>
                        <a:t>155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943327476"/>
                  </a:ext>
                </a:extLst>
              </a:tr>
              <a:tr h="31386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1" u="none" strike="noStrike" dirty="0">
                          <a:effectLst/>
                        </a:rPr>
                        <a:t>Non-current liabilities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effectLst/>
                        </a:rPr>
                        <a:t>90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effectLst/>
                        </a:rPr>
                        <a:t>120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337711787"/>
                  </a:ext>
                </a:extLst>
              </a:tr>
              <a:tr h="31386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1" u="none" strike="noStrike" dirty="0">
                          <a:effectLst/>
                        </a:rPr>
                        <a:t>Current liabilities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800" b="1" u="none" strike="noStrike" dirty="0">
                          <a:effectLst/>
                        </a:rPr>
                        <a:t>573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effectLst/>
                        </a:rPr>
                        <a:t>380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288519420"/>
                  </a:ext>
                </a:extLst>
              </a:tr>
              <a:tr h="31386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u="none" strike="noStrike" dirty="0">
                          <a:effectLst/>
                        </a:rPr>
                        <a:t> ∟ Suppliers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 dirty="0">
                          <a:effectLst/>
                        </a:rPr>
                        <a:t>223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 dirty="0">
                          <a:effectLst/>
                        </a:rPr>
                        <a:t>80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819234169"/>
                  </a:ext>
                </a:extLst>
              </a:tr>
              <a:tr h="31386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u="none" strike="noStrike" dirty="0">
                          <a:effectLst/>
                        </a:rPr>
                        <a:t> ∟ Other current liabilities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 dirty="0">
                          <a:effectLst/>
                        </a:rPr>
                        <a:t>350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 dirty="0">
                          <a:effectLst/>
                        </a:rPr>
                        <a:t>300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661046117"/>
                  </a:ext>
                </a:extLst>
              </a:tr>
              <a:tr h="31386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Total </a:t>
                      </a:r>
                      <a:r>
                        <a:rPr lang="es-ES" sz="1800" b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E+Liabilities</a:t>
                      </a:r>
                      <a:endParaRPr lang="es-ES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1.020</a:t>
                      </a:r>
                      <a:endParaRPr lang="es-ES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680</a:t>
                      </a:r>
                      <a:endParaRPr lang="es-ES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82052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40845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D7FB75-CB8C-5E59-A951-2B55B2123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7B523E-75AB-9055-00DE-9BE3BE0C8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Example 2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092110F-A213-F004-1489-9EA3F44C6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205EE-51C7-4D1A-8E6C-D977F3A45C5C}" type="slidenum">
              <a:rPr lang="es-ES" smtClean="0"/>
              <a:t>6</a:t>
            </a:fld>
            <a:endParaRPr lang="es-ES"/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43AF3BCC-3B01-D59F-8A1E-38998BA6C472}"/>
              </a:ext>
            </a:extLst>
          </p:cNvPr>
          <p:cNvGraphicFramePr>
            <a:graphicFrameLocks noGrp="1"/>
          </p:cNvGraphicFramePr>
          <p:nvPr/>
        </p:nvGraphicFramePr>
        <p:xfrm>
          <a:off x="628650" y="1690689"/>
          <a:ext cx="7560000" cy="408025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240000">
                  <a:extLst>
                    <a:ext uri="{9D8B030D-6E8A-4147-A177-3AD203B41FA5}">
                      <a16:colId xmlns:a16="http://schemas.microsoft.com/office/drawing/2014/main" val="404887631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549839726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4277767394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1238220677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611150501"/>
                    </a:ext>
                  </a:extLst>
                </a:gridCol>
              </a:tblGrid>
              <a:tr h="313866">
                <a:tc>
                  <a:txBody>
                    <a:bodyPr/>
                    <a:lstStyle/>
                    <a:p>
                      <a:pPr algn="l" fontAlgn="b"/>
                      <a:endParaRPr lang="es-ES" sz="1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T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T-3</a:t>
                      </a:r>
                      <a:endParaRPr lang="es-ES" sz="18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Origin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b="1" i="0" u="none" strike="noStrike" dirty="0"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Use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639674210"/>
                  </a:ext>
                </a:extLst>
              </a:tr>
              <a:tr h="31386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1" u="none" strike="noStrike" dirty="0">
                          <a:effectLst/>
                        </a:rPr>
                        <a:t>Non-current assets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effectLst/>
                        </a:rPr>
                        <a:t>350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effectLst/>
                        </a:rPr>
                        <a:t>300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s-ES" sz="1800" b="1" i="0" u="none" strike="noStrike" dirty="0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i="0" u="none" strike="noStrike" dirty="0"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50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349070120"/>
                  </a:ext>
                </a:extLst>
              </a:tr>
              <a:tr h="31386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1" u="none" strike="noStrike" dirty="0">
                          <a:effectLst/>
                        </a:rPr>
                        <a:t>Current assets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effectLst/>
                        </a:rPr>
                        <a:t>680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effectLst/>
                        </a:rPr>
                        <a:t>380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s-ES" sz="1800" b="1" i="0" u="none" strike="noStrike" dirty="0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i="0" u="none" strike="noStrike" dirty="0"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300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02157624"/>
                  </a:ext>
                </a:extLst>
              </a:tr>
              <a:tr h="31386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u="none" strike="noStrike" dirty="0">
                          <a:effectLst/>
                        </a:rPr>
                        <a:t> ∟ </a:t>
                      </a:r>
                      <a:r>
                        <a:rPr lang="es-ES" sz="1800" u="none" strike="noStrike" dirty="0" err="1">
                          <a:effectLst/>
                        </a:rPr>
                        <a:t>Inventories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 dirty="0">
                          <a:effectLst/>
                        </a:rPr>
                        <a:t>420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 dirty="0">
                          <a:effectLst/>
                        </a:rPr>
                        <a:t>220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s-ES" sz="1800" b="0" i="0" u="none" strike="noStrike" dirty="0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200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489009862"/>
                  </a:ext>
                </a:extLst>
              </a:tr>
              <a:tr h="31386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u="none" strike="noStrike" dirty="0">
                          <a:effectLst/>
                        </a:rPr>
                        <a:t> ∟ </a:t>
                      </a:r>
                      <a:r>
                        <a:rPr lang="es-ES" sz="1800" u="none" strike="noStrike" dirty="0" err="1">
                          <a:effectLst/>
                        </a:rPr>
                        <a:t>Trade</a:t>
                      </a:r>
                      <a:r>
                        <a:rPr lang="es-ES" sz="1800" u="none" strike="noStrike" dirty="0">
                          <a:effectLst/>
                        </a:rPr>
                        <a:t> </a:t>
                      </a:r>
                      <a:r>
                        <a:rPr lang="es-ES" sz="1800" u="none" strike="noStrike" dirty="0" err="1">
                          <a:effectLst/>
                        </a:rPr>
                        <a:t>Receivables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 dirty="0">
                          <a:effectLst/>
                        </a:rPr>
                        <a:t>210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 dirty="0">
                          <a:effectLst/>
                        </a:rPr>
                        <a:t>120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s-ES" sz="1800" b="0" i="0" u="none" strike="noStrike" dirty="0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90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081212691"/>
                  </a:ext>
                </a:extLst>
              </a:tr>
              <a:tr h="313866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800" u="none" strike="noStrike" dirty="0">
                          <a:effectLst/>
                        </a:rPr>
                        <a:t> ∟ Cash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 dirty="0">
                          <a:effectLst/>
                        </a:rPr>
                        <a:t>50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 dirty="0">
                          <a:effectLst/>
                        </a:rPr>
                        <a:t>40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s-ES" sz="1800" b="0" i="0" u="none" strike="noStrike" dirty="0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10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099743926"/>
                  </a:ext>
                </a:extLst>
              </a:tr>
              <a:tr h="31386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Total Assets</a:t>
                      </a:r>
                      <a:endParaRPr lang="es-ES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1.020</a:t>
                      </a:r>
                      <a:endParaRPr lang="es-ES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680</a:t>
                      </a:r>
                      <a:endParaRPr lang="es-ES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s-ES" sz="1800" b="1" i="0" u="none" strike="noStrike" dirty="0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s-ES" sz="1800" b="1" i="0" u="none" strike="noStrike" dirty="0">
                        <a:solidFill>
                          <a:srgbClr val="0070C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2764070"/>
                  </a:ext>
                </a:extLst>
              </a:tr>
              <a:tr h="31386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1" u="none" strike="noStrike" dirty="0">
                          <a:effectLst/>
                        </a:rPr>
                        <a:t>Equity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effectLst/>
                        </a:rPr>
                        <a:t>354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effectLst/>
                        </a:rPr>
                        <a:t>155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199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s-ES" sz="1800" b="1" i="0" u="none" strike="noStrike" dirty="0">
                        <a:solidFill>
                          <a:srgbClr val="0070C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943327476"/>
                  </a:ext>
                </a:extLst>
              </a:tr>
              <a:tr h="31386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1" u="none" strike="noStrike" dirty="0">
                          <a:effectLst/>
                        </a:rPr>
                        <a:t>Non-current liabilities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effectLst/>
                        </a:rPr>
                        <a:t>90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effectLst/>
                        </a:rPr>
                        <a:t>120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s-ES" sz="1800" b="1" i="0" u="none" strike="noStrike" dirty="0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i="0" u="none" strike="noStrike" dirty="0"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30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337711787"/>
                  </a:ext>
                </a:extLst>
              </a:tr>
              <a:tr h="31386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1" u="none" strike="noStrike" dirty="0">
                          <a:effectLst/>
                        </a:rPr>
                        <a:t>Current liabilities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800" b="1" u="none" strike="noStrike" dirty="0">
                          <a:effectLst/>
                        </a:rPr>
                        <a:t>573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effectLst/>
                        </a:rPr>
                        <a:t>380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193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s-ES" sz="1800" b="1" i="0" u="none" strike="noStrike" dirty="0">
                        <a:solidFill>
                          <a:srgbClr val="0070C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288519420"/>
                  </a:ext>
                </a:extLst>
              </a:tr>
              <a:tr h="31386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u="none" strike="noStrike" dirty="0">
                          <a:effectLst/>
                        </a:rPr>
                        <a:t> ∟ Suppliers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 dirty="0">
                          <a:effectLst/>
                        </a:rPr>
                        <a:t>223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 dirty="0">
                          <a:effectLst/>
                        </a:rPr>
                        <a:t>80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0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143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s-ES" sz="1800" b="0" i="0" u="none" strike="noStrike" dirty="0">
                        <a:solidFill>
                          <a:srgbClr val="0070C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819234169"/>
                  </a:ext>
                </a:extLst>
              </a:tr>
              <a:tr h="31386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u="none" strike="noStrike" dirty="0">
                          <a:effectLst/>
                        </a:rPr>
                        <a:t> ∟ Other current liabilities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 dirty="0">
                          <a:effectLst/>
                        </a:rPr>
                        <a:t>350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 dirty="0">
                          <a:effectLst/>
                        </a:rPr>
                        <a:t>300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0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50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s-ES" sz="1800" b="0" i="0" u="none" strike="noStrike" dirty="0">
                        <a:solidFill>
                          <a:srgbClr val="0070C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661046117"/>
                  </a:ext>
                </a:extLst>
              </a:tr>
              <a:tr h="31386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Total </a:t>
                      </a:r>
                      <a:r>
                        <a:rPr lang="es-ES" sz="1800" b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E+Liabilities</a:t>
                      </a:r>
                      <a:endParaRPr lang="es-ES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1.020</a:t>
                      </a:r>
                      <a:endParaRPr lang="es-ES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680</a:t>
                      </a:r>
                      <a:endParaRPr lang="es-ES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s-ES" sz="1800" b="1" i="0" u="none" strike="noStrike" dirty="0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s-ES" sz="1800" b="1" i="0" u="none" strike="noStrike" dirty="0">
                        <a:solidFill>
                          <a:srgbClr val="0070C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82052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44373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7BC3EE-A5D8-3ACC-00F5-D36D568249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086B47-2AB3-EFA3-ACF5-E35903BAF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TH</a:t>
            </a:r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FE8A3EDC-33E5-C381-3856-A48E5250391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28649" y="1690689"/>
          <a:ext cx="8035050" cy="4080253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356000">
                  <a:extLst>
                    <a:ext uri="{9D8B030D-6E8A-4147-A177-3AD203B41FA5}">
                      <a16:colId xmlns:a16="http://schemas.microsoft.com/office/drawing/2014/main" val="3877755856"/>
                    </a:ext>
                  </a:extLst>
                </a:gridCol>
                <a:gridCol w="1226350">
                  <a:extLst>
                    <a:ext uri="{9D8B030D-6E8A-4147-A177-3AD203B41FA5}">
                      <a16:colId xmlns:a16="http://schemas.microsoft.com/office/drawing/2014/main" val="2789156037"/>
                    </a:ext>
                  </a:extLst>
                </a:gridCol>
                <a:gridCol w="1226350">
                  <a:extLst>
                    <a:ext uri="{9D8B030D-6E8A-4147-A177-3AD203B41FA5}">
                      <a16:colId xmlns:a16="http://schemas.microsoft.com/office/drawing/2014/main" val="1990428561"/>
                    </a:ext>
                  </a:extLst>
                </a:gridCol>
                <a:gridCol w="1226350">
                  <a:extLst>
                    <a:ext uri="{9D8B030D-6E8A-4147-A177-3AD203B41FA5}">
                      <a16:colId xmlns:a16="http://schemas.microsoft.com/office/drawing/2014/main" val="1279574495"/>
                    </a:ext>
                  </a:extLst>
                </a:gridCol>
              </a:tblGrid>
              <a:tr h="31631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u="none" strike="noStrike" dirty="0" err="1">
                          <a:solidFill>
                            <a:sysClr val="windowText" lastClr="000000"/>
                          </a:solidFill>
                          <a:effectLst/>
                        </a:rPr>
                        <a:t>Income</a:t>
                      </a:r>
                      <a:r>
                        <a:rPr lang="es-ES" sz="1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 </a:t>
                      </a:r>
                      <a:r>
                        <a:rPr lang="es-ES" sz="1800" u="none" strike="noStrike" dirty="0" err="1">
                          <a:solidFill>
                            <a:sysClr val="windowText" lastClr="000000"/>
                          </a:solidFill>
                          <a:effectLst/>
                        </a:rPr>
                        <a:t>Statement</a:t>
                      </a:r>
                      <a:endParaRPr lang="es-ES" sz="18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2022</a:t>
                      </a:r>
                      <a:endParaRPr lang="es-ES" sz="18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2021</a:t>
                      </a:r>
                      <a:endParaRPr lang="es-ES" sz="18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2020</a:t>
                      </a:r>
                      <a:endParaRPr lang="es-ES" sz="18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639042211"/>
                  </a:ext>
                </a:extLst>
              </a:tr>
              <a:tr h="31631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 ∟ </a:t>
                      </a:r>
                      <a:r>
                        <a:rPr lang="es-ES" sz="1800" b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Revenue</a:t>
                      </a:r>
                      <a:endParaRPr lang="es-ES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1406.15</a:t>
                      </a:r>
                      <a:endParaRPr lang="es-ES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1063.69</a:t>
                      </a:r>
                      <a:endParaRPr lang="es-ES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95.74</a:t>
                      </a:r>
                      <a:endParaRPr lang="es-ES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6859932"/>
                  </a:ext>
                </a:extLst>
              </a:tr>
              <a:tr h="31631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 ∟ </a:t>
                      </a:r>
                      <a:r>
                        <a:rPr lang="es-ES" sz="1800" u="none" strike="noStrike" dirty="0" err="1">
                          <a:solidFill>
                            <a:sysClr val="windowText" lastClr="000000"/>
                          </a:solidFill>
                          <a:effectLst/>
                        </a:rPr>
                        <a:t>Costs of goods sold</a:t>
                      </a:r>
                      <a:endParaRPr lang="es-ES" sz="1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82.53</a:t>
                      </a:r>
                      <a:endParaRPr lang="es-ES" sz="1800" b="0" i="0" u="none" strike="noStrike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28.75</a:t>
                      </a:r>
                      <a:endParaRPr lang="es-ES" sz="1800" b="0" i="0" u="none" strike="noStrike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u="none" strike="noStrike" dirty="0" err="1">
                          <a:solidFill>
                            <a:sysClr val="windowText" lastClr="000000"/>
                          </a:solidFill>
                          <a:effectLst/>
                        </a:rPr>
                        <a:t>n.a</a:t>
                      </a:r>
                      <a:r>
                        <a:rPr lang="es-ES" sz="1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.</a:t>
                      </a:r>
                      <a:endParaRPr lang="es-ES" sz="1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450957525"/>
                  </a:ext>
                </a:extLst>
              </a:tr>
              <a:tr h="31631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1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 ∟ Gross </a:t>
                      </a:r>
                      <a:r>
                        <a:rPr lang="es-ES" sz="1800" b="1" u="none" strike="noStrike" dirty="0" err="1">
                          <a:solidFill>
                            <a:sysClr val="windowText" lastClr="000000"/>
                          </a:solidFill>
                          <a:effectLst/>
                        </a:rPr>
                        <a:t>profit</a:t>
                      </a:r>
                      <a:endParaRPr lang="es-ES" sz="18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1323.62</a:t>
                      </a:r>
                      <a:endParaRPr lang="es-ES" sz="18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1034.94</a:t>
                      </a:r>
                      <a:endParaRPr lang="es-ES" sz="1800" b="1" i="0" u="none" strike="noStrike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95.74</a:t>
                      </a:r>
                      <a:endParaRPr lang="es-ES" sz="18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838441406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 ∟ </a:t>
                      </a:r>
                      <a:r>
                        <a:rPr lang="es-ES" sz="1800" u="none" strike="noStrike" dirty="0" err="1">
                          <a:solidFill>
                            <a:sysClr val="windowText" lastClr="000000"/>
                          </a:solidFill>
                          <a:effectLst/>
                        </a:rPr>
                        <a:t>Other operating </a:t>
                      </a:r>
                      <a:r>
                        <a:rPr lang="es-ES" sz="1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expense (</a:t>
                      </a:r>
                      <a:r>
                        <a:rPr lang="es-ES" sz="1800" u="none" strike="noStrike" dirty="0" err="1">
                          <a:solidFill>
                            <a:sysClr val="windowText" lastClr="000000"/>
                          </a:solidFill>
                          <a:effectLst/>
                        </a:rPr>
                        <a:t>income</a:t>
                      </a:r>
                      <a:r>
                        <a:rPr lang="es-ES" sz="1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)</a:t>
                      </a:r>
                      <a:endParaRPr lang="es-ES" sz="1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1243.85</a:t>
                      </a:r>
                      <a:endParaRPr lang="es-ES" sz="1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943.39</a:t>
                      </a:r>
                      <a:endParaRPr lang="es-ES" sz="1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208.24</a:t>
                      </a:r>
                      <a:endParaRPr lang="es-ES" sz="1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695187633"/>
                  </a:ext>
                </a:extLst>
              </a:tr>
              <a:tr h="31631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1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 ∟ </a:t>
                      </a:r>
                      <a:r>
                        <a:rPr lang="es-ES" sz="1800" b="1" u="none" strike="noStrike" dirty="0" err="1">
                          <a:solidFill>
                            <a:sysClr val="windowText" lastClr="000000"/>
                          </a:solidFill>
                          <a:effectLst/>
                        </a:rPr>
                        <a:t>Operating</a:t>
                      </a:r>
                      <a:r>
                        <a:rPr lang="es-ES" sz="1800" b="1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 </a:t>
                      </a:r>
                      <a:r>
                        <a:rPr lang="es-ES" sz="1800" b="1" u="none" strike="noStrike" dirty="0" err="1">
                          <a:solidFill>
                            <a:sysClr val="windowText" lastClr="000000"/>
                          </a:solidFill>
                          <a:effectLst/>
                        </a:rPr>
                        <a:t>profit</a:t>
                      </a:r>
                      <a:r>
                        <a:rPr lang="es-ES" sz="1800" b="1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 (</a:t>
                      </a:r>
                      <a:r>
                        <a:rPr lang="es-ES" sz="1800" b="1" u="none" strike="noStrike" dirty="0" err="1">
                          <a:solidFill>
                            <a:sysClr val="windowText" lastClr="000000"/>
                          </a:solidFill>
                          <a:effectLst/>
                        </a:rPr>
                        <a:t>loss</a:t>
                      </a:r>
                      <a:r>
                        <a:rPr lang="es-ES" sz="1800" b="1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) [EBIT]</a:t>
                      </a:r>
                      <a:endParaRPr lang="es-ES" sz="18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79.77</a:t>
                      </a:r>
                      <a:endParaRPr lang="es-ES" sz="1800" b="1" i="0" u="none" strike="noStrike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91.55</a:t>
                      </a:r>
                      <a:endParaRPr lang="es-ES" sz="1800" b="1" i="0" u="none" strike="noStrike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-112.50</a:t>
                      </a:r>
                      <a:endParaRPr lang="es-ES" sz="18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393883505"/>
                  </a:ext>
                </a:extLst>
              </a:tr>
              <a:tr h="31631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 ∟ </a:t>
                      </a:r>
                      <a:r>
                        <a:rPr lang="es-ES" sz="1800" u="none" strike="noStrike" dirty="0" err="1">
                          <a:solidFill>
                            <a:sysClr val="windowText" lastClr="000000"/>
                          </a:solidFill>
                          <a:effectLst/>
                        </a:rPr>
                        <a:t>Financial</a:t>
                      </a:r>
                      <a:r>
                        <a:rPr lang="es-ES" sz="1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 </a:t>
                      </a:r>
                      <a:r>
                        <a:rPr lang="es-ES" sz="1800" u="none" strike="noStrike" dirty="0" err="1">
                          <a:solidFill>
                            <a:sysClr val="windowText" lastClr="000000"/>
                          </a:solidFill>
                          <a:effectLst/>
                        </a:rPr>
                        <a:t>profit</a:t>
                      </a:r>
                      <a:r>
                        <a:rPr lang="es-ES" sz="1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 (</a:t>
                      </a:r>
                      <a:r>
                        <a:rPr lang="es-ES" sz="1800" u="none" strike="noStrike" dirty="0" err="1">
                          <a:solidFill>
                            <a:sysClr val="windowText" lastClr="000000"/>
                          </a:solidFill>
                          <a:effectLst/>
                        </a:rPr>
                        <a:t>loss</a:t>
                      </a:r>
                      <a:r>
                        <a:rPr lang="es-ES" sz="1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)</a:t>
                      </a:r>
                      <a:endParaRPr lang="es-ES" sz="1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-0.14</a:t>
                      </a:r>
                      <a:endParaRPr lang="es-ES" sz="1800" b="0" i="0" u="none" strike="noStrike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-0.85</a:t>
                      </a:r>
                      <a:endParaRPr lang="es-ES" sz="1800" b="0" i="0" u="none" strike="noStrike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0.00</a:t>
                      </a:r>
                      <a:endParaRPr lang="es-ES" sz="1800" b="0" i="0" u="none" strike="noStrike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950648296"/>
                  </a:ext>
                </a:extLst>
              </a:tr>
              <a:tr h="31631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    ∟ Financial revenue</a:t>
                      </a:r>
                      <a:endParaRPr lang="es-ES" sz="1800" b="0" i="0" u="none" strike="noStrike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0.05</a:t>
                      </a:r>
                      <a:endParaRPr lang="es-ES" sz="1800" b="0" i="0" u="none" strike="noStrike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n.a.</a:t>
                      </a:r>
                      <a:endParaRPr lang="es-ES" sz="1800" b="0" i="0" u="none" strike="noStrike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n.a.</a:t>
                      </a:r>
                      <a:endParaRPr lang="es-ES" sz="1800" b="0" i="0" u="none" strike="noStrike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760379808"/>
                  </a:ext>
                </a:extLst>
              </a:tr>
              <a:tr h="31631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    ∟ Financial expenses</a:t>
                      </a:r>
                      <a:endParaRPr lang="es-ES" sz="1800" b="0" i="0" u="none" strike="noStrike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0.20</a:t>
                      </a:r>
                      <a:endParaRPr lang="es-ES" sz="1800" b="0" i="0" u="none" strike="noStrike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0.85</a:t>
                      </a:r>
                      <a:endParaRPr lang="es-ES" sz="1800" b="0" i="0" u="none" strike="noStrike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n.a.</a:t>
                      </a:r>
                      <a:endParaRPr lang="es-ES" sz="1800" b="0" i="0" u="none" strike="noStrike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706057946"/>
                  </a:ext>
                </a:extLst>
              </a:tr>
              <a:tr h="316316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 ∟ Profit (loss) before tax [PBT]</a:t>
                      </a:r>
                      <a:endParaRPr lang="en-US" sz="18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79.63</a:t>
                      </a:r>
                      <a:endParaRPr lang="es-ES" sz="1800" b="1" i="0" u="none" strike="noStrike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90.71</a:t>
                      </a:r>
                      <a:endParaRPr lang="es-ES" sz="1800" b="1" i="0" u="none" strike="noStrike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-112.50</a:t>
                      </a:r>
                      <a:endParaRPr lang="es-ES" sz="18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336822894"/>
                  </a:ext>
                </a:extLst>
              </a:tr>
              <a:tr h="31631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 ∟ Income tax expenses (benefit)</a:t>
                      </a:r>
                      <a:endParaRPr lang="es-ES" sz="1800" b="0" i="0" u="none" strike="noStrike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22.10</a:t>
                      </a:r>
                      <a:endParaRPr lang="es-ES" sz="1800" b="0" i="0" u="none" strike="noStrike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23.00</a:t>
                      </a:r>
                      <a:endParaRPr lang="es-ES" sz="1800" b="0" i="0" u="none" strike="noStrike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-28.13</a:t>
                      </a:r>
                      <a:endParaRPr lang="es-ES" sz="1800" b="0" i="0" u="none" strike="noStrike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837369603"/>
                  </a:ext>
                </a:extLst>
              </a:tr>
              <a:tr h="593093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 ∟ Profit (loss) for the period [Net income]</a:t>
                      </a:r>
                      <a:endParaRPr lang="en-US" sz="18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57.53</a:t>
                      </a:r>
                      <a:endParaRPr lang="es-ES" sz="1800" b="1" i="0" u="none" strike="noStrike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67.71</a:t>
                      </a:r>
                      <a:endParaRPr lang="es-ES" sz="1800" b="1" i="0" u="none" strike="noStrike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-84.38</a:t>
                      </a:r>
                      <a:endParaRPr lang="es-ES" sz="18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550454202"/>
                  </a:ext>
                </a:extLst>
              </a:tr>
            </a:tbl>
          </a:graphicData>
        </a:graphic>
      </p:graphicFrame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025F714-F437-AB06-B6D7-143C730F4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205EE-51C7-4D1A-8E6C-D977F3A45C5C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946471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TH</a:t>
            </a: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205EE-51C7-4D1A-8E6C-D977F3A45C5C}" type="slidenum">
              <a:rPr lang="es-ES" smtClean="0"/>
              <a:t>8</a:t>
            </a:fld>
            <a:endParaRPr lang="es-ES"/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8AAD1CAF-B3BE-5E6C-A8DE-E6F6C6C1860A}"/>
              </a:ext>
            </a:extLst>
          </p:cNvPr>
          <p:cNvGraphicFramePr>
            <a:graphicFrameLocks noGrp="1"/>
          </p:cNvGraphicFramePr>
          <p:nvPr/>
        </p:nvGraphicFramePr>
        <p:xfrm>
          <a:off x="628650" y="1690689"/>
          <a:ext cx="8035050" cy="408025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286796">
                  <a:extLst>
                    <a:ext uri="{9D8B030D-6E8A-4147-A177-3AD203B41FA5}">
                      <a16:colId xmlns:a16="http://schemas.microsoft.com/office/drawing/2014/main" val="4048876311"/>
                    </a:ext>
                  </a:extLst>
                </a:gridCol>
                <a:gridCol w="1249418">
                  <a:extLst>
                    <a:ext uri="{9D8B030D-6E8A-4147-A177-3AD203B41FA5}">
                      <a16:colId xmlns:a16="http://schemas.microsoft.com/office/drawing/2014/main" val="549839726"/>
                    </a:ext>
                  </a:extLst>
                </a:gridCol>
                <a:gridCol w="1249418">
                  <a:extLst>
                    <a:ext uri="{9D8B030D-6E8A-4147-A177-3AD203B41FA5}">
                      <a16:colId xmlns:a16="http://schemas.microsoft.com/office/drawing/2014/main" val="4277767394"/>
                    </a:ext>
                  </a:extLst>
                </a:gridCol>
                <a:gridCol w="1249418">
                  <a:extLst>
                    <a:ext uri="{9D8B030D-6E8A-4147-A177-3AD203B41FA5}">
                      <a16:colId xmlns:a16="http://schemas.microsoft.com/office/drawing/2014/main" val="1009356164"/>
                    </a:ext>
                  </a:extLst>
                </a:gridCol>
              </a:tblGrid>
              <a:tr h="31386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Balance </a:t>
                      </a:r>
                      <a:r>
                        <a:rPr lang="es-ES" sz="1800" u="none" strike="noStrike" dirty="0" err="1">
                          <a:solidFill>
                            <a:sysClr val="windowText" lastClr="000000"/>
                          </a:solidFill>
                          <a:effectLst/>
                        </a:rPr>
                        <a:t>Sheet</a:t>
                      </a:r>
                      <a:endParaRPr lang="es-ES" sz="1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31/12/2022</a:t>
                      </a:r>
                      <a:endParaRPr lang="es-ES" sz="18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31/12/2021</a:t>
                      </a:r>
                      <a:endParaRPr lang="es-ES" sz="1800" b="1" i="0" u="none" strike="noStrike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31/12/2020</a:t>
                      </a:r>
                      <a:endParaRPr lang="es-ES" sz="18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639674210"/>
                  </a:ext>
                </a:extLst>
              </a:tr>
              <a:tr h="31386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1" u="none" strike="noStrike" dirty="0" err="1">
                          <a:effectLst/>
                        </a:rPr>
                        <a:t>Non-current assets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>
                          <a:effectLst/>
                        </a:rPr>
                        <a:t>409.71</a:t>
                      </a:r>
                      <a:endParaRPr lang="es-ES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effectLst/>
                        </a:rPr>
                        <a:t>358.70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effectLst/>
                        </a:rPr>
                        <a:t>241.12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349070120"/>
                  </a:ext>
                </a:extLst>
              </a:tr>
              <a:tr h="31386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1" u="none" strike="noStrike" dirty="0" err="1">
                          <a:effectLst/>
                        </a:rPr>
                        <a:t>Current assets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effectLst/>
                        </a:rPr>
                        <a:t>415.74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effectLst/>
                        </a:rPr>
                        <a:t>339.05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effectLst/>
                        </a:rPr>
                        <a:t>169.70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02157624"/>
                  </a:ext>
                </a:extLst>
              </a:tr>
              <a:tr h="31386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u="none" strike="noStrike">
                          <a:effectLst/>
                        </a:rPr>
                        <a:t> ∟ Debtors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>
                          <a:effectLst/>
                        </a:rPr>
                        <a:t>331.26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>
                          <a:effectLst/>
                        </a:rPr>
                        <a:t>285.94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>
                          <a:effectLst/>
                        </a:rPr>
                        <a:t>141.06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489009862"/>
                  </a:ext>
                </a:extLst>
              </a:tr>
              <a:tr h="31386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u="none" strike="noStrike">
                          <a:effectLst/>
                        </a:rPr>
                        <a:t> ∟ Other current assets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>
                          <a:effectLst/>
                        </a:rPr>
                        <a:t>84.47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>
                          <a:effectLst/>
                        </a:rPr>
                        <a:t>53.11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>
                          <a:effectLst/>
                        </a:rPr>
                        <a:t>28.64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081212691"/>
                  </a:ext>
                </a:extLst>
              </a:tr>
              <a:tr h="31386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1" u="none" strike="noStrike" dirty="0" err="1">
                          <a:effectLst/>
                        </a:rPr>
                        <a:t>Shareholders funds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effectLst/>
                        </a:rPr>
                        <a:t>43.81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effectLst/>
                        </a:rPr>
                        <a:t>-13.72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effectLst/>
                        </a:rPr>
                        <a:t>-81.43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312764070"/>
                  </a:ext>
                </a:extLst>
              </a:tr>
              <a:tr h="31386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u="none" strike="noStrike">
                          <a:effectLst/>
                        </a:rPr>
                        <a:t> ∟ Capital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>
                          <a:effectLst/>
                        </a:rPr>
                        <a:t>3.00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>
                          <a:effectLst/>
                        </a:rPr>
                        <a:t>3.00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>
                          <a:effectLst/>
                        </a:rPr>
                        <a:t>3.00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943327476"/>
                  </a:ext>
                </a:extLst>
              </a:tr>
              <a:tr h="31386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u="none" strike="noStrike">
                          <a:effectLst/>
                        </a:rPr>
                        <a:t> ∟ Other shareholders funds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>
                          <a:effectLst/>
                        </a:rPr>
                        <a:t>40.81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>
                          <a:effectLst/>
                        </a:rPr>
                        <a:t>-16.72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>
                          <a:effectLst/>
                        </a:rPr>
                        <a:t>-84.43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161841823"/>
                  </a:ext>
                </a:extLst>
              </a:tr>
              <a:tr h="31386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1" u="none" strike="noStrike" dirty="0" err="1">
                          <a:effectLst/>
                        </a:rPr>
                        <a:t>Non-current liabilities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>
                          <a:effectLst/>
                        </a:rPr>
                        <a:t>0.00</a:t>
                      </a:r>
                      <a:endParaRPr lang="es-ES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>
                          <a:effectLst/>
                        </a:rPr>
                        <a:t>0.00</a:t>
                      </a:r>
                      <a:endParaRPr lang="es-ES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effectLst/>
                        </a:rPr>
                        <a:t>0.00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337711787"/>
                  </a:ext>
                </a:extLst>
              </a:tr>
              <a:tr h="31386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1" u="none" strike="noStrike" dirty="0" err="1">
                          <a:effectLst/>
                        </a:rPr>
                        <a:t>Current liabilities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effectLst/>
                        </a:rPr>
                        <a:t>781.64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effectLst/>
                        </a:rPr>
                        <a:t>711.47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effectLst/>
                        </a:rPr>
                        <a:t>492.24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288519420"/>
                  </a:ext>
                </a:extLst>
              </a:tr>
              <a:tr h="31386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u="none" strike="noStrike">
                          <a:effectLst/>
                        </a:rPr>
                        <a:t> ∟ Creditors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 dirty="0">
                          <a:effectLst/>
                        </a:rPr>
                        <a:t>0.00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>
                          <a:effectLst/>
                        </a:rPr>
                        <a:t>0.00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>
                          <a:effectLst/>
                        </a:rPr>
                        <a:t>316.82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819234169"/>
                  </a:ext>
                </a:extLst>
              </a:tr>
              <a:tr h="31386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u="none" strike="noStrike">
                          <a:effectLst/>
                        </a:rPr>
                        <a:t> ∟ Other current liabilities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>
                          <a:effectLst/>
                        </a:rPr>
                        <a:t>781.64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>
                          <a:effectLst/>
                        </a:rPr>
                        <a:t>711.47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>
                          <a:effectLst/>
                        </a:rPr>
                        <a:t>175.42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661046117"/>
                  </a:ext>
                </a:extLst>
              </a:tr>
              <a:tr h="31386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Total </a:t>
                      </a:r>
                      <a:r>
                        <a:rPr lang="es-ES" sz="1800" b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assets</a:t>
                      </a:r>
                      <a:endParaRPr lang="es-ES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825.445</a:t>
                      </a:r>
                      <a:endParaRPr lang="es-ES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697.75</a:t>
                      </a:r>
                      <a:endParaRPr lang="es-ES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410.813</a:t>
                      </a:r>
                      <a:endParaRPr lang="es-ES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82052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489909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205EE-51C7-4D1A-8E6C-D977F3A45C5C}" type="slidenum">
              <a:rPr lang="es-ES" smtClean="0"/>
              <a:t>9</a:t>
            </a:fld>
            <a:endParaRPr lang="es-ES"/>
          </a:p>
        </p:txBody>
      </p:sp>
      <p:pic>
        <p:nvPicPr>
          <p:cNvPr id="2051" name="Picture 3" descr="Publica una oferta | Talent Hackers, la plataforma del talento">
            <a:hlinkClick r:id="rId3"/>
            <a:extLst>
              <a:ext uri="{FF2B5EF4-FFF2-40B4-BE49-F238E27FC236}">
                <a16:creationId xmlns:a16="http://schemas.microsoft.com/office/drawing/2014/main" id="{B8DAF9F9-69A9-306C-8D82-01150D772A4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6937" y="738189"/>
            <a:ext cx="4810125" cy="95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3" name="Picture 5" descr="Catenon | Talento AHK">
            <a:extLst>
              <a:ext uri="{FF2B5EF4-FFF2-40B4-BE49-F238E27FC236}">
                <a16:creationId xmlns:a16="http://schemas.microsoft.com/office/drawing/2014/main" id="{7EF959A8-EA2C-2CCD-1A4B-678E679CB3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0187" y="1762125"/>
            <a:ext cx="3333750" cy="333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91AF63C3-3837-6E51-7C8C-816436C42BDB}"/>
              </a:ext>
            </a:extLst>
          </p:cNvPr>
          <p:cNvSpPr txBox="1"/>
          <p:nvPr/>
        </p:nvSpPr>
        <p:spPr>
          <a:xfrm>
            <a:off x="1673852" y="4449544"/>
            <a:ext cx="363633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BvD</a:t>
            </a:r>
            <a:r>
              <a:rPr lang="en-US" dirty="0"/>
              <a:t> ID: ESB88448998</a:t>
            </a:r>
          </a:p>
          <a:p>
            <a:r>
              <a:rPr lang="en-US" dirty="0"/>
              <a:t>Orbis ID: 460865380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A50AEAE8-C5DE-E6EA-64A1-41E68686F96A}"/>
              </a:ext>
            </a:extLst>
          </p:cNvPr>
          <p:cNvSpPr txBox="1"/>
          <p:nvPr/>
        </p:nvSpPr>
        <p:spPr>
          <a:xfrm>
            <a:off x="1673852" y="2746951"/>
            <a:ext cx="363633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Ultimate Owner of this controlled subsidiary is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677922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Profitability analysis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kumimoji="0" lang="es-ES" b="0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Economic analysis: </a:t>
            </a:r>
            <a:r>
              <a:rPr kumimoji="0" lang="es-ES" b="0" i="0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results</a:t>
            </a:r>
            <a:r>
              <a:rPr kumimoji="0" lang="es-ES" b="0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 (PL) vs. </a:t>
            </a:r>
            <a:r>
              <a:rPr kumimoji="0" lang="es-ES" b="0" i="0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investment</a:t>
            </a:r>
            <a:r>
              <a:rPr kumimoji="0" lang="es-ES" b="0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 (BS)</a:t>
            </a:r>
          </a:p>
          <a:p>
            <a:pPr>
              <a:lnSpc>
                <a:spcPct val="150000"/>
              </a:lnSpc>
            </a:pPr>
            <a:r>
              <a:rPr lang="es-ES" dirty="0">
                <a:solidFill>
                  <a:prstClr val="black"/>
                </a:solidFill>
                <a:latin typeface="Montserrat"/>
              </a:rPr>
              <a:t>ROA = </a:t>
            </a:r>
            <a:r>
              <a:rPr kumimoji="0" lang="es-ES" b="0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EBIT / A</a:t>
            </a:r>
          </a:p>
          <a:p>
            <a:pPr lvl="1">
              <a:lnSpc>
                <a:spcPct val="150000"/>
              </a:lnSpc>
            </a:pPr>
            <a:r>
              <a:rPr lang="es-ES" dirty="0">
                <a:solidFill>
                  <a:prstClr val="black"/>
                </a:solidFill>
                <a:latin typeface="Montserrat"/>
              </a:rPr>
              <a:t>Margin</a:t>
            </a:r>
          </a:p>
          <a:p>
            <a:pPr lvl="1">
              <a:lnSpc>
                <a:spcPct val="150000"/>
              </a:lnSpc>
            </a:pPr>
            <a:r>
              <a:rPr lang="es-ES" dirty="0" err="1">
                <a:solidFill>
                  <a:prstClr val="black"/>
                </a:solidFill>
                <a:latin typeface="Montserrat"/>
              </a:rPr>
              <a:t>Turnover</a:t>
            </a:r>
            <a:endParaRPr lang="es-ES" dirty="0">
              <a:solidFill>
                <a:prstClr val="black"/>
              </a:solidFill>
              <a:latin typeface="Montserrat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kumimoji="0" lang="es-ES" b="0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ROE = </a:t>
            </a:r>
            <a:r>
              <a:rPr lang="es-ES" dirty="0">
                <a:solidFill>
                  <a:prstClr val="black"/>
                </a:solidFill>
                <a:latin typeface="Montserrat"/>
              </a:rPr>
              <a:t>EBT </a:t>
            </a:r>
            <a:r>
              <a:rPr kumimoji="0" lang="es-ES" b="0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/ E</a:t>
            </a:r>
          </a:p>
          <a:p>
            <a:pPr lvl="1">
              <a:lnSpc>
                <a:spcPct val="150000"/>
              </a:lnSpc>
            </a:pPr>
            <a:r>
              <a:rPr lang="es-ES" dirty="0">
                <a:solidFill>
                  <a:prstClr val="black"/>
                </a:solidFill>
                <a:latin typeface="Montserrat"/>
              </a:rPr>
              <a:t>Economic effect</a:t>
            </a:r>
          </a:p>
          <a:p>
            <a:pPr lvl="1">
              <a:lnSpc>
                <a:spcPct val="150000"/>
              </a:lnSpc>
            </a:pPr>
            <a:r>
              <a:rPr kumimoji="0" lang="es-ES" b="0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Financial effect: cost of debt </a:t>
            </a:r>
            <a:r>
              <a:rPr lang="es-ES" dirty="0">
                <a:solidFill>
                  <a:prstClr val="black"/>
                </a:solidFill>
                <a:latin typeface="Montserrat"/>
              </a:rPr>
              <a:t>* </a:t>
            </a:r>
            <a:r>
              <a:rPr kumimoji="0" lang="es-ES" b="0" i="0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leverage</a:t>
            </a:r>
            <a:endParaRPr kumimoji="0" lang="es-ES" b="0" i="0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205EE-51C7-4D1A-8E6C-D977F3A45C5C}" type="slidenum">
              <a:rPr lang="es-ES" smtClean="0"/>
              <a:t>10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551929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C548A-DCF2-8CF2-B75B-B6DCC00376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6B60E7-869D-ED38-47FB-7AC984FDA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Example</a:t>
            </a:r>
            <a:r>
              <a:rPr lang="es-ES" dirty="0"/>
              <a:t> 3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99C49A8-D91D-CDD4-E57F-BA458F7B6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205EE-51C7-4D1A-8E6C-D977F3A45C5C}" type="slidenum">
              <a:rPr lang="es-ES" smtClean="0"/>
              <a:t>11</a:t>
            </a:fld>
            <a:endParaRPr lang="es-ES"/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E28E1BA4-AFAB-F5ED-7946-C36A65407C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5368938"/>
              </p:ext>
            </p:extLst>
          </p:nvPr>
        </p:nvGraphicFramePr>
        <p:xfrm>
          <a:off x="628650" y="1690689"/>
          <a:ext cx="7200000" cy="470799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040000">
                  <a:extLst>
                    <a:ext uri="{9D8B030D-6E8A-4147-A177-3AD203B41FA5}">
                      <a16:colId xmlns:a16="http://schemas.microsoft.com/office/drawing/2014/main" val="404887631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549839726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4277767394"/>
                    </a:ext>
                  </a:extLst>
                </a:gridCol>
              </a:tblGrid>
              <a:tr h="31386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Balance SHEET</a:t>
                      </a:r>
                      <a:endParaRPr lang="es-ES" sz="1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T</a:t>
                      </a:r>
                      <a:endParaRPr lang="es-ES" sz="18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T-1</a:t>
                      </a:r>
                      <a:endParaRPr lang="es-ES" sz="18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639674210"/>
                  </a:ext>
                </a:extLst>
              </a:tr>
              <a:tr h="31386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1" u="none" strike="noStrike" dirty="0">
                          <a:effectLst/>
                        </a:rPr>
                        <a:t>Non-current assets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effectLst/>
                        </a:rPr>
                        <a:t>124.000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effectLst/>
                        </a:rPr>
                        <a:t>130.000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349070120"/>
                  </a:ext>
                </a:extLst>
              </a:tr>
              <a:tr h="31386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u="none" strike="noStrike" dirty="0">
                          <a:effectLst/>
                        </a:rPr>
                        <a:t> ∟ Intangible </a:t>
                      </a:r>
                      <a:r>
                        <a:rPr lang="es-ES" sz="1800" u="none" strike="noStrike" dirty="0" err="1">
                          <a:effectLst/>
                        </a:rPr>
                        <a:t>fixed</a:t>
                      </a:r>
                      <a:r>
                        <a:rPr lang="es-ES" sz="1800" u="none" strike="noStrike" dirty="0">
                          <a:effectLst/>
                        </a:rPr>
                        <a:t> </a:t>
                      </a:r>
                      <a:r>
                        <a:rPr lang="es-ES" sz="1800" u="none" strike="noStrike" dirty="0" err="1">
                          <a:effectLst/>
                        </a:rPr>
                        <a:t>assets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 dirty="0">
                          <a:effectLst/>
                        </a:rPr>
                        <a:t>25.000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 dirty="0">
                          <a:effectLst/>
                        </a:rPr>
                        <a:t>41.000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208410855"/>
                  </a:ext>
                </a:extLst>
              </a:tr>
              <a:tr h="31386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u="none" strike="noStrike" dirty="0">
                          <a:effectLst/>
                        </a:rPr>
                        <a:t> ∟ </a:t>
                      </a:r>
                      <a:r>
                        <a:rPr lang="es-ES" sz="1800" u="none" strike="noStrike" dirty="0" err="1">
                          <a:effectLst/>
                        </a:rPr>
                        <a:t>Property</a:t>
                      </a:r>
                      <a:r>
                        <a:rPr lang="es-ES" sz="1800" u="none" strike="noStrike" dirty="0">
                          <a:effectLst/>
                        </a:rPr>
                        <a:t>, </a:t>
                      </a:r>
                      <a:r>
                        <a:rPr lang="es-ES" sz="1800" u="none" strike="noStrike" dirty="0" err="1">
                          <a:effectLst/>
                        </a:rPr>
                        <a:t>Plant</a:t>
                      </a:r>
                      <a:r>
                        <a:rPr lang="es-ES" sz="1800" u="none" strike="noStrike" dirty="0">
                          <a:effectLst/>
                        </a:rPr>
                        <a:t> and </a:t>
                      </a:r>
                      <a:r>
                        <a:rPr lang="es-ES" sz="1800" u="none" strike="noStrike" dirty="0" err="1">
                          <a:effectLst/>
                        </a:rPr>
                        <a:t>Equipment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 dirty="0">
                          <a:effectLst/>
                        </a:rPr>
                        <a:t>99.000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 dirty="0">
                          <a:effectLst/>
                        </a:rPr>
                        <a:t>90.000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675448451"/>
                  </a:ext>
                </a:extLst>
              </a:tr>
              <a:tr h="31386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1" u="none" strike="noStrike" dirty="0" err="1">
                          <a:effectLst/>
                        </a:rPr>
                        <a:t>Current</a:t>
                      </a:r>
                      <a:r>
                        <a:rPr lang="es-ES" sz="1800" b="1" u="none" strike="noStrike" dirty="0">
                          <a:effectLst/>
                        </a:rPr>
                        <a:t> assets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effectLst/>
                        </a:rPr>
                        <a:t>76.000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effectLst/>
                        </a:rPr>
                        <a:t>80.000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02157624"/>
                  </a:ext>
                </a:extLst>
              </a:tr>
              <a:tr h="31386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u="none" strike="noStrike" dirty="0">
                          <a:effectLst/>
                        </a:rPr>
                        <a:t> ∟ </a:t>
                      </a:r>
                      <a:r>
                        <a:rPr lang="es-ES" sz="1800" u="none" strike="noStrike" dirty="0" err="1">
                          <a:effectLst/>
                        </a:rPr>
                        <a:t>Inventories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 dirty="0">
                          <a:effectLst/>
                        </a:rPr>
                        <a:t>20.000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 dirty="0">
                          <a:effectLst/>
                        </a:rPr>
                        <a:t>40.000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489009862"/>
                  </a:ext>
                </a:extLst>
              </a:tr>
              <a:tr h="31386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u="none" strike="noStrike" dirty="0">
                          <a:effectLst/>
                        </a:rPr>
                        <a:t> ∟ </a:t>
                      </a:r>
                      <a:r>
                        <a:rPr lang="es-ES" sz="1800" u="none" strike="noStrike" dirty="0" err="1">
                          <a:effectLst/>
                        </a:rPr>
                        <a:t>Trade</a:t>
                      </a:r>
                      <a:r>
                        <a:rPr lang="es-ES" sz="1800" u="none" strike="noStrike" dirty="0">
                          <a:effectLst/>
                        </a:rPr>
                        <a:t> </a:t>
                      </a:r>
                      <a:r>
                        <a:rPr lang="es-ES" sz="1800" u="none" strike="noStrike" dirty="0" err="1">
                          <a:effectLst/>
                        </a:rPr>
                        <a:t>Receivables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 dirty="0">
                          <a:effectLst/>
                        </a:rPr>
                        <a:t>15.000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 dirty="0">
                          <a:effectLst/>
                        </a:rPr>
                        <a:t>17.000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081212691"/>
                  </a:ext>
                </a:extLst>
              </a:tr>
              <a:tr h="313866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800" u="none" strike="noStrike" dirty="0">
                          <a:effectLst/>
                        </a:rPr>
                        <a:t> ∟ Cash and cash equivalents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 dirty="0">
                          <a:effectLst/>
                        </a:rPr>
                        <a:t>41.000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 dirty="0">
                          <a:effectLst/>
                        </a:rPr>
                        <a:t>23.000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099743926"/>
                  </a:ext>
                </a:extLst>
              </a:tr>
              <a:tr h="31386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1" u="none" strike="noStrike" dirty="0">
                          <a:effectLst/>
                        </a:rPr>
                        <a:t>Equity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effectLst/>
                        </a:rPr>
                        <a:t>16.200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effectLst/>
                        </a:rPr>
                        <a:t>12.000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312764070"/>
                  </a:ext>
                </a:extLst>
              </a:tr>
              <a:tr h="31386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u="none" strike="noStrike" dirty="0">
                          <a:effectLst/>
                        </a:rPr>
                        <a:t> ∟ Reserves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 dirty="0">
                          <a:effectLst/>
                        </a:rPr>
                        <a:t>5.000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 dirty="0">
                          <a:effectLst/>
                        </a:rPr>
                        <a:t>5.000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943327476"/>
                  </a:ext>
                </a:extLst>
              </a:tr>
              <a:tr h="31386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1" u="none" strike="noStrike" dirty="0">
                          <a:effectLst/>
                        </a:rPr>
                        <a:t>Non-current liabilities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effectLst/>
                        </a:rPr>
                        <a:t>143.000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effectLst/>
                        </a:rPr>
                        <a:t>150.000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337711787"/>
                  </a:ext>
                </a:extLst>
              </a:tr>
              <a:tr h="31386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1" u="none" strike="noStrike" dirty="0">
                          <a:effectLst/>
                        </a:rPr>
                        <a:t>Current liabilities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effectLst/>
                        </a:rPr>
                        <a:t>40.800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effectLst/>
                        </a:rPr>
                        <a:t>48.000</a:t>
                      </a:r>
                      <a:endParaRPr lang="es-E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288519420"/>
                  </a:ext>
                </a:extLst>
              </a:tr>
              <a:tr h="31386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u="none" strike="noStrike" dirty="0">
                          <a:effectLst/>
                        </a:rPr>
                        <a:t> ∟ Suppliers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 dirty="0">
                          <a:effectLst/>
                        </a:rPr>
                        <a:t>30.000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 dirty="0">
                          <a:effectLst/>
                        </a:rPr>
                        <a:t>28.000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819234169"/>
                  </a:ext>
                </a:extLst>
              </a:tr>
              <a:tr h="31386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u="none" strike="noStrike" dirty="0">
                          <a:effectLst/>
                        </a:rPr>
                        <a:t> ∟ Other current liabilities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 dirty="0">
                          <a:effectLst/>
                        </a:rPr>
                        <a:t>10.800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 dirty="0">
                          <a:effectLst/>
                        </a:rPr>
                        <a:t>20.000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661046117"/>
                  </a:ext>
                </a:extLst>
              </a:tr>
              <a:tr h="31386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Total A = E+L</a:t>
                      </a:r>
                      <a:endParaRPr lang="es-ES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200.000</a:t>
                      </a:r>
                      <a:endParaRPr lang="es-ES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210.000</a:t>
                      </a:r>
                      <a:endParaRPr lang="es-ES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82052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0438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1C2B3B-4CE4-0683-692E-9CA4E8AF1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F77789-5FFE-318E-89FB-F2BE47ACF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Example</a:t>
            </a:r>
            <a:r>
              <a:rPr lang="es-ES"/>
              <a:t> 3</a:t>
            </a:r>
            <a:endParaRPr lang="es-ES" dirty="0"/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DF9733B3-3BDF-EEBB-67C7-711A33ED617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64623893"/>
              </p:ext>
            </p:extLst>
          </p:nvPr>
        </p:nvGraphicFramePr>
        <p:xfrm>
          <a:off x="628649" y="1690689"/>
          <a:ext cx="7200000" cy="47543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040000">
                  <a:extLst>
                    <a:ext uri="{9D8B030D-6E8A-4147-A177-3AD203B41FA5}">
                      <a16:colId xmlns:a16="http://schemas.microsoft.com/office/drawing/2014/main" val="3877755856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789156037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1990428561"/>
                    </a:ext>
                  </a:extLst>
                </a:gridCol>
              </a:tblGrid>
              <a:tr h="31631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u="none" strike="noStrike" dirty="0" err="1">
                          <a:solidFill>
                            <a:sysClr val="windowText" lastClr="000000"/>
                          </a:solidFill>
                          <a:effectLst/>
                        </a:rPr>
                        <a:t>Profit </a:t>
                      </a:r>
                      <a:r>
                        <a:rPr lang="es-ES" sz="1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and loss account</a:t>
                      </a:r>
                      <a:endParaRPr lang="es-ES" sz="18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T</a:t>
                      </a:r>
                      <a:endParaRPr lang="es-ES" sz="18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T-1</a:t>
                      </a:r>
                      <a:endParaRPr lang="es-ES" sz="18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639042211"/>
                  </a:ext>
                </a:extLst>
              </a:tr>
              <a:tr h="31631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 ∟ </a:t>
                      </a:r>
                      <a:r>
                        <a:rPr lang="es-ES" sz="1800" b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Revenue</a:t>
                      </a:r>
                      <a:endParaRPr lang="es-ES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120.000</a:t>
                      </a:r>
                      <a:endParaRPr lang="es-ES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70.000</a:t>
                      </a:r>
                      <a:endParaRPr lang="es-ES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6859932"/>
                  </a:ext>
                </a:extLst>
              </a:tr>
              <a:tr h="31631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 ∟ </a:t>
                      </a:r>
                      <a:r>
                        <a:rPr lang="es-ES" sz="1800" u="none" strike="noStrike" dirty="0" err="1">
                          <a:solidFill>
                            <a:sysClr val="windowText" lastClr="000000"/>
                          </a:solidFill>
                          <a:effectLst/>
                        </a:rPr>
                        <a:t>Operating</a:t>
                      </a:r>
                      <a:r>
                        <a:rPr lang="es-ES" sz="1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 expenses</a:t>
                      </a:r>
                      <a:endParaRPr lang="es-ES" sz="1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40.000</a:t>
                      </a:r>
                      <a:endParaRPr lang="es-ES" sz="1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35.000</a:t>
                      </a:r>
                      <a:endParaRPr lang="es-ES" sz="1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450957525"/>
                  </a:ext>
                </a:extLst>
              </a:tr>
              <a:tr h="31631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1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 ∟ Gross profit</a:t>
                      </a:r>
                      <a:endParaRPr lang="es-ES" sz="18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80.000</a:t>
                      </a:r>
                      <a:endParaRPr lang="es-ES" sz="18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35.000</a:t>
                      </a:r>
                      <a:endParaRPr lang="es-ES" sz="18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838441406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 ∟ Other operating expenses (income)</a:t>
                      </a:r>
                      <a:endParaRPr lang="es-ES" sz="1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40.000</a:t>
                      </a:r>
                      <a:endParaRPr lang="es-ES" sz="1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5.000</a:t>
                      </a:r>
                      <a:endParaRPr lang="es-ES" sz="1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695187633"/>
                  </a:ext>
                </a:extLst>
              </a:tr>
              <a:tr h="31631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1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Operating result (EBIT)</a:t>
                      </a:r>
                      <a:endParaRPr lang="es-ES" sz="18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40.000</a:t>
                      </a:r>
                      <a:endParaRPr lang="es-ES" sz="18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30.000</a:t>
                      </a:r>
                      <a:endParaRPr lang="es-ES" sz="18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393883505"/>
                  </a:ext>
                </a:extLst>
              </a:tr>
              <a:tr h="31631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Financial result</a:t>
                      </a:r>
                      <a:endParaRPr lang="es-ES" sz="1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(6.000)</a:t>
                      </a:r>
                      <a:endParaRPr lang="es-ES" sz="1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(20.000)</a:t>
                      </a:r>
                      <a:endParaRPr lang="es-ES" sz="1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950648296"/>
                  </a:ext>
                </a:extLst>
              </a:tr>
              <a:tr h="31631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    ∟ Financial income</a:t>
                      </a:r>
                      <a:endParaRPr lang="es-ES" sz="1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0</a:t>
                      </a:r>
                      <a:endParaRPr lang="es-ES" sz="1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kumimoji="0" lang="es-E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es-ES" sz="1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760379808"/>
                  </a:ext>
                </a:extLst>
              </a:tr>
              <a:tr h="31631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    ∟ Financial expenses</a:t>
                      </a:r>
                      <a:endParaRPr lang="es-ES" sz="1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6.000</a:t>
                      </a:r>
                      <a:endParaRPr lang="es-ES" sz="1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20.000</a:t>
                      </a:r>
                      <a:endParaRPr lang="es-ES" sz="1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706057946"/>
                  </a:ext>
                </a:extLst>
              </a:tr>
              <a:tr h="316316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Profit before tax (EBT)</a:t>
                      </a:r>
                      <a:endParaRPr lang="en-US" sz="18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34.000</a:t>
                      </a:r>
                      <a:endParaRPr lang="es-ES" sz="18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10.000</a:t>
                      </a:r>
                      <a:endParaRPr lang="es-ES" sz="18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336822894"/>
                  </a:ext>
                </a:extLst>
              </a:tr>
              <a:tr h="316316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 ∟ Profit tax</a:t>
                      </a:r>
                      <a:endParaRPr lang="es-ES" sz="1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6.000</a:t>
                      </a:r>
                      <a:endParaRPr lang="es-ES" sz="1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2.000</a:t>
                      </a:r>
                      <a:endParaRPr lang="es-ES" sz="1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837369603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Profit for </a:t>
                      </a:r>
                      <a:r>
                        <a:rPr lang="en-US" sz="1800" b="1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the year</a:t>
                      </a:r>
                      <a:endParaRPr lang="en-US" sz="18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28.000</a:t>
                      </a:r>
                      <a:endParaRPr lang="es-ES" sz="18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1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8.000</a:t>
                      </a:r>
                      <a:endParaRPr lang="es-ES" sz="18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/>
                </a:tc>
                <a:extLst>
                  <a:ext uri="{0D108BD9-81ED-4DB2-BD59-A6C34878D82A}">
                    <a16:rowId xmlns:a16="http://schemas.microsoft.com/office/drawing/2014/main" val="3550454202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Market capitalisation</a:t>
                      </a:r>
                      <a:endParaRPr lang="es-ES" sz="1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280.000</a:t>
                      </a:r>
                      <a:endParaRPr lang="es-ES" sz="1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240.000</a:t>
                      </a:r>
                      <a:endParaRPr lang="es-ES" sz="1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6242162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0" i="0" u="none" strike="noStrike" dirty="0" err="1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No. of </a:t>
                      </a:r>
                      <a:r>
                        <a:rPr lang="es-ES" sz="18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shares</a:t>
                      </a:r>
                    </a:p>
                  </a:txBody>
                  <a:tcPr marL="7620" marR="7620" marT="7620" marB="0" anchor="b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112.000</a:t>
                      </a:r>
                    </a:p>
                  </a:txBody>
                  <a:tcPr marL="7620" marR="7620" marT="7620" marB="0" anchor="b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112.000</a:t>
                      </a:r>
                    </a:p>
                  </a:txBody>
                  <a:tcPr marL="7620" marR="7620" marT="7620" marB="0" anchor="b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9491269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Closing price</a:t>
                      </a:r>
                    </a:p>
                  </a:txBody>
                  <a:tcPr marL="7620" marR="7620" marT="7620" marB="0" anchor="b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2,50</a:t>
                      </a:r>
                    </a:p>
                  </a:txBody>
                  <a:tcPr marL="7620" marR="7620" marT="7620" marB="0" anchor="b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8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2,14</a:t>
                      </a:r>
                    </a:p>
                  </a:txBody>
                  <a:tcPr marL="7620" marR="7620" marT="7620" marB="0" anchor="b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6321594"/>
                  </a:ext>
                </a:extLst>
              </a:tr>
            </a:tbl>
          </a:graphicData>
        </a:graphic>
      </p:graphicFrame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0DD54EB-DCB2-B8CC-0E3A-F52CF7B79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205EE-51C7-4D1A-8E6C-D977F3A45C5C}" type="slidenum">
              <a:rPr lang="es-ES" smtClean="0"/>
              <a:t>12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343048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3C47DF-8932-0447-009D-7B2CC65EB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F4A601-F5FD-9557-F334-48E76486A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Growth analysis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691E7FC-258C-0945-900A-0D9010FF35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s-ES" dirty="0">
                <a:solidFill>
                  <a:prstClr val="black"/>
                </a:solidFill>
                <a:latin typeface="Montserrat"/>
              </a:rPr>
              <a:t>Horizontal percentages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kumimoji="0" lang="es-ES" b="0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How does the company grow?</a:t>
            </a:r>
          </a:p>
          <a:p>
            <a:pPr lvl="1">
              <a:lnSpc>
                <a:spcPct val="150000"/>
              </a:lnSpc>
            </a:pPr>
            <a:r>
              <a:rPr lang="es-ES" dirty="0">
                <a:solidFill>
                  <a:prstClr val="black"/>
                </a:solidFill>
                <a:latin typeface="Montserrat"/>
              </a:rPr>
              <a:t>Internally, for retained earnings.</a:t>
            </a:r>
          </a:p>
          <a:p>
            <a:pPr lvl="1">
              <a:lnSpc>
                <a:spcPct val="150000"/>
              </a:lnSpc>
            </a:pPr>
            <a:r>
              <a:rPr kumimoji="0" lang="es-ES" b="0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Externally, through debt.</a:t>
            </a:r>
          </a:p>
          <a:p>
            <a:pPr>
              <a:lnSpc>
                <a:spcPct val="150000"/>
              </a:lnSpc>
              <a:tabLst>
                <a:tab pos="5111750" algn="l"/>
              </a:tabLst>
            </a:pPr>
            <a:r>
              <a:rPr lang="es-ES" dirty="0">
                <a:solidFill>
                  <a:prstClr val="black"/>
                </a:solidFill>
                <a:latin typeface="Montserrat"/>
              </a:rPr>
              <a:t>Does the company create value?</a:t>
            </a:r>
            <a:endParaRPr kumimoji="0" lang="es-ES" b="0" i="0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  <a:p>
            <a:pPr lvl="1">
              <a:lnSpc>
                <a:spcPct val="150000"/>
              </a:lnSpc>
              <a:tabLst>
                <a:tab pos="5111750" algn="l"/>
              </a:tabLst>
            </a:pPr>
            <a:r>
              <a:rPr kumimoji="0" lang="es-ES" b="0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Market value vs. book value (MB).</a:t>
            </a:r>
          </a:p>
          <a:p>
            <a:pPr lvl="1">
              <a:lnSpc>
                <a:spcPct val="150000"/>
              </a:lnSpc>
              <a:tabLst>
                <a:tab pos="5111750" algn="l"/>
              </a:tabLst>
            </a:pPr>
            <a:r>
              <a:rPr lang="es-ES">
                <a:solidFill>
                  <a:prstClr val="black"/>
                </a:solidFill>
                <a:latin typeface="Montserrat"/>
              </a:rPr>
              <a:t>Price vs. </a:t>
            </a:r>
            <a:r>
              <a:rPr lang="es-ES" dirty="0">
                <a:solidFill>
                  <a:prstClr val="black"/>
                </a:solidFill>
                <a:latin typeface="Montserrat"/>
              </a:rPr>
              <a:t>earnings (PER).</a:t>
            </a:r>
            <a:endParaRPr kumimoji="0" lang="es-ES" b="0" i="0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C558377-8535-2562-4915-A78B14693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205EE-51C7-4D1A-8E6C-D977F3A45C5C}" type="slidenum">
              <a:rPr lang="es-ES" smtClean="0"/>
              <a:t>13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9983453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Escala de grises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jgk">
      <a:majorFont>
        <a:latin typeface="Montserrat SemiBold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98</TotalTime>
  <Words>940</Words>
  <Application>Microsoft Office PowerPoint</Application>
  <PresentationFormat>Presentación en pantalla (4:3)</PresentationFormat>
  <Paragraphs>428</Paragraphs>
  <Slides>13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9" baseType="lpstr">
      <vt:lpstr>Arial</vt:lpstr>
      <vt:lpstr>Calibri</vt:lpstr>
      <vt:lpstr>Montserrat</vt:lpstr>
      <vt:lpstr>Montserrat SemiBold</vt:lpstr>
      <vt:lpstr>Wingdings</vt:lpstr>
      <vt:lpstr>Tema de Office</vt:lpstr>
      <vt:lpstr>Unit 4 Profitability Analysis</vt:lpstr>
      <vt:lpstr>Example 1</vt:lpstr>
      <vt:lpstr>Example 1</vt:lpstr>
      <vt:lpstr>Introduction</vt:lpstr>
      <vt:lpstr>Example 2</vt:lpstr>
      <vt:lpstr>Example 2</vt:lpstr>
      <vt:lpstr>TH</vt:lpstr>
      <vt:lpstr>TH</vt:lpstr>
      <vt:lpstr>Presentación de PowerPoint</vt:lpstr>
      <vt:lpstr>Profitability analysis</vt:lpstr>
      <vt:lpstr>Example 3</vt:lpstr>
      <vt:lpstr>Example 3</vt:lpstr>
      <vt:lpstr>Growth analysis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>, docId:E9EC07B154617142189B27290182C271</cp:keywords>
  <cp:lastModifiedBy>JORGE GALLUD CANO</cp:lastModifiedBy>
  <cp:revision>1</cp:revision>
  <dcterms:created xsi:type="dcterms:W3CDTF">2021-03-24T11:03:23Z</dcterms:created>
  <dcterms:modified xsi:type="dcterms:W3CDTF">2026-09-09T08:51:23Z</dcterms:modified>
</cp:coreProperties>
</file>