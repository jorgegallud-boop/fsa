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9" r:id="rId2"/>
    <p:sldId id="514" r:id="rId3"/>
    <p:sldId id="526" r:id="rId4"/>
    <p:sldId id="531" r:id="rId5"/>
    <p:sldId id="263" r:id="rId6"/>
    <p:sldId id="532" r:id="rId7"/>
    <p:sldId id="287" r:id="rId8"/>
    <p:sldId id="536" r:id="rId9"/>
    <p:sldId id="538" r:id="rId10"/>
    <p:sldId id="540" r:id="rId11"/>
    <p:sldId id="539" r:id="rId12"/>
    <p:sldId id="533" r:id="rId13"/>
    <p:sldId id="537" r:id="rId14"/>
    <p:sldId id="541" r:id="rId15"/>
    <p:sldId id="534" r:id="rId16"/>
    <p:sldId id="542" r:id="rId17"/>
    <p:sldId id="543" r:id="rId18"/>
    <p:sldId id="544" r:id="rId19"/>
    <p:sldId id="535" r:id="rId20"/>
    <p:sldId id="546" r:id="rId21"/>
    <p:sldId id="545" r:id="rId22"/>
    <p:sldId id="549" r:id="rId23"/>
    <p:sldId id="547" r:id="rId24"/>
    <p:sldId id="548" r:id="rId25"/>
    <p:sldId id="550" r:id="rId26"/>
    <p:sldId id="551" r:id="rId27"/>
    <p:sldId id="552" r:id="rId28"/>
  </p:sldIdLst>
  <p:sldSz cx="9144000" cy="6858000" type="screen4x3"/>
  <p:notesSz cx="6799263" cy="9929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0601C7-325F-4628-9089-8AB94C564515}" v="2" dt="2026-09-11T08:30:38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GALLUD CANO" userId="aa07a950-3061-465d-9845-1f16ea714d1e" providerId="ADAL" clId="{652E886E-EB52-40C6-999B-D6033CDA24D2}"/>
    <pc:docChg chg="undo custSel addSld modSld sldOrd">
      <pc:chgData name="JORGE GALLUD CANO" userId="aa07a950-3061-465d-9845-1f16ea714d1e" providerId="ADAL" clId="{652E886E-EB52-40C6-999B-D6033CDA24D2}" dt="2026-09-11T08:30:56.715" v="1156" actId="404"/>
      <pc:docMkLst>
        <pc:docMk/>
      </pc:docMkLst>
      <pc:sldChg chg="addSp modSp mod">
        <pc:chgData name="JORGE GALLUD CANO" userId="aa07a950-3061-465d-9845-1f16ea714d1e" providerId="ADAL" clId="{652E886E-EB52-40C6-999B-D6033CDA24D2}" dt="2026-09-11T08:30:56.715" v="1156" actId="404"/>
        <pc:sldMkLst>
          <pc:docMk/>
          <pc:sldMk cId="3622248180" sldId="531"/>
        </pc:sldMkLst>
        <pc:spChg chg="add mod">
          <ac:chgData name="JORGE GALLUD CANO" userId="aa07a950-3061-465d-9845-1f16ea714d1e" providerId="ADAL" clId="{652E886E-EB52-40C6-999B-D6033CDA24D2}" dt="2026-09-11T08:30:56.715" v="1156" actId="404"/>
          <ac:spMkLst>
            <pc:docMk/>
            <pc:sldMk cId="3622248180" sldId="531"/>
            <ac:spMk id="4" creationId="{05D68C07-B7C5-F0F9-76DB-F255B5CBE83F}"/>
          </ac:spMkLst>
        </pc:spChg>
        <pc:graphicFrameChg chg="modGraphic">
          <ac:chgData name="JORGE GALLUD CANO" userId="aa07a950-3061-465d-9845-1f16ea714d1e" providerId="ADAL" clId="{652E886E-EB52-40C6-999B-D6033CDA24D2}" dt="2026-09-11T08:29:04.645" v="1135" actId="20577"/>
          <ac:graphicFrameMkLst>
            <pc:docMk/>
            <pc:sldMk cId="3622248180" sldId="531"/>
            <ac:graphicFrameMk id="6" creationId="{003FE4E7-2DE0-8CD0-AD00-A2DFF3A6C228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6347" cy="498215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1346" y="3"/>
            <a:ext cx="2946347" cy="498215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9356850D-52B1-405F-8CD7-E0365C566C9E}" type="datetimeFigureOut">
              <a:rPr lang="es-ES" smtClean="0"/>
              <a:t>11/09/2026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3" y="9431604"/>
            <a:ext cx="2946347" cy="498214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1346" y="9431604"/>
            <a:ext cx="2946347" cy="498214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AA1D005A-BFD1-4A33-B93F-A326C62FF44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59982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6347" cy="498215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1346" y="3"/>
            <a:ext cx="2946347" cy="498215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EA1C35A5-6E39-4CDE-A04F-1B1EEA008340}" type="datetimeFigureOut">
              <a:rPr lang="es-ES" smtClean="0"/>
              <a:t>11/09/2026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39838"/>
            <a:ext cx="4468813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6" rIns="91430" bIns="45716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928" y="4778724"/>
            <a:ext cx="5439410" cy="3909864"/>
          </a:xfrm>
          <a:prstGeom prst="rect">
            <a:avLst/>
          </a:prstGeom>
        </p:spPr>
        <p:txBody>
          <a:bodyPr vert="horz" lIns="91430" tIns="45716" rIns="91430" bIns="45716" rtlCol="0"/>
          <a:lstStyle/>
          <a:p>
            <a:pPr lvl="0"/>
            <a:r>
              <a:rPr lang="es-ES"/>
              <a:t>Edit the text style of the pattern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3" y="9431604"/>
            <a:ext cx="2946347" cy="498214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1346" y="9431604"/>
            <a:ext cx="2946347" cy="498214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1AC4CD01-607E-441F-90BB-5949BD8D46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8173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1548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674">
              <a:defRPr/>
            </a:pPr>
            <a:endParaRPr lang="es-E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93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674">
              <a:defRPr/>
            </a:pPr>
            <a:endParaRPr lang="es-E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88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674">
              <a:defRPr/>
            </a:pPr>
            <a:endParaRPr lang="es-E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348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84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674">
              <a:defRPr/>
            </a:pPr>
            <a:r>
              <a:rPr lang="en-GB" baseline="0"/>
              <a:t>Does it matter? Yes! Ferrari (mine or bank) </a:t>
            </a:r>
            <a:r>
              <a:rPr lang="es-ES"/>
              <a:t>Which is better, E </a:t>
            </a:r>
            <a:r>
              <a:rPr lang="es-ES" err="1"/>
              <a:t>or</a:t>
            </a:r>
            <a:r>
              <a:rPr lang="es-ES"/>
              <a:t> L? </a:t>
            </a:r>
            <a:r>
              <a:rPr lang="es-ES" err="1"/>
              <a:t>There</a:t>
            </a:r>
            <a:r>
              <a:rPr lang="es-ES"/>
              <a:t> </a:t>
            </a:r>
            <a:r>
              <a:rPr lang="es-ES" err="1"/>
              <a:t>is</a:t>
            </a:r>
            <a:r>
              <a:rPr lang="es-ES"/>
              <a:t> no </a:t>
            </a:r>
            <a:r>
              <a:rPr lang="es-ES" err="1"/>
              <a:t>one-fits-all</a:t>
            </a:r>
            <a:r>
              <a:rPr lang="es-ES"/>
              <a:t>- </a:t>
            </a:r>
            <a:r>
              <a:rPr lang="es-ES" err="1"/>
              <a:t>solution</a:t>
            </a:r>
            <a:r>
              <a:rPr lang="es-ES"/>
              <a:t> </a:t>
            </a:r>
            <a:r>
              <a:rPr lang="es-ES" err="1"/>
              <a:t>for</a:t>
            </a:r>
            <a:r>
              <a:rPr lang="es-ES"/>
              <a:t> a </a:t>
            </a:r>
            <a:r>
              <a:rPr lang="es-ES" err="1"/>
              <a:t>company</a:t>
            </a:r>
            <a:r>
              <a:rPr lang="es-ES"/>
              <a:t>; </a:t>
            </a:r>
            <a:r>
              <a:rPr lang="es-ES" err="1"/>
              <a:t>depends</a:t>
            </a:r>
            <a:r>
              <a:rPr lang="es-ES"/>
              <a:t> </a:t>
            </a:r>
            <a:r>
              <a:rPr lang="es-ES" err="1"/>
              <a:t>on</a:t>
            </a:r>
            <a:r>
              <a:rPr lang="es-ES"/>
              <a:t> </a:t>
            </a:r>
            <a:r>
              <a:rPr lang="es-ES" err="1"/>
              <a:t>needs</a:t>
            </a:r>
            <a:r>
              <a:rPr lang="es-ES"/>
              <a:t>, </a:t>
            </a:r>
            <a:r>
              <a:rPr lang="es-ES" err="1"/>
              <a:t>goals</a:t>
            </a:r>
            <a:endParaRPr lang="es-ES"/>
          </a:p>
          <a:p>
            <a:pPr defTabSz="914674">
              <a:defRPr/>
            </a:pPr>
            <a:r>
              <a:rPr lang="es-ES"/>
              <a:t>A boat can be moved by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wind</a:t>
            </a:r>
            <a:r>
              <a:rPr lang="es-ES"/>
              <a:t> (</a:t>
            </a:r>
            <a:r>
              <a:rPr lang="es-ES" err="1"/>
              <a:t>sails</a:t>
            </a:r>
            <a:r>
              <a:rPr lang="es-ES"/>
              <a:t>) or by an engine. </a:t>
            </a:r>
          </a:p>
        </p:txBody>
      </p:sp>
    </p:spTree>
    <p:extLst>
      <p:ext uri="{BB962C8B-B14F-4D97-AF65-F5344CB8AC3E}">
        <p14:creationId xmlns:p14="http://schemas.microsoft.com/office/powerpoint/2010/main" val="2515745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noProof="0"/>
              <a:t>&gt;12 months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noProof="0" err="1"/>
              <a:t>Debtors</a:t>
            </a:r>
            <a:r>
              <a:rPr lang="es-ES" noProof="0"/>
              <a:t> </a:t>
            </a:r>
            <a:r>
              <a:rPr lang="es-ES" noProof="0" err="1"/>
              <a:t>Clients</a:t>
            </a:r>
            <a:r>
              <a:rPr lang="es-ES" noProof="0"/>
              <a:t> – </a:t>
            </a:r>
            <a:r>
              <a:rPr lang="es-ES" noProof="0" err="1"/>
              <a:t>Creditors</a:t>
            </a:r>
            <a:r>
              <a:rPr lang="es-ES" noProof="0"/>
              <a:t> </a:t>
            </a:r>
            <a:r>
              <a:rPr lang="es-ES" noProof="0" err="1"/>
              <a:t>Suppliers</a:t>
            </a:r>
            <a:endParaRPr lang="es-ES" noProof="0"/>
          </a:p>
          <a:p>
            <a:pPr defTabSz="914674">
              <a:defRPr/>
            </a:pPr>
            <a:r>
              <a:rPr lang="es-ES" err="1"/>
              <a:t>The</a:t>
            </a:r>
            <a:r>
              <a:rPr lang="es-ES"/>
              <a:t> E </a:t>
            </a:r>
            <a:r>
              <a:rPr lang="es-ES" err="1"/>
              <a:t>also</a:t>
            </a:r>
            <a:r>
              <a:rPr lang="es-ES"/>
              <a:t> includes other funds </a:t>
            </a:r>
            <a:r>
              <a:rPr lang="es-ES" baseline="0"/>
              <a:t>that do not have to be returned, such as grants.</a:t>
            </a:r>
            <a:endParaRPr lang="es-ES"/>
          </a:p>
          <a:p>
            <a:r>
              <a:rPr lang="es-ES"/>
              <a:t>Liquidity: ability to convert assets into cash</a:t>
            </a:r>
          </a:p>
          <a:p>
            <a:r>
              <a:rPr lang="es-ES" baseline="0" err="1"/>
              <a:t>Solvency</a:t>
            </a:r>
            <a:r>
              <a:rPr lang="es-ES" baseline="0"/>
              <a:t>: ability to </a:t>
            </a:r>
            <a:r>
              <a:rPr lang="es-ES" baseline="0" err="1"/>
              <a:t>meet</a:t>
            </a:r>
            <a:r>
              <a:rPr lang="es-ES" baseline="0"/>
              <a:t> </a:t>
            </a:r>
            <a:r>
              <a:rPr lang="es-ES" baseline="0" err="1"/>
              <a:t>debts</a:t>
            </a:r>
            <a:endParaRPr lang="es-ES" baseline="0"/>
          </a:p>
        </p:txBody>
      </p:sp>
    </p:spTree>
    <p:extLst>
      <p:ext uri="{BB962C8B-B14F-4D97-AF65-F5344CB8AC3E}">
        <p14:creationId xmlns:p14="http://schemas.microsoft.com/office/powerpoint/2010/main" val="2785342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611B4-565A-C005-5192-90CA79547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416B7D4-6636-5BE6-0531-09186FB32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83CFDF-4500-56DD-02A4-B22CDBEC9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020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674">
              <a:defRPr/>
            </a:pPr>
            <a:r>
              <a:rPr lang="en-US"/>
              <a:t>Micro enterprises do not record deferred tax A/L</a:t>
            </a:r>
            <a:br>
              <a:rPr lang="en-US"/>
            </a:br>
            <a:r>
              <a:rPr lang="en-US"/>
              <a:t>(Assets≤ 1.000.000 €; Revenue≤ 2.000.000 €: Employees ≤ 10)</a:t>
            </a:r>
          </a:p>
        </p:txBody>
      </p:sp>
    </p:spTree>
    <p:extLst>
      <p:ext uri="{BB962C8B-B14F-4D97-AF65-F5344CB8AC3E}">
        <p14:creationId xmlns:p14="http://schemas.microsoft.com/office/powerpoint/2010/main" val="2951593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1BB3A-55F0-A02C-BEF3-120B8C5BD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B60CE47-E20B-1733-7BFF-E65887EFA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12E2D15-A5CB-D2FE-1C64-1E91AEB05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674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056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0B8BA-D8E5-D132-2985-BA6D447B9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443857B-1FF3-2E44-971A-D3E61B2C5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F25E35A-188B-1200-E106-37A6BC812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674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41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F7447-EB14-5DB8-54A6-5C1C6B43C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7C0BA70-B0FC-A1AE-B918-25CADC86D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E4EE29B-EE07-D0D2-7A04-39B1E5FB5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674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97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</a:pPr>
            <a:r>
              <a:rPr lang="es-ES" b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s-ES" b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b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s-ES" b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b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had</a:t>
            </a:r>
            <a:r>
              <a:rPr lang="es-ES" b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b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account</a:t>
            </a:r>
            <a:r>
              <a:rPr lang="es-ES" b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b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s-ES" b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b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</a:t>
            </a:r>
            <a:r>
              <a:rPr lang="es-ES" b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expenses, </a:t>
            </a:r>
            <a:r>
              <a:rPr lang="es-ES" b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s-ES" b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b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s-ES" b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b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ES" b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b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</a:t>
            </a:r>
            <a:r>
              <a:rPr lang="es-ES" b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b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them</a:t>
            </a:r>
            <a:r>
              <a:rPr lang="es-ES" b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b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ES" b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b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obtain</a:t>
            </a:r>
            <a:r>
              <a:rPr lang="es-ES" b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b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s-ES" b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b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taxable</a:t>
            </a:r>
            <a:r>
              <a:rPr lang="es-ES" b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base as </a:t>
            </a:r>
            <a:r>
              <a:rPr lang="es-ES" b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</a:t>
            </a:r>
            <a:r>
              <a:rPr lang="es-ES" b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non-deductible expenses.</a:t>
            </a:r>
          </a:p>
        </p:txBody>
      </p:sp>
    </p:spTree>
    <p:extLst>
      <p:ext uri="{BB962C8B-B14F-4D97-AF65-F5344CB8AC3E}">
        <p14:creationId xmlns:p14="http://schemas.microsoft.com/office/powerpoint/2010/main" val="627963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73AF-F416-675B-BCA7-30A91B8F9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D1241F5-D20F-2244-3650-8C5937E26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38A816A-CD76-2CF5-C22C-4CE2E529A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</a:pPr>
            <a:endParaRPr lang="es-ES" b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419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AD2DB-2F07-C5BF-7F95-D049CD893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79AC99A-3561-1250-83A8-36A13FFE2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DB0FE48-320D-0876-6415-2C4B74A4E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997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30995-F746-2CF8-E40E-DF580090E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040E55E-563F-26F2-6EAA-D3460ACEB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6CB4F06-4680-D128-0837-3E2F94661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6291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79474-0E64-AE04-9B57-0E43A39E4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7BD586-CC07-45F8-A544-E12446B70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4CBFFD8-1016-A337-CC8D-56F735A82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674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828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FC18F-C394-D668-4905-83539A248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C21440-3B93-1382-FF18-0C586CEB4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3304CE5-BD53-89E5-699B-4AD4C12B5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674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66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4ADBA-A58C-1D66-0135-DB76DD1C8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7D539F3-1ECB-4891-5FE8-5340AEF85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08D075-48C9-5117-4676-88A935DFB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2993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6BEEA-0EA3-6444-3B96-7474A2F08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89E7733-011B-C621-0EFF-DF3F1D0B5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5D5EBDB-EC10-BAE1-7478-6E674EB32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3544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1A4CB-C9C4-8FB2-8F43-057CB9554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4E6C701-6E17-9386-1C0C-58F3EAD8E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16FCC24-A0C2-19E1-E07E-4B34FDA52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4486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64473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FC21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406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FC21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440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365126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1355726"/>
            <a:ext cx="3868340" cy="48339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365127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1355726"/>
            <a:ext cx="3887391" cy="48339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FC21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470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Click to modify the pattern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 the text style of the pattern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FC21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806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noProof="0"/>
              <a:t>Unit 2</a:t>
            </a:r>
            <a:br>
              <a:rPr lang="en-US" sz="3200" noProof="0"/>
            </a:br>
            <a:r>
              <a:rPr lang="en-US" sz="3200" noProof="0"/>
              <a:t>Financial Statements I</a:t>
            </a:r>
          </a:p>
        </p:txBody>
      </p:sp>
      <p:sp>
        <p:nvSpPr>
          <p:cNvPr id="18" name="Subtítulo 17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1800"/>
              <a:t>Balance Sheet</a:t>
            </a:r>
          </a:p>
          <a:p>
            <a:r>
              <a:rPr lang="es-ES" sz="1800" err="1"/>
              <a:t>Income</a:t>
            </a:r>
            <a:r>
              <a:rPr lang="es-ES" sz="1800"/>
              <a:t> </a:t>
            </a:r>
            <a:r>
              <a:rPr lang="es-ES" sz="1800" err="1"/>
              <a:t>Statement</a:t>
            </a:r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1894586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err="1"/>
              <a:t>Financial</a:t>
            </a:r>
            <a:r>
              <a:rPr lang="es-ES" sz="3200"/>
              <a:t> </a:t>
            </a:r>
            <a:r>
              <a:rPr lang="es-ES" sz="3200" err="1"/>
              <a:t>Statements</a:t>
            </a:r>
            <a:endParaRPr lang="es-ES" sz="320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/>
              <a:t>Elaborated every 12 months (in €), completed within 3 months after closure and signed.</a:t>
            </a:r>
          </a:p>
          <a:p>
            <a:pPr lvl="1">
              <a:lnSpc>
                <a:spcPct val="100000"/>
              </a:lnSpc>
            </a:pPr>
            <a:r>
              <a:rPr lang="es-ES" sz="1800"/>
              <a:t>Balance</a:t>
            </a:r>
            <a:r>
              <a:rPr lang="en-US" sz="1800"/>
              <a:t> sheet</a:t>
            </a:r>
          </a:p>
          <a:p>
            <a:pPr lvl="1">
              <a:lnSpc>
                <a:spcPct val="100000"/>
              </a:lnSpc>
            </a:pPr>
            <a:r>
              <a:rPr lang="es-ES" sz="1800" err="1"/>
              <a:t>Income</a:t>
            </a:r>
            <a:r>
              <a:rPr lang="es-ES" sz="1800"/>
              <a:t> </a:t>
            </a:r>
            <a:r>
              <a:rPr lang="es-ES" sz="1800" err="1"/>
              <a:t>Statement</a:t>
            </a:r>
            <a:r>
              <a:rPr lang="es-ES" sz="1800"/>
              <a:t> (P&amp;L)</a:t>
            </a:r>
          </a:p>
          <a:p>
            <a:pPr lvl="1">
              <a:lnSpc>
                <a:spcPct val="100000"/>
              </a:lnSpc>
            </a:pPr>
            <a:r>
              <a:rPr lang="es-ES" sz="1800"/>
              <a:t>Statement of changes in equity</a:t>
            </a:r>
          </a:p>
          <a:p>
            <a:pPr lvl="1">
              <a:lnSpc>
                <a:spcPct val="100000"/>
              </a:lnSpc>
            </a:pPr>
            <a:r>
              <a:rPr lang="es-ES" sz="1800"/>
              <a:t>Cash Flow </a:t>
            </a:r>
            <a:r>
              <a:rPr lang="es-ES" err="1"/>
              <a:t>S</a:t>
            </a:r>
            <a:r>
              <a:rPr lang="es-ES" sz="1800" err="1"/>
              <a:t>tatement</a:t>
            </a:r>
            <a:endParaRPr lang="es-ES" sz="1800"/>
          </a:p>
          <a:p>
            <a:pPr lvl="1">
              <a:lnSpc>
                <a:spcPct val="100000"/>
              </a:lnSpc>
            </a:pPr>
            <a:r>
              <a:rPr lang="es-ES" sz="1800"/>
              <a:t>Notes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1800"/>
              <a:t>Show 2 consecutive years; </a:t>
            </a:r>
            <a:r>
              <a:rPr lang="en-US" sz="1800" err="1"/>
              <a:t>items can be grouped </a:t>
            </a:r>
            <a:r>
              <a:rPr lang="en-US" sz="1800"/>
              <a:t>or </a:t>
            </a:r>
            <a:r>
              <a:rPr lang="en-US" sz="1800" err="1"/>
              <a:t>subdivided</a:t>
            </a:r>
            <a:r>
              <a:rPr lang="en-US" sz="1800"/>
              <a:t>; </a:t>
            </a:r>
            <a:r>
              <a:rPr lang="es-ES" sz="1800"/>
              <a:t>references </a:t>
            </a:r>
            <a:r>
              <a:rPr lang="en-US" sz="1800"/>
              <a:t>to the notes</a:t>
            </a:r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4031023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err="1"/>
              <a:t>Abbreviated</a:t>
            </a:r>
            <a:r>
              <a:rPr lang="es-ES" sz="3200"/>
              <a:t> annual accounts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Balance sheet and notes if 2 circumstances occur in 2 years: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Total assets ≤ 4.000.000 €.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Sales ≤ 8.000.000 €.</a:t>
            </a:r>
          </a:p>
          <a:p>
            <a:pPr lvl="1">
              <a:lnSpc>
                <a:spcPct val="100000"/>
              </a:lnSpc>
            </a:pPr>
            <a:r>
              <a:rPr lang="es-ES" dirty="0" err="1"/>
              <a:t>Average</a:t>
            </a:r>
            <a:r>
              <a:rPr lang="es-ES" dirty="0"/>
              <a:t> </a:t>
            </a:r>
            <a:r>
              <a:rPr lang="es-ES" dirty="0" err="1"/>
              <a:t>number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employees</a:t>
            </a:r>
            <a:r>
              <a:rPr lang="es-ES" dirty="0"/>
              <a:t> </a:t>
            </a:r>
            <a:r>
              <a:rPr lang="en-US" sz="1800" dirty="0"/>
              <a:t>≤ 50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It implies that SCE and CFS are not mandatory.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Only abbreviated P&amp;L if 2 circumstances occur in 2 years: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Total assets ≤ 11.400.000 €.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Sales</a:t>
            </a:r>
            <a:r>
              <a:rPr lang="en-US" sz="1800" dirty="0"/>
              <a:t> ≤ 22.800.000 €.</a:t>
            </a:r>
          </a:p>
          <a:p>
            <a:pPr lvl="1">
              <a:lnSpc>
                <a:spcPct val="100000"/>
              </a:lnSpc>
            </a:pPr>
            <a:r>
              <a:rPr lang="es-ES" dirty="0" err="1"/>
              <a:t>Average</a:t>
            </a:r>
            <a:r>
              <a:rPr lang="es-ES" dirty="0"/>
              <a:t> </a:t>
            </a:r>
            <a:r>
              <a:rPr lang="es-ES" dirty="0" err="1"/>
              <a:t>number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employees</a:t>
            </a:r>
            <a:r>
              <a:rPr lang="es-ES" dirty="0"/>
              <a:t> </a:t>
            </a:r>
            <a:r>
              <a:rPr lang="en-US" sz="1800" dirty="0"/>
              <a:t>≤ 250</a:t>
            </a:r>
          </a:p>
        </p:txBody>
      </p:sp>
    </p:spTree>
    <p:extLst>
      <p:ext uri="{BB962C8B-B14F-4D97-AF65-F5344CB8AC3E}">
        <p14:creationId xmlns:p14="http://schemas.microsoft.com/office/powerpoint/2010/main" val="1231696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err="1"/>
              <a:t>Abbreviated</a:t>
            </a:r>
            <a:r>
              <a:rPr lang="es-ES" sz="3200"/>
              <a:t> annual accounts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003FE4E7-2DE0-8CD0-AD00-A2DFF3A6C2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9378043"/>
              </p:ext>
            </p:extLst>
          </p:nvPr>
        </p:nvGraphicFramePr>
        <p:xfrm>
          <a:off x="628650" y="1825625"/>
          <a:ext cx="7846790" cy="3200128"/>
        </p:xfrm>
        <a:graphic>
          <a:graphicData uri="http://schemas.openxmlformats.org/drawingml/2006/table">
            <a:tbl>
              <a:tblPr/>
              <a:tblGrid>
                <a:gridCol w="2588368">
                  <a:extLst>
                    <a:ext uri="{9D8B030D-6E8A-4147-A177-3AD203B41FA5}">
                      <a16:colId xmlns:a16="http://schemas.microsoft.com/office/drawing/2014/main" val="65528314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362442443"/>
                    </a:ext>
                  </a:extLst>
                </a:gridCol>
                <a:gridCol w="1729211">
                  <a:extLst>
                    <a:ext uri="{9D8B030D-6E8A-4147-A177-3AD203B41FA5}">
                      <a16:colId xmlns:a16="http://schemas.microsoft.com/office/drawing/2014/main" val="1087992350"/>
                    </a:ext>
                  </a:extLst>
                </a:gridCol>
                <a:gridCol w="1729211">
                  <a:extLst>
                    <a:ext uri="{9D8B030D-6E8A-4147-A177-3AD203B41FA5}">
                      <a16:colId xmlns:a16="http://schemas.microsoft.com/office/drawing/2014/main" val="287997059"/>
                    </a:ext>
                  </a:extLst>
                </a:gridCol>
              </a:tblGrid>
              <a:tr h="30835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endParaRPr kumimoji="0" lang="es-ES_tradnl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BS and notes </a:t>
                      </a:r>
                      <a:r>
                        <a:rPr kumimoji="0" lang="es-ES_tradnl" sz="18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abbreviated</a:t>
                      </a:r>
                      <a:endParaRPr kumimoji="0" lang="es-ES_tradnl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Only</a:t>
                      </a:r>
                      <a:r>
                        <a:rPr kumimoji="0" lang="es-ES_tradnl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 P&amp;L </a:t>
                      </a:r>
                      <a:r>
                        <a:rPr kumimoji="0" lang="es-ES_tradnl" sz="18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abbreviated</a:t>
                      </a:r>
                      <a:endParaRPr kumimoji="0" lang="es-ES_tradnl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Listed</a:t>
                      </a:r>
                      <a:endParaRPr kumimoji="0" lang="es-ES_tradnl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144223"/>
                  </a:ext>
                </a:extLst>
              </a:tr>
              <a:tr h="30835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Balance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Abbreviated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Normal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Normal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055464"/>
                  </a:ext>
                </a:extLst>
              </a:tr>
              <a:tr h="30835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P&amp;L</a:t>
                      </a:r>
                      <a:endParaRPr kumimoji="0" lang="es-ES_tradnl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Abbreviated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Abbreviated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Normal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391563"/>
                  </a:ext>
                </a:extLst>
              </a:tr>
              <a:tr h="30479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Notes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Abbreviated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Normal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Normal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717177"/>
                  </a:ext>
                </a:extLst>
              </a:tr>
              <a:tr h="30479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SCE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No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Yes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Yes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178804"/>
                  </a:ext>
                </a:extLst>
              </a:tr>
              <a:tr h="30479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CFS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No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Yes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Yes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096978"/>
                  </a:ext>
                </a:extLst>
              </a:tr>
              <a:tr h="30835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Management report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No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Yes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Yes 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864727"/>
                  </a:ext>
                </a:extLst>
              </a:tr>
              <a:tr h="30835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Audit </a:t>
                      </a:r>
                      <a:r>
                        <a:rPr kumimoji="0" lang="es-ES_tradnl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report</a:t>
                      </a:r>
                      <a:r>
                        <a:rPr kumimoji="0" lang="es-ES_tradnl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*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Yes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Yes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2113" algn="l"/>
                          <a:tab pos="627063" algn="l"/>
                          <a:tab pos="863600" algn="l"/>
                          <a:tab pos="1176338" algn="l"/>
                        </a:tabLst>
                      </a:pPr>
                      <a:r>
                        <a:rPr kumimoji="0" lang="es-ES_tradnl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itchFamily="34" charset="0"/>
                          <a:cs typeface="Lucida Sans Unicode" pitchFamily="34" charset="0"/>
                        </a:rPr>
                        <a:t>Yes</a:t>
                      </a:r>
                    </a:p>
                  </a:txBody>
                  <a:tcPr marL="91444" marR="91444" marT="45703" marB="4570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349342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05D68C07-B7C5-F0F9-76DB-F255B5CBE83F}"/>
              </a:ext>
            </a:extLst>
          </p:cNvPr>
          <p:cNvSpPr txBox="1"/>
          <p:nvPr/>
        </p:nvSpPr>
        <p:spPr>
          <a:xfrm>
            <a:off x="628649" y="5444609"/>
            <a:ext cx="78467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*The obligation to audit has its own thresholds, which are lower.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622248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s-E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 SemiBold"/>
                <a:ea typeface="+mj-ea"/>
                <a:cs typeface="+mj-cs"/>
              </a:rPr>
              <a:t>Balance sheet</a:t>
            </a:r>
            <a:endParaRPr lang="es-ES" sz="320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7262813" algn="l"/>
              </a:tabLst>
            </a:pPr>
            <a:r>
              <a:rPr lang="es-ES" err="1"/>
              <a:t>It</a:t>
            </a:r>
            <a:r>
              <a:rPr lang="es-ES"/>
              <a:t> </a:t>
            </a:r>
            <a:r>
              <a:rPr lang="es-ES" err="1"/>
              <a:t>r</a:t>
            </a:r>
            <a:r>
              <a:rPr lang="es-ES" sz="1800" err="1"/>
              <a:t>epresents</a:t>
            </a:r>
            <a:r>
              <a:rPr lang="es-ES" sz="1800"/>
              <a:t> </a:t>
            </a:r>
            <a:r>
              <a:rPr lang="es-ES" sz="1800" err="1"/>
              <a:t>all</a:t>
            </a:r>
            <a:r>
              <a:rPr lang="es-ES" sz="1800"/>
              <a:t> </a:t>
            </a:r>
            <a:r>
              <a:rPr lang="es-ES" sz="1800" err="1">
                <a:solidFill>
                  <a:srgbClr val="00B050"/>
                </a:solidFill>
              </a:rPr>
              <a:t>resources</a:t>
            </a:r>
            <a:r>
              <a:rPr lang="es-ES" sz="1800">
                <a:solidFill>
                  <a:prstClr val="white">
                    <a:lumMod val="50000"/>
                  </a:prstClr>
                </a:solidFill>
              </a:rPr>
              <a:t>, </a:t>
            </a:r>
            <a:r>
              <a:rPr lang="es-ES" sz="1800">
                <a:solidFill>
                  <a:srgbClr val="00B050"/>
                </a:solidFill>
              </a:rPr>
              <a:t>rights </a:t>
            </a:r>
            <a:r>
              <a:rPr lang="es-ES" sz="1800">
                <a:solidFill>
                  <a:prstClr val="white">
                    <a:lumMod val="50000"/>
                  </a:prstClr>
                </a:solidFill>
              </a:rPr>
              <a:t>and </a:t>
            </a:r>
            <a:r>
              <a:rPr lang="es-ES" sz="1800">
                <a:solidFill>
                  <a:srgbClr val="FF0000"/>
                </a:solidFill>
              </a:rPr>
              <a:t>obligations </a:t>
            </a:r>
            <a:r>
              <a:rPr lang="es-ES" sz="1800"/>
              <a:t>that, under the ownership of a natural or legal person, are assigned to a specific purpose and are susceptible to economic valuation.</a:t>
            </a:r>
          </a:p>
          <a:p>
            <a:pPr>
              <a:lnSpc>
                <a:spcPct val="100000"/>
              </a:lnSpc>
              <a:tabLst>
                <a:tab pos="4391025" algn="l"/>
              </a:tabLst>
            </a:pPr>
            <a:r>
              <a:rPr lang="es-ES" sz="1800"/>
              <a:t>Equity: the residual part of the assets of the entity after </a:t>
            </a:r>
            <a:r>
              <a:rPr lang="es-ES" sz="1800" err="1"/>
              <a:t>all</a:t>
            </a:r>
            <a:r>
              <a:rPr lang="es-ES" sz="1800"/>
              <a:t> </a:t>
            </a:r>
            <a:r>
              <a:rPr lang="es-ES" sz="1800" err="1"/>
              <a:t>liabilities</a:t>
            </a:r>
            <a:r>
              <a:rPr lang="es-ES" sz="1800"/>
              <a:t> </a:t>
            </a:r>
            <a:r>
              <a:rPr lang="es-ES" sz="1800" err="1"/>
              <a:t>have</a:t>
            </a:r>
            <a:r>
              <a:rPr lang="es-ES" sz="1800"/>
              <a:t> </a:t>
            </a:r>
            <a:r>
              <a:rPr lang="es-ES" sz="1800" err="1"/>
              <a:t>been</a:t>
            </a:r>
            <a:r>
              <a:rPr lang="es-ES" sz="1800"/>
              <a:t> </a:t>
            </a:r>
            <a:r>
              <a:rPr lang="es-ES" sz="1800" err="1"/>
              <a:t>deducted</a:t>
            </a:r>
            <a:r>
              <a:rPr lang="es-ES" sz="1800"/>
              <a:t>; it belongs to the owners.</a:t>
            </a:r>
          </a:p>
          <a:p>
            <a:pPr marL="0" indent="0" algn="ctr">
              <a:buNone/>
              <a:tabLst>
                <a:tab pos="7262813" algn="l"/>
              </a:tabLst>
            </a:pPr>
            <a:r>
              <a:rPr lang="es-ES" sz="1800" err="1"/>
              <a:t>Equity</a:t>
            </a:r>
            <a:r>
              <a:rPr lang="es-ES" sz="1800"/>
              <a:t> = </a:t>
            </a:r>
            <a:r>
              <a:rPr lang="es-ES" err="1">
                <a:solidFill>
                  <a:srgbClr val="00B050"/>
                </a:solidFill>
              </a:rPr>
              <a:t>resources</a:t>
            </a:r>
            <a:r>
              <a:rPr lang="es-ES" sz="1800">
                <a:solidFill>
                  <a:srgbClr val="00B050"/>
                </a:solidFill>
              </a:rPr>
              <a:t> </a:t>
            </a:r>
            <a:r>
              <a:rPr lang="es-ES" sz="1800"/>
              <a:t>+ </a:t>
            </a:r>
            <a:r>
              <a:rPr lang="es-ES" sz="1800">
                <a:solidFill>
                  <a:srgbClr val="00B050"/>
                </a:solidFill>
              </a:rPr>
              <a:t>rights </a:t>
            </a:r>
            <a:r>
              <a:rPr lang="es-ES" sz="1800"/>
              <a:t>- </a:t>
            </a:r>
            <a:r>
              <a:rPr lang="es-ES" sz="1800">
                <a:solidFill>
                  <a:srgbClr val="FF0000"/>
                </a:solidFill>
              </a:rPr>
              <a:t>obligations</a:t>
            </a:r>
          </a:p>
          <a:p>
            <a:pPr marL="0" indent="0" algn="ctr">
              <a:buNone/>
              <a:tabLst>
                <a:tab pos="7262813" algn="l"/>
              </a:tabLst>
            </a:pPr>
            <a:r>
              <a:rPr lang="es-ES" sz="1800" err="1"/>
              <a:t>Assets</a:t>
            </a:r>
            <a:r>
              <a:rPr lang="es-ES" sz="1800"/>
              <a:t> = </a:t>
            </a:r>
            <a:r>
              <a:rPr lang="es-ES" sz="1800" err="1"/>
              <a:t>Equity</a:t>
            </a:r>
            <a:r>
              <a:rPr lang="es-ES" sz="1800"/>
              <a:t> + </a:t>
            </a:r>
            <a:r>
              <a:rPr lang="es-ES" sz="1800" err="1"/>
              <a:t>Liabilities</a:t>
            </a:r>
            <a:endParaRPr lang="es-ES" sz="1800"/>
          </a:p>
          <a:p>
            <a:pPr>
              <a:lnSpc>
                <a:spcPct val="100000"/>
              </a:lnSpc>
              <a:tabLst>
                <a:tab pos="4391025" algn="l"/>
              </a:tabLst>
            </a:pPr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579264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/>
              <a:t>Balance sheet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F8F137-680F-B6D6-5440-768CDAC4A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1800" err="1"/>
              <a:t>Snapshot</a:t>
            </a:r>
            <a:r>
              <a:rPr lang="es-ES" sz="1800"/>
              <a:t> </a:t>
            </a:r>
            <a:r>
              <a:rPr lang="es-ES" sz="1800" err="1"/>
              <a:t>of</a:t>
            </a:r>
            <a:r>
              <a:rPr lang="es-ES" sz="1800"/>
              <a:t> a </a:t>
            </a:r>
            <a:r>
              <a:rPr lang="es-ES" sz="1800" err="1"/>
              <a:t>company’s</a:t>
            </a:r>
            <a:r>
              <a:rPr lang="es-ES" sz="1800"/>
              <a:t> </a:t>
            </a:r>
            <a:r>
              <a:rPr lang="es-ES" sz="1800" err="1"/>
              <a:t>situation</a:t>
            </a:r>
            <a:endParaRPr lang="es-ES" sz="180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7A5D6183-398E-85E2-A44A-3970F0341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726229"/>
              </p:ext>
            </p:extLst>
          </p:nvPr>
        </p:nvGraphicFramePr>
        <p:xfrm>
          <a:off x="2108499" y="2418107"/>
          <a:ext cx="4927002" cy="2565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3501">
                  <a:extLst>
                    <a:ext uri="{9D8B030D-6E8A-4147-A177-3AD203B41FA5}">
                      <a16:colId xmlns:a16="http://schemas.microsoft.com/office/drawing/2014/main" val="3832744517"/>
                    </a:ext>
                  </a:extLst>
                </a:gridCol>
                <a:gridCol w="2463501">
                  <a:extLst>
                    <a:ext uri="{9D8B030D-6E8A-4147-A177-3AD203B41FA5}">
                      <a16:colId xmlns:a16="http://schemas.microsoft.com/office/drawing/2014/main" val="1880886915"/>
                    </a:ext>
                  </a:extLst>
                </a:gridCol>
              </a:tblGrid>
              <a:tr h="855233">
                <a:tc rowSpan="2">
                  <a:txBody>
                    <a:bodyPr/>
                    <a:lstStyle/>
                    <a:p>
                      <a:pPr algn="ctr"/>
                      <a:r>
                        <a:rPr lang="es-ES" sz="1800">
                          <a:latin typeface="+mj-lt"/>
                        </a:rPr>
                        <a:t>ASSETS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>
                          <a:latin typeface="+mj-lt"/>
                        </a:rPr>
                        <a:t>EQUITY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902822"/>
                  </a:ext>
                </a:extLst>
              </a:tr>
              <a:tr h="1710467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>
                          <a:latin typeface="+mj-lt"/>
                        </a:rPr>
                        <a:t>LIABILITIES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602672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C69505B4-877B-BB70-98E0-5F92FE21DEE2}"/>
              </a:ext>
            </a:extLst>
          </p:cNvPr>
          <p:cNvSpPr/>
          <p:nvPr/>
        </p:nvSpPr>
        <p:spPr>
          <a:xfrm>
            <a:off x="2136369" y="5180275"/>
            <a:ext cx="4921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4391025" algn="l"/>
              </a:tabLst>
            </a:pPr>
            <a:r>
              <a:rPr lang="es-ES"/>
              <a:t>Use of </a:t>
            </a:r>
            <a:r>
              <a:rPr lang="es-ES" err="1"/>
              <a:t>resources</a:t>
            </a:r>
            <a:r>
              <a:rPr lang="es-ES"/>
              <a:t> and </a:t>
            </a:r>
            <a:r>
              <a:rPr lang="es-ES" err="1"/>
              <a:t>source</a:t>
            </a:r>
            <a:r>
              <a:rPr lang="es-ES"/>
              <a:t> of resources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D04ADF3-AC9D-7F0A-2311-67232D83D133}"/>
              </a:ext>
            </a:extLst>
          </p:cNvPr>
          <p:cNvSpPr txBox="1"/>
          <p:nvPr/>
        </p:nvSpPr>
        <p:spPr>
          <a:xfrm>
            <a:off x="1980830" y="5576289"/>
            <a:ext cx="5232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597150" algn="l"/>
                <a:tab pos="4391025" algn="l"/>
              </a:tabLst>
            </a:pPr>
            <a:r>
              <a:rPr lang="es-ES" err="1"/>
              <a:t>Economic</a:t>
            </a:r>
            <a:r>
              <a:rPr lang="es-ES"/>
              <a:t> </a:t>
            </a:r>
            <a:r>
              <a:rPr lang="es-ES" err="1"/>
              <a:t>structure</a:t>
            </a:r>
            <a:r>
              <a:rPr lang="es-ES"/>
              <a:t> and </a:t>
            </a:r>
            <a:r>
              <a:rPr lang="es-ES" err="1"/>
              <a:t>Financial</a:t>
            </a:r>
            <a:r>
              <a:rPr lang="es-ES"/>
              <a:t> </a:t>
            </a:r>
            <a:r>
              <a:rPr lang="es-ES" err="1"/>
              <a:t>structure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1370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277877"/>
              </p:ext>
            </p:extLst>
          </p:nvPr>
        </p:nvGraphicFramePr>
        <p:xfrm>
          <a:off x="628650" y="2377166"/>
          <a:ext cx="7920000" cy="36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3832744517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1880886915"/>
                    </a:ext>
                  </a:extLst>
                </a:gridCol>
              </a:tblGrid>
              <a:tr h="1800000">
                <a:tc rowSpan="2">
                  <a:txBody>
                    <a:bodyPr/>
                    <a:lstStyle/>
                    <a:p>
                      <a:pPr marL="0" marR="0" lvl="0" indent="180975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7262813" algn="l"/>
                        </a:tabLst>
                        <a:defRPr/>
                      </a:pPr>
                      <a:r>
                        <a:rPr lang="es-ES" sz="1800" noProof="0"/>
                        <a:t>non-</a:t>
                      </a:r>
                      <a:r>
                        <a:rPr lang="es-ES" sz="1800" noProof="0" err="1"/>
                        <a:t>current</a:t>
                      </a:r>
                      <a:r>
                        <a:rPr lang="es-ES" sz="1800" noProof="0"/>
                        <a:t> </a:t>
                      </a:r>
                      <a:r>
                        <a:rPr lang="es-ES" sz="1800" noProof="0" err="1"/>
                        <a:t>assets</a:t>
                      </a:r>
                      <a:r>
                        <a:rPr lang="es-ES" sz="1800" noProof="0"/>
                        <a:t> (LT)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>
                          <a:tab pos="7262813" algn="l"/>
                        </a:tabLst>
                        <a:defRPr/>
                      </a:pPr>
                      <a:r>
                        <a:rPr lang="es-ES" sz="1800" noProof="0"/>
                        <a:t>Intangible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>
                          <a:tab pos="7262813" algn="l"/>
                        </a:tabLst>
                        <a:defRPr/>
                      </a:pPr>
                      <a:r>
                        <a:rPr lang="es-ES" sz="1800" noProof="0"/>
                        <a:t>PPE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>
                          <a:tab pos="7262813" algn="l"/>
                        </a:tabLst>
                        <a:defRPr/>
                      </a:pPr>
                      <a:r>
                        <a:rPr lang="es-ES" sz="1800" noProof="0"/>
                        <a:t>LT </a:t>
                      </a:r>
                      <a:r>
                        <a:rPr lang="es-ES" sz="1800" noProof="0" err="1"/>
                        <a:t>Financial</a:t>
                      </a:r>
                      <a:r>
                        <a:rPr lang="es-ES" sz="1800" noProof="0"/>
                        <a:t> </a:t>
                      </a:r>
                      <a:r>
                        <a:rPr lang="es-ES" sz="1800" noProof="0" err="1"/>
                        <a:t>assets</a:t>
                      </a:r>
                      <a:endParaRPr lang="es-ES" sz="1800" noProof="0"/>
                    </a:p>
                    <a:p>
                      <a:pPr marL="0" marR="0" lvl="0" indent="180975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7262813" algn="l"/>
                        </a:tabLst>
                        <a:defRPr/>
                      </a:pPr>
                      <a:r>
                        <a:rPr lang="es-ES" sz="1800" noProof="0" err="1"/>
                        <a:t>current</a:t>
                      </a:r>
                      <a:r>
                        <a:rPr lang="es-ES" sz="1800" noProof="0"/>
                        <a:t> </a:t>
                      </a:r>
                      <a:r>
                        <a:rPr lang="es-ES" sz="1800" noProof="0" err="1"/>
                        <a:t>assets</a:t>
                      </a:r>
                      <a:r>
                        <a:rPr lang="es-ES" sz="1800" noProof="0"/>
                        <a:t> (ST)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>
                          <a:tab pos="7262813" algn="l"/>
                        </a:tabLst>
                        <a:defRPr/>
                      </a:pPr>
                      <a:r>
                        <a:rPr lang="es-ES" sz="1800" noProof="0" err="1"/>
                        <a:t>Inventories</a:t>
                      </a:r>
                      <a:endParaRPr lang="es-ES" sz="1800" noProof="0"/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>
                          <a:tab pos="7262813" algn="l"/>
                        </a:tabLst>
                        <a:defRPr/>
                      </a:pPr>
                      <a:r>
                        <a:rPr lang="es-ES" sz="1800" noProof="0" err="1"/>
                        <a:t>Receivables</a:t>
                      </a:r>
                      <a:endParaRPr lang="es-ES" sz="1800" noProof="0"/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>
                          <a:tab pos="7262813" algn="l"/>
                        </a:tabLst>
                        <a:defRPr/>
                      </a:pPr>
                      <a:r>
                        <a:rPr lang="es-ES" sz="1800" noProof="0"/>
                        <a:t>Cash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975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7262813" algn="l"/>
                        </a:tabLst>
                        <a:defRPr/>
                      </a:pPr>
                      <a:r>
                        <a:rPr kumimoji="0" lang="es-ES" sz="1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equity</a:t>
                      </a:r>
                      <a:endParaRPr kumimoji="0" lang="es-E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>
                          <a:tab pos="7262813" algn="l"/>
                        </a:tabLst>
                        <a:defRPr/>
                      </a:pPr>
                      <a:r>
                        <a:rPr kumimoji="0" lang="es-E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Capital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>
                          <a:tab pos="7262813" algn="l"/>
                        </a:tabLst>
                        <a:defRPr/>
                      </a:pPr>
                      <a:r>
                        <a:rPr kumimoji="0" lang="es-E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Reserves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>
                          <a:tab pos="7262813" algn="l"/>
                        </a:tabLst>
                        <a:defRPr/>
                      </a:pPr>
                      <a:r>
                        <a:rPr kumimoji="0" lang="es-ES" sz="1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Profit</a:t>
                      </a:r>
                      <a:endParaRPr kumimoji="0" lang="es-E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902822"/>
                  </a:ext>
                </a:extLst>
              </a:tr>
              <a:tr h="180000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180975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7262813" algn="l"/>
                        </a:tabLst>
                        <a:defRPr/>
                      </a:pPr>
                      <a:r>
                        <a:rPr lang="es-ES" sz="1800" noProof="0"/>
                        <a:t>non-current liabilities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>
                          <a:tab pos="7262813" algn="l"/>
                        </a:tabLst>
                        <a:defRPr/>
                      </a:pPr>
                      <a:r>
                        <a:rPr lang="es-ES" sz="1800" noProof="0"/>
                        <a:t>LT </a:t>
                      </a:r>
                      <a:r>
                        <a:rPr lang="es-ES" sz="1800" noProof="0" err="1"/>
                        <a:t>Loans</a:t>
                      </a:r>
                      <a:endParaRPr lang="es-ES" sz="1800" noProof="0"/>
                    </a:p>
                    <a:p>
                      <a:pPr marL="0" marR="0" lvl="0" indent="180975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7262813" algn="l"/>
                        </a:tabLst>
                        <a:defRPr/>
                      </a:pPr>
                      <a:r>
                        <a:rPr lang="es-ES" sz="1800" noProof="0"/>
                        <a:t>current liabilities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>
                          <a:tab pos="7262813" algn="l"/>
                        </a:tabLst>
                        <a:defRPr/>
                      </a:pPr>
                      <a:r>
                        <a:rPr lang="es-ES" sz="1800" noProof="0"/>
                        <a:t>ST </a:t>
                      </a:r>
                      <a:r>
                        <a:rPr lang="es-ES" sz="1800" noProof="0" err="1"/>
                        <a:t>Loans</a:t>
                      </a:r>
                      <a:endParaRPr lang="es-ES" sz="1800" noProof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602672"/>
                  </a:ext>
                </a:extLst>
              </a:tr>
            </a:tbl>
          </a:graphicData>
        </a:graphic>
      </p:graphicFrame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err="1"/>
              <a:t>Financial</a:t>
            </a:r>
            <a:r>
              <a:rPr lang="es-ES" sz="3200"/>
              <a:t> </a:t>
            </a:r>
            <a:r>
              <a:rPr lang="es-ES" sz="3200" err="1"/>
              <a:t>components</a:t>
            </a:r>
            <a:endParaRPr lang="es-ES" sz="320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513A503-8793-CD22-5FC6-573FB885F058}"/>
              </a:ext>
            </a:extLst>
          </p:cNvPr>
          <p:cNvGraphicFramePr>
            <a:graphicFrameLocks noGrp="1"/>
          </p:cNvGraphicFramePr>
          <p:nvPr/>
        </p:nvGraphicFramePr>
        <p:xfrm>
          <a:off x="558000" y="1709981"/>
          <a:ext cx="8028000" cy="57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173585137"/>
                    </a:ext>
                  </a:extLst>
                </a:gridCol>
                <a:gridCol w="4068000">
                  <a:extLst>
                    <a:ext uri="{9D8B030D-6E8A-4147-A177-3AD203B41FA5}">
                      <a16:colId xmlns:a16="http://schemas.microsoft.com/office/drawing/2014/main" val="308821405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marL="93663" marR="0" lvl="1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7262813" algn="l"/>
                        </a:tabLst>
                        <a:defRPr/>
                      </a:pPr>
                      <a:r>
                        <a:rPr lang="es-ES" sz="1800">
                          <a:solidFill>
                            <a:prstClr val="black"/>
                          </a:solidFill>
                        </a:rPr>
                        <a:t>from least to most liquid</a:t>
                      </a:r>
                      <a:endParaRPr kumimoji="0" lang="es-E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3663" marR="0" lvl="1" indent="-9366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7262813" algn="l"/>
                        </a:tabLst>
                        <a:defRPr/>
                      </a:pPr>
                      <a:r>
                        <a:rPr kumimoji="0" lang="es-E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from least to most enforceable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34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136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E994E2-9CA5-EC5E-4879-696C6837B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8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4AAA6AC-CEC8-5B23-F38C-E2ED5E983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6366"/>
            <a:ext cx="9144000" cy="580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19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D283-A849-CA82-D726-07BC72B9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837CCF-2CC1-0D8A-7003-261FEFD69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9</a:t>
            </a:fld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E4E8089-A44E-1D13-9915-27773B744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1358"/>
            <a:ext cx="9144000" cy="621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533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2CBEC-B0ED-432C-2EDD-95A222A55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07B502-D607-2C95-ACBC-368A827A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10</a:t>
            </a:fld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007A3FA-48B6-5EC9-A20B-B0867D5B8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433"/>
            <a:ext cx="9144000" cy="657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315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B088-D8BA-CB58-3A51-FF804D5C3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11965D-A506-5BA2-A485-8A9F57EF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11</a:t>
            </a:fld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196CA08-D92C-00A2-BD8F-58C21CFFB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3847"/>
            <a:ext cx="9144000" cy="443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81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B04A0-7347-9471-619A-6E85BDB7F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AE9AA4B4-BF51-2D6A-7CDC-893052EE6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11820"/>
              </p:ext>
            </p:extLst>
          </p:nvPr>
        </p:nvGraphicFramePr>
        <p:xfrm>
          <a:off x="1229718" y="1574319"/>
          <a:ext cx="6684563" cy="37093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51944">
                  <a:extLst>
                    <a:ext uri="{9D8B030D-6E8A-4147-A177-3AD203B41FA5}">
                      <a16:colId xmlns:a16="http://schemas.microsoft.com/office/drawing/2014/main" val="3832744517"/>
                    </a:ext>
                  </a:extLst>
                </a:gridCol>
                <a:gridCol w="3332619">
                  <a:extLst>
                    <a:ext uri="{9D8B030D-6E8A-4147-A177-3AD203B41FA5}">
                      <a16:colId xmlns:a16="http://schemas.microsoft.com/office/drawing/2014/main" val="1880886915"/>
                    </a:ext>
                  </a:extLst>
                </a:gridCol>
              </a:tblGrid>
              <a:tr h="2740497">
                <a:tc rowSpan="2">
                  <a:txBody>
                    <a:bodyPr/>
                    <a:lstStyle/>
                    <a:p>
                      <a:pPr algn="ctr"/>
                      <a:r>
                        <a:rPr lang="es-ES" sz="1800">
                          <a:latin typeface="+mj-lt"/>
                        </a:rPr>
                        <a:t>ASSETS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>
                          <a:latin typeface="+mj-lt"/>
                        </a:rPr>
                        <a:t>EQUITY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902822"/>
                  </a:ext>
                </a:extLst>
              </a:tr>
              <a:tr h="96886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>
                          <a:latin typeface="+mj-lt"/>
                        </a:rPr>
                        <a:t>LIABILITIES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602672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6F8C43B-C92C-C892-7551-2A96A9475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392907"/>
              </p:ext>
            </p:extLst>
          </p:nvPr>
        </p:nvGraphicFramePr>
        <p:xfrm>
          <a:off x="4739034" y="2214537"/>
          <a:ext cx="2990626" cy="1295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90626">
                  <a:extLst>
                    <a:ext uri="{9D8B030D-6E8A-4147-A177-3AD203B41FA5}">
                      <a16:colId xmlns:a16="http://schemas.microsoft.com/office/drawing/2014/main" val="1880886915"/>
                    </a:ext>
                  </a:extLst>
                </a:gridCol>
              </a:tblGrid>
              <a:tr h="377996">
                <a:tc>
                  <a:txBody>
                    <a:bodyPr/>
                    <a:lstStyle/>
                    <a:p>
                      <a:pPr algn="ctr"/>
                      <a:r>
                        <a:rPr lang="es-ES">
                          <a:solidFill>
                            <a:schemeClr val="bg1"/>
                          </a:solidFill>
                          <a:latin typeface="+mj-lt"/>
                        </a:rPr>
                        <a:t>REVENUES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164205"/>
                  </a:ext>
                </a:extLst>
              </a:tr>
              <a:tr h="377996">
                <a:tc>
                  <a:txBody>
                    <a:bodyPr/>
                    <a:lstStyle/>
                    <a:p>
                      <a:pPr algn="ctr"/>
                      <a:r>
                        <a:rPr lang="es-ES">
                          <a:solidFill>
                            <a:schemeClr val="bg1"/>
                          </a:solidFill>
                          <a:latin typeface="+mj-lt"/>
                        </a:rPr>
                        <a:t>EXPENDITURES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622549"/>
                  </a:ext>
                </a:extLst>
              </a:tr>
              <a:tr h="540004">
                <a:tc>
                  <a:txBody>
                    <a:bodyPr/>
                    <a:lstStyle/>
                    <a:p>
                      <a:pPr algn="ctr"/>
                      <a:r>
                        <a:rPr lang="es-ES">
                          <a:latin typeface="+mj-lt"/>
                        </a:rPr>
                        <a:t>NET PROFIT OR LOSS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902822"/>
                  </a:ext>
                </a:extLst>
              </a:tr>
            </a:tbl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401B6862-F9F9-D2D4-EBE4-89AE9D1B3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s-ES" sz="3200" err="1"/>
              <a:t>Income</a:t>
            </a:r>
            <a:r>
              <a:rPr lang="es-ES" sz="3200"/>
              <a:t> </a:t>
            </a:r>
            <a:r>
              <a:rPr lang="es-ES" sz="3200" err="1"/>
              <a:t>Statement</a:t>
            </a:r>
            <a:endParaRPr lang="es-ES" sz="32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15F230-A2BC-2FC5-8879-D172719477E2}"/>
              </a:ext>
            </a:extLst>
          </p:cNvPr>
          <p:cNvSpPr txBox="1"/>
          <p:nvPr/>
        </p:nvSpPr>
        <p:spPr>
          <a:xfrm>
            <a:off x="2005444" y="5484362"/>
            <a:ext cx="51331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Expense: a </a:t>
            </a:r>
            <a:r>
              <a:rPr lang="es-ES" err="1"/>
              <a:t>decrease</a:t>
            </a:r>
            <a:r>
              <a:rPr lang="es-ES"/>
              <a:t> in </a:t>
            </a:r>
            <a:r>
              <a:rPr lang="es-ES" err="1"/>
              <a:t>equity</a:t>
            </a:r>
            <a:r>
              <a:rPr lang="es-ES"/>
              <a:t> (value) that is not due to </a:t>
            </a:r>
            <a:r>
              <a:rPr lang="es-ES" err="1"/>
              <a:t>distributions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owners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224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BCC19-17C0-6430-3DD1-DB70FF7C6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E75FF4-4954-AADF-AD22-E2C9F1A49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13</a:t>
            </a:fld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BDC6A8F-9AEB-FAA9-7557-B1AC8ACB1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449"/>
            <a:ext cx="9144000" cy="570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97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4C651-6862-4942-C153-E1A6F28CC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D967A7-6EC6-A541-F76B-EB7049C2F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14</a:t>
            </a:fld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AAA61E-1D05-631C-ED3D-B397C5CD9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3222"/>
            <a:ext cx="9144000" cy="553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22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/>
              <a:t>Corporate income tax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ES" sz="1800"/>
              <a:t>Law 27/2014 of 27 December 2014 on corporate taxation</a:t>
            </a:r>
          </a:p>
          <a:p>
            <a:pPr>
              <a:lnSpc>
                <a:spcPct val="100000"/>
              </a:lnSpc>
            </a:pPr>
            <a:r>
              <a:rPr lang="es-ES" sz="1800"/>
              <a:t>It taxes corporate income directly and personally.</a:t>
            </a:r>
          </a:p>
          <a:p>
            <a:pPr>
              <a:lnSpc>
                <a:spcPct val="100000"/>
              </a:lnSpc>
            </a:pPr>
            <a:r>
              <a:rPr lang="es-ES" sz="1800" err="1"/>
              <a:t>Taxable</a:t>
            </a:r>
            <a:r>
              <a:rPr lang="es-ES" sz="1800"/>
              <a:t> base: </a:t>
            </a:r>
            <a:r>
              <a:rPr lang="es-ES" sz="1800" err="1"/>
              <a:t>earnings</a:t>
            </a:r>
            <a:endParaRPr lang="es-ES" sz="1800"/>
          </a:p>
          <a:p>
            <a:pPr>
              <a:lnSpc>
                <a:spcPct val="100000"/>
              </a:lnSpc>
            </a:pPr>
            <a:r>
              <a:rPr lang="es-ES" sz="1800" err="1"/>
              <a:t>Adjustment</a:t>
            </a:r>
            <a:r>
              <a:rPr lang="es-ES" sz="1800"/>
              <a:t> </a:t>
            </a:r>
            <a:r>
              <a:rPr lang="es-ES" sz="1800" err="1"/>
              <a:t>of</a:t>
            </a:r>
            <a:r>
              <a:rPr lang="es-ES" sz="1800"/>
              <a:t> </a:t>
            </a:r>
            <a:r>
              <a:rPr lang="es-ES" err="1"/>
              <a:t>differences</a:t>
            </a:r>
            <a:r>
              <a:rPr lang="es-ES"/>
              <a:t> </a:t>
            </a:r>
            <a:r>
              <a:rPr lang="es-ES" err="1"/>
              <a:t>between</a:t>
            </a:r>
            <a:r>
              <a:rPr lang="es-ES"/>
              <a:t> </a:t>
            </a:r>
            <a:r>
              <a:rPr lang="es-ES" sz="1800" err="1"/>
              <a:t>accounting</a:t>
            </a:r>
            <a:r>
              <a:rPr lang="es-ES" sz="1800"/>
              <a:t> and </a:t>
            </a:r>
            <a:r>
              <a:rPr lang="es-ES" sz="1800" err="1"/>
              <a:t>taxation</a:t>
            </a:r>
            <a:endParaRPr lang="es-ES" sz="1800"/>
          </a:p>
          <a:p>
            <a:pPr lvl="1">
              <a:lnSpc>
                <a:spcPct val="100000"/>
              </a:lnSpc>
            </a:pPr>
            <a:r>
              <a:rPr lang="es-ES" sz="1800"/>
              <a:t>Permanent: no impact on future tax burden.</a:t>
            </a:r>
          </a:p>
          <a:p>
            <a:pPr lvl="1">
              <a:lnSpc>
                <a:spcPct val="100000"/>
              </a:lnSpc>
            </a:pPr>
            <a:r>
              <a:rPr lang="es-ES" sz="1800"/>
              <a:t>Temporary: with an impact on the future tax burden.</a:t>
            </a:r>
          </a:p>
          <a:p>
            <a:pPr lvl="1">
              <a:lnSpc>
                <a:spcPct val="100000"/>
              </a:lnSpc>
            </a:pPr>
            <a:r>
              <a:rPr lang="es-ES" sz="1800"/>
              <a:t>Deduction </a:t>
            </a:r>
            <a:r>
              <a:rPr lang="es-ES" sz="1800" err="1"/>
              <a:t>for</a:t>
            </a:r>
            <a:r>
              <a:rPr lang="es-ES" sz="1800"/>
              <a:t> </a:t>
            </a:r>
            <a:r>
              <a:rPr lang="es-ES" sz="1800" err="1"/>
              <a:t>losses</a:t>
            </a:r>
            <a:r>
              <a:rPr lang="es-ES" sz="1800"/>
              <a:t> from previous years.</a:t>
            </a:r>
          </a:p>
          <a:p>
            <a:pPr>
              <a:lnSpc>
                <a:spcPct val="100000"/>
              </a:lnSpc>
            </a:pPr>
            <a:r>
              <a:rPr lang="es-ES" sz="1800"/>
              <a:t>Deductions and </a:t>
            </a:r>
            <a:r>
              <a:rPr lang="es-ES" sz="1800" err="1"/>
              <a:t>credits</a:t>
            </a:r>
            <a:r>
              <a:rPr lang="es-ES" sz="1800"/>
              <a:t> (4742).</a:t>
            </a:r>
          </a:p>
          <a:p>
            <a:pPr>
              <a:lnSpc>
                <a:spcPct val="100000"/>
              </a:lnSpc>
            </a:pPr>
            <a:r>
              <a:rPr lang="es-ES" err="1"/>
              <a:t>Withholdings</a:t>
            </a:r>
            <a:r>
              <a:rPr lang="es-ES"/>
              <a:t> and </a:t>
            </a:r>
            <a:r>
              <a:rPr lang="es-ES" err="1"/>
              <a:t>payments</a:t>
            </a:r>
            <a:r>
              <a:rPr lang="es-ES"/>
              <a:t> </a:t>
            </a:r>
            <a:r>
              <a:rPr lang="es-ES" err="1"/>
              <a:t>on</a:t>
            </a:r>
            <a:r>
              <a:rPr lang="es-ES"/>
              <a:t> </a:t>
            </a:r>
            <a:r>
              <a:rPr lang="es-ES" err="1"/>
              <a:t>account</a:t>
            </a:r>
            <a:r>
              <a:rPr lang="es-ES"/>
              <a:t> (473).</a:t>
            </a:r>
          </a:p>
          <a:p>
            <a:pPr>
              <a:lnSpc>
                <a:spcPct val="100000"/>
              </a:lnSpc>
            </a:pPr>
            <a:endParaRPr lang="es-ES" sz="1800"/>
          </a:p>
          <a:p>
            <a:pPr marL="0" indent="0">
              <a:lnSpc>
                <a:spcPct val="100000"/>
              </a:lnSpc>
              <a:buNone/>
            </a:pPr>
            <a:r>
              <a:rPr lang="en-US" sz="1600"/>
              <a:t>Deferred tax results in the recognition of deferred tax assets or liabilities. </a:t>
            </a:r>
          </a:p>
        </p:txBody>
      </p:sp>
    </p:spTree>
    <p:extLst>
      <p:ext uri="{BB962C8B-B14F-4D97-AF65-F5344CB8AC3E}">
        <p14:creationId xmlns:p14="http://schemas.microsoft.com/office/powerpoint/2010/main" val="3386124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8AAAE-43CE-E897-FEE0-02B7DEA77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7118AA-9A80-790A-AB91-A4AFB377F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err="1"/>
              <a:t>Withholdings</a:t>
            </a:r>
            <a:r>
              <a:rPr lang="es-ES"/>
              <a:t> and </a:t>
            </a:r>
            <a:r>
              <a:rPr lang="es-ES" err="1"/>
              <a:t>payments</a:t>
            </a:r>
            <a:r>
              <a:rPr lang="es-ES"/>
              <a:t> </a:t>
            </a:r>
            <a:r>
              <a:rPr lang="es-ES" err="1"/>
              <a:t>on</a:t>
            </a:r>
            <a:r>
              <a:rPr lang="es-ES"/>
              <a:t> </a:t>
            </a:r>
            <a:r>
              <a:rPr lang="es-ES" err="1"/>
              <a:t>account</a:t>
            </a:r>
            <a:r>
              <a:rPr lang="es-ES"/>
              <a:t> (473)</a:t>
            </a:r>
            <a:endParaRPr lang="es-ES" sz="32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416648-15B8-9A30-4F79-27B036534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/>
              <a:t>Prepayments made during the year to the tax authorities.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/>
              <a:t>These payments are </a:t>
            </a:r>
            <a:r>
              <a:rPr lang="en-US" err="1"/>
              <a:t>recognised</a:t>
            </a:r>
            <a:r>
              <a:rPr lang="en-US"/>
              <a:t> as an asset for the company, because they reduce the amount owed.</a:t>
            </a:r>
            <a:endParaRPr lang="en-US" sz="1800"/>
          </a:p>
          <a:p>
            <a:pPr marL="0" indent="0">
              <a:lnSpc>
                <a:spcPct val="100000"/>
              </a:lnSpc>
              <a:buNone/>
            </a:pPr>
            <a:r>
              <a:rPr lang="en-US"/>
              <a:t>At the end of the year, these amounts can be adjusted against the final tax liability.</a:t>
            </a:r>
          </a:p>
          <a:p>
            <a:pPr marL="0" indent="0">
              <a:lnSpc>
                <a:spcPct val="100000"/>
              </a:lnSpc>
              <a:buNone/>
            </a:pPr>
            <a:endParaRPr lang="es-ES" sz="1800"/>
          </a:p>
          <a:p>
            <a:pPr marL="0" indent="0">
              <a:lnSpc>
                <a:spcPct val="100000"/>
              </a:lnSpc>
              <a:buNone/>
            </a:pPr>
            <a:endParaRPr lang="es-ES" sz="1800"/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s-ES" err="1"/>
              <a:t>Withholdings</a:t>
            </a:r>
            <a:r>
              <a:rPr lang="es-ES"/>
              <a:t> and </a:t>
            </a:r>
            <a:r>
              <a:rPr lang="es-ES" err="1"/>
              <a:t>payments</a:t>
            </a:r>
            <a:r>
              <a:rPr lang="es-ES"/>
              <a:t> </a:t>
            </a:r>
            <a:r>
              <a:rPr lang="es-ES" err="1"/>
              <a:t>on</a:t>
            </a:r>
            <a:r>
              <a:rPr lang="es-ES"/>
              <a:t> </a:t>
            </a:r>
            <a:r>
              <a:rPr lang="es-ES" err="1"/>
              <a:t>account</a:t>
            </a:r>
            <a:r>
              <a:rPr lang="es-ES"/>
              <a:t> (473): €5,000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lphaLcParenR"/>
            </a:pPr>
            <a:r>
              <a:rPr lang="es-ES" err="1"/>
              <a:t>Taxable</a:t>
            </a:r>
            <a:r>
              <a:rPr lang="es-ES"/>
              <a:t> base: €25,000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lphaLcParenR"/>
            </a:pPr>
            <a:r>
              <a:rPr lang="es-ES" err="1"/>
              <a:t>Taxable</a:t>
            </a:r>
            <a:r>
              <a:rPr lang="es-ES"/>
              <a:t> base: €6,000</a:t>
            </a:r>
          </a:p>
        </p:txBody>
      </p:sp>
    </p:spTree>
    <p:extLst>
      <p:ext uri="{BB962C8B-B14F-4D97-AF65-F5344CB8AC3E}">
        <p14:creationId xmlns:p14="http://schemas.microsoft.com/office/powerpoint/2010/main" val="3226236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A93D0-8EF8-4D64-8857-F9CE5421C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F1D82-1D4F-1E5B-C229-555D7497D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/>
              <a:t>Rights to tax deductions and credits pending application </a:t>
            </a:r>
            <a:r>
              <a:rPr lang="es-ES"/>
              <a:t>(4742)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7A3667-DE0D-77D2-75DF-67B3DD3C5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/>
              <a:t>This amount is subtracted from the gross tax to determine net tax.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/>
              <a:t>Companies may have rights to tax deductions and credits pending application:</a:t>
            </a:r>
          </a:p>
          <a:p>
            <a:pPr>
              <a:lnSpc>
                <a:spcPct val="100000"/>
              </a:lnSpc>
            </a:pPr>
            <a:r>
              <a:rPr lang="en-US"/>
              <a:t>International double taxation: when taxable income includes dividends or shares in the profits of foreign companies.</a:t>
            </a:r>
          </a:p>
          <a:p>
            <a:pPr>
              <a:lnSpc>
                <a:spcPct val="100000"/>
              </a:lnSpc>
            </a:pPr>
            <a:r>
              <a:rPr lang="en-US"/>
              <a:t>General tax incentives: local public services, domiciliation of companies (Ceuta and Melilla), etc.</a:t>
            </a:r>
          </a:p>
          <a:p>
            <a:pPr>
              <a:lnSpc>
                <a:spcPct val="100000"/>
              </a:lnSpc>
            </a:pPr>
            <a:r>
              <a:rPr lang="en-US"/>
              <a:t>To encourage activities: R&amp;D&amp;I, film production, job creation, etc.</a:t>
            </a:r>
          </a:p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 marL="342900" indent="-342900">
              <a:lnSpc>
                <a:spcPct val="100000"/>
              </a:lnSpc>
              <a:buFont typeface="+mj-lt"/>
              <a:buAutoNum type="arabicPeriod" startAt="2"/>
            </a:pPr>
            <a:r>
              <a:rPr lang="es-ES"/>
              <a:t>In 2020, </a:t>
            </a:r>
            <a:r>
              <a:rPr lang="es-ES" err="1"/>
              <a:t>payments</a:t>
            </a:r>
            <a:r>
              <a:rPr lang="es-ES"/>
              <a:t> </a:t>
            </a:r>
            <a:r>
              <a:rPr lang="es-ES" err="1"/>
              <a:t>on</a:t>
            </a:r>
            <a:r>
              <a:rPr lang="es-ES"/>
              <a:t> </a:t>
            </a:r>
            <a:r>
              <a:rPr lang="es-ES" err="1"/>
              <a:t>account</a:t>
            </a:r>
            <a:r>
              <a:rPr lang="es-ES"/>
              <a:t> (473): €4,000; </a:t>
            </a:r>
            <a:r>
              <a:rPr lang="es-ES" err="1"/>
              <a:t>Taxable</a:t>
            </a:r>
            <a:r>
              <a:rPr lang="es-ES"/>
              <a:t> base: €32,000; </a:t>
            </a:r>
            <a:r>
              <a:rPr lang="es-ES" err="1"/>
              <a:t>Deduction</a:t>
            </a:r>
            <a:r>
              <a:rPr lang="es-ES"/>
              <a:t> (</a:t>
            </a:r>
            <a:r>
              <a:rPr lang="en-US"/>
              <a:t>R&amp;D&amp;I</a:t>
            </a:r>
            <a:r>
              <a:rPr lang="es-ES"/>
              <a:t>): €3,000 </a:t>
            </a:r>
            <a:r>
              <a:rPr lang="es-ES" err="1"/>
              <a:t>limited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25% </a:t>
            </a:r>
            <a:r>
              <a:rPr lang="es-ES" err="1"/>
              <a:t>of</a:t>
            </a:r>
            <a:r>
              <a:rPr lang="es-ES"/>
              <a:t> </a:t>
            </a:r>
            <a:r>
              <a:rPr lang="es-ES" err="1"/>
              <a:t>gross</a:t>
            </a:r>
            <a:r>
              <a:rPr lang="es-ES"/>
              <a:t> </a:t>
            </a:r>
            <a:r>
              <a:rPr lang="es-ES" err="1"/>
              <a:t>tax</a:t>
            </a:r>
            <a:r>
              <a:rPr lang="es-ES"/>
              <a:t>.</a:t>
            </a:r>
          </a:p>
          <a:p>
            <a:pPr marL="361950" indent="0">
              <a:lnSpc>
                <a:spcPct val="100000"/>
              </a:lnSpc>
              <a:buNone/>
            </a:pPr>
            <a:r>
              <a:rPr lang="es-ES"/>
              <a:t>In 2021, </a:t>
            </a:r>
            <a:r>
              <a:rPr lang="es-ES" err="1"/>
              <a:t>payments</a:t>
            </a:r>
            <a:r>
              <a:rPr lang="es-ES"/>
              <a:t> </a:t>
            </a:r>
            <a:r>
              <a:rPr lang="es-ES" err="1"/>
              <a:t>on</a:t>
            </a:r>
            <a:r>
              <a:rPr lang="es-ES"/>
              <a:t> </a:t>
            </a:r>
            <a:r>
              <a:rPr lang="es-ES" err="1"/>
              <a:t>account</a:t>
            </a:r>
            <a:r>
              <a:rPr lang="es-ES"/>
              <a:t> (473): €12,000; </a:t>
            </a:r>
            <a:r>
              <a:rPr lang="es-ES" err="1"/>
              <a:t>Taxable</a:t>
            </a:r>
            <a:r>
              <a:rPr lang="es-ES"/>
              <a:t> base: €32,000; </a:t>
            </a:r>
            <a:r>
              <a:rPr lang="es-ES" err="1"/>
              <a:t>Deduction</a:t>
            </a:r>
            <a:r>
              <a:rPr lang="es-ES"/>
              <a:t> (</a:t>
            </a:r>
            <a:r>
              <a:rPr lang="en-US"/>
              <a:t>R&amp;D&amp;I</a:t>
            </a:r>
            <a:r>
              <a:rPr lang="es-ES"/>
              <a:t>): €500 </a:t>
            </a:r>
          </a:p>
        </p:txBody>
      </p:sp>
    </p:spTree>
    <p:extLst>
      <p:ext uri="{BB962C8B-B14F-4D97-AF65-F5344CB8AC3E}">
        <p14:creationId xmlns:p14="http://schemas.microsoft.com/office/powerpoint/2010/main" val="1924007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96DA6-C37F-6EEE-D8D6-DACF2DCC8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61AB8-C442-0AA7-90F5-C65A569A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/>
              <a:t>Tax loss carryforwards </a:t>
            </a:r>
            <a:r>
              <a:rPr lang="es-ES"/>
              <a:t>(4745)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7E0865-3248-9A89-A9BA-D87BFC6AA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/>
              <a:t>The right to consider losses from previous years.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/>
              <a:t>Apply rate for calculating deferred tax.</a:t>
            </a:r>
          </a:p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 marL="342900" indent="-342900">
              <a:lnSpc>
                <a:spcPct val="100000"/>
              </a:lnSpc>
              <a:buFont typeface="+mj-lt"/>
              <a:buAutoNum type="arabicPeriod" startAt="3"/>
            </a:pPr>
            <a:r>
              <a:rPr lang="es-ES"/>
              <a:t>In 2023, </a:t>
            </a:r>
            <a:r>
              <a:rPr lang="es-ES" err="1"/>
              <a:t>Withholdings</a:t>
            </a:r>
            <a:r>
              <a:rPr lang="es-ES"/>
              <a:t> and </a:t>
            </a:r>
            <a:r>
              <a:rPr lang="es-ES" err="1"/>
              <a:t>payments</a:t>
            </a:r>
            <a:r>
              <a:rPr lang="es-ES"/>
              <a:t> </a:t>
            </a:r>
            <a:r>
              <a:rPr lang="es-ES" err="1"/>
              <a:t>on</a:t>
            </a:r>
            <a:r>
              <a:rPr lang="es-ES"/>
              <a:t> </a:t>
            </a:r>
            <a:r>
              <a:rPr lang="es-ES" err="1"/>
              <a:t>account</a:t>
            </a:r>
            <a:r>
              <a:rPr lang="es-ES"/>
              <a:t> (473): €2,000; </a:t>
            </a:r>
            <a:r>
              <a:rPr lang="es-ES" err="1"/>
              <a:t>Taxable</a:t>
            </a:r>
            <a:r>
              <a:rPr lang="es-ES"/>
              <a:t> base: €-6,000</a:t>
            </a:r>
          </a:p>
          <a:p>
            <a:pPr marL="361950" indent="0">
              <a:lnSpc>
                <a:spcPct val="100000"/>
              </a:lnSpc>
              <a:buNone/>
            </a:pPr>
            <a:r>
              <a:rPr lang="es-ES"/>
              <a:t>In 2024, </a:t>
            </a:r>
            <a:r>
              <a:rPr lang="es-ES" err="1"/>
              <a:t>Earnings</a:t>
            </a:r>
            <a:r>
              <a:rPr lang="es-ES"/>
              <a:t> </a:t>
            </a:r>
            <a:r>
              <a:rPr lang="es-ES" err="1"/>
              <a:t>before</a:t>
            </a:r>
            <a:r>
              <a:rPr lang="es-ES"/>
              <a:t> </a:t>
            </a:r>
            <a:r>
              <a:rPr lang="es-ES" err="1"/>
              <a:t>taxes</a:t>
            </a:r>
            <a:r>
              <a:rPr lang="es-ES"/>
              <a:t>:</a:t>
            </a:r>
          </a:p>
          <a:p>
            <a:pPr marL="361950" indent="0">
              <a:lnSpc>
                <a:spcPct val="100000"/>
              </a:lnSpc>
              <a:buNone/>
            </a:pPr>
            <a:r>
              <a:rPr lang="es-ES"/>
              <a:t>	a) €20,000</a:t>
            </a:r>
          </a:p>
          <a:p>
            <a:pPr marL="361950" indent="0">
              <a:lnSpc>
                <a:spcPct val="100000"/>
              </a:lnSpc>
              <a:buNone/>
            </a:pPr>
            <a:r>
              <a:rPr lang="es-ES"/>
              <a:t>	b) €5,000</a:t>
            </a:r>
          </a:p>
          <a:p>
            <a:pPr marL="361950" indent="0">
              <a:lnSpc>
                <a:spcPct val="100000"/>
              </a:lnSpc>
              <a:buNone/>
            </a:pPr>
            <a:r>
              <a:rPr lang="es-ES"/>
              <a:t>	c) €-5,000 </a:t>
            </a:r>
          </a:p>
        </p:txBody>
      </p:sp>
    </p:spTree>
    <p:extLst>
      <p:ext uri="{BB962C8B-B14F-4D97-AF65-F5344CB8AC3E}">
        <p14:creationId xmlns:p14="http://schemas.microsoft.com/office/powerpoint/2010/main" val="1007362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err="1"/>
              <a:t>Permanent</a:t>
            </a:r>
            <a:r>
              <a:rPr lang="es-ES" sz="3200"/>
              <a:t> </a:t>
            </a:r>
            <a:r>
              <a:rPr lang="es-ES" sz="3200" err="1"/>
              <a:t>differences</a:t>
            </a:r>
            <a:endParaRPr lang="es-ES" sz="320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ES" err="1"/>
              <a:t>Items</a:t>
            </a:r>
            <a:r>
              <a:rPr lang="es-ES"/>
              <a:t> </a:t>
            </a:r>
            <a:r>
              <a:rPr lang="es-ES" err="1"/>
              <a:t>recognised</a:t>
            </a:r>
            <a:r>
              <a:rPr lang="es-ES"/>
              <a:t> in </a:t>
            </a:r>
            <a:r>
              <a:rPr lang="es-ES" err="1"/>
              <a:t>accounting</a:t>
            </a:r>
            <a:r>
              <a:rPr lang="es-ES"/>
              <a:t> </a:t>
            </a:r>
            <a:r>
              <a:rPr lang="es-ES" err="1"/>
              <a:t>that</a:t>
            </a:r>
            <a:r>
              <a:rPr lang="es-ES"/>
              <a:t> are </a:t>
            </a:r>
            <a:r>
              <a:rPr lang="es-ES" err="1"/>
              <a:t>not</a:t>
            </a:r>
            <a:r>
              <a:rPr lang="es-ES"/>
              <a:t> </a:t>
            </a:r>
            <a:r>
              <a:rPr lang="es-ES" err="1"/>
              <a:t>taxable</a:t>
            </a:r>
            <a:r>
              <a:rPr lang="es-ES"/>
              <a:t>/deductible and </a:t>
            </a:r>
            <a:r>
              <a:rPr lang="es-ES" b="1" err="1"/>
              <a:t>will</a:t>
            </a:r>
            <a:r>
              <a:rPr lang="es-ES" b="1"/>
              <a:t> </a:t>
            </a:r>
            <a:r>
              <a:rPr lang="es-ES" b="1" err="1"/>
              <a:t>not</a:t>
            </a:r>
            <a:r>
              <a:rPr lang="es-ES" b="1"/>
              <a:t> reverse </a:t>
            </a:r>
            <a:r>
              <a:rPr lang="es-ES"/>
              <a:t>in future </a:t>
            </a:r>
            <a:r>
              <a:rPr lang="es-ES" err="1"/>
              <a:t>periods</a:t>
            </a:r>
            <a:r>
              <a:rPr lang="es-ES"/>
              <a:t>.</a:t>
            </a:r>
          </a:p>
          <a:p>
            <a:pPr>
              <a:lnSpc>
                <a:spcPct val="100000"/>
              </a:lnSpc>
            </a:pPr>
            <a:r>
              <a:rPr lang="es-ES" sz="1800"/>
              <a:t>LIS art. 15:</a:t>
            </a:r>
          </a:p>
          <a:p>
            <a:pPr lvl="1">
              <a:lnSpc>
                <a:spcPct val="100000"/>
              </a:lnSpc>
            </a:pPr>
            <a:r>
              <a:rPr lang="es-ES" sz="1800" err="1"/>
              <a:t>Payments</a:t>
            </a:r>
            <a:r>
              <a:rPr lang="es-ES" sz="1800"/>
              <a:t> </a:t>
            </a:r>
            <a:r>
              <a:rPr lang="es-ES" sz="1800" err="1"/>
              <a:t>from</a:t>
            </a:r>
            <a:r>
              <a:rPr lang="es-ES" sz="1800"/>
              <a:t> </a:t>
            </a:r>
            <a:r>
              <a:rPr lang="es-ES" sz="1800" err="1"/>
              <a:t>equity</a:t>
            </a:r>
            <a:r>
              <a:rPr lang="es-ES" sz="1800"/>
              <a:t> (i.e. </a:t>
            </a:r>
            <a:r>
              <a:rPr lang="es-ES" sz="1800" err="1"/>
              <a:t>dividends</a:t>
            </a:r>
            <a:r>
              <a:rPr lang="es-ES" sz="1800"/>
              <a:t>).</a:t>
            </a:r>
          </a:p>
          <a:p>
            <a:pPr lvl="1">
              <a:lnSpc>
                <a:spcPct val="100000"/>
              </a:lnSpc>
            </a:pPr>
            <a:r>
              <a:rPr lang="es-ES" sz="1800"/>
              <a:t>Fines and penalties.</a:t>
            </a:r>
          </a:p>
          <a:p>
            <a:pPr lvl="1">
              <a:lnSpc>
                <a:spcPct val="100000"/>
              </a:lnSpc>
            </a:pPr>
            <a:r>
              <a:rPr lang="es-ES" sz="1800"/>
              <a:t>Game losses.</a:t>
            </a:r>
          </a:p>
          <a:p>
            <a:pPr lvl="1">
              <a:lnSpc>
                <a:spcPct val="100000"/>
              </a:lnSpc>
            </a:pPr>
            <a:r>
              <a:rPr lang="es-ES" sz="1800"/>
              <a:t>Donations and </a:t>
            </a:r>
            <a:r>
              <a:rPr lang="es-ES" sz="1800" err="1"/>
              <a:t>gifts</a:t>
            </a:r>
            <a:r>
              <a:rPr lang="es-ES"/>
              <a:t> (</a:t>
            </a:r>
            <a:r>
              <a:rPr lang="es-ES" sz="1800"/>
              <a:t>deductible up to 1% </a:t>
            </a:r>
            <a:r>
              <a:rPr lang="es-ES" sz="1800" err="1"/>
              <a:t>of</a:t>
            </a:r>
            <a:r>
              <a:rPr lang="es-ES" sz="1800"/>
              <a:t> </a:t>
            </a:r>
            <a:r>
              <a:rPr lang="es-ES" sz="1800" err="1"/>
              <a:t>revenue</a:t>
            </a:r>
            <a:r>
              <a:rPr lang="es-ES"/>
              <a:t>).</a:t>
            </a:r>
            <a:endParaRPr lang="es-ES" sz="1800"/>
          </a:p>
          <a:p>
            <a:pPr lvl="1">
              <a:lnSpc>
                <a:spcPct val="100000"/>
              </a:lnSpc>
            </a:pPr>
            <a:r>
              <a:rPr lang="es-ES" sz="1800"/>
              <a:t>Expenditure on actions contrary to the legal order.</a:t>
            </a:r>
          </a:p>
          <a:p>
            <a:pPr>
              <a:lnSpc>
                <a:spcPct val="100000"/>
              </a:lnSpc>
            </a:pPr>
            <a:r>
              <a:rPr lang="es-ES" sz="1800"/>
              <a:t>LIS art. 21:</a:t>
            </a:r>
            <a:r>
              <a:rPr lang="es-ES"/>
              <a:t> </a:t>
            </a:r>
            <a:r>
              <a:rPr lang="es-ES" sz="1800" err="1"/>
              <a:t>Profit</a:t>
            </a:r>
            <a:r>
              <a:rPr lang="es-ES" sz="1800"/>
              <a:t> shares in entities with a </a:t>
            </a:r>
            <a:r>
              <a:rPr lang="es-ES" sz="1800" err="1"/>
              <a:t>shareholding</a:t>
            </a:r>
            <a:r>
              <a:rPr lang="es-ES" sz="1800"/>
              <a:t> &gt; 5% and held </a:t>
            </a:r>
            <a:r>
              <a:rPr lang="es-ES" sz="1800" err="1"/>
              <a:t>for</a:t>
            </a:r>
            <a:r>
              <a:rPr lang="es-ES" sz="1800"/>
              <a:t> more </a:t>
            </a:r>
            <a:r>
              <a:rPr lang="es-ES" sz="1800" err="1"/>
              <a:t>than</a:t>
            </a:r>
            <a:r>
              <a:rPr lang="es-ES" sz="1800"/>
              <a:t> </a:t>
            </a:r>
            <a:r>
              <a:rPr lang="es-ES" sz="1800" err="1"/>
              <a:t>one</a:t>
            </a:r>
            <a:r>
              <a:rPr lang="es-ES" sz="1800"/>
              <a:t> </a:t>
            </a:r>
            <a:r>
              <a:rPr lang="es-ES" sz="1800" err="1"/>
              <a:t>year</a:t>
            </a:r>
            <a:r>
              <a:rPr lang="es-ES" sz="180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s-ES" sz="180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 startAt="4"/>
              <a:tabLst/>
              <a:defRPr/>
            </a:pPr>
            <a:r>
              <a:rPr kumimoji="0" lang="es-E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Environmental</a:t>
            </a: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fine 500€; EBT 20,000€; </a:t>
            </a:r>
            <a:r>
              <a:rPr lang="es-ES">
                <a:solidFill>
                  <a:prstClr val="black"/>
                </a:solidFill>
                <a:latin typeface="Montserrat"/>
              </a:rPr>
              <a:t>P</a:t>
            </a:r>
            <a:r>
              <a:rPr kumimoji="0" lang="es-E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ayments</a:t>
            </a: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</a:t>
            </a:r>
            <a:r>
              <a:rPr kumimoji="0" lang="es-E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on</a:t>
            </a: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</a:t>
            </a:r>
            <a:r>
              <a:rPr kumimoji="0" lang="es-E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account</a:t>
            </a: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2,000€</a:t>
            </a:r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3912472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E39C4-A3DB-61DA-6474-0BCB73A76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D3A44-CF78-09C9-F38C-3AFB74DC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err="1"/>
              <a:t>Permanent</a:t>
            </a:r>
            <a:r>
              <a:rPr lang="es-ES" sz="3200"/>
              <a:t> </a:t>
            </a:r>
            <a:r>
              <a:rPr lang="es-ES" sz="3200" err="1"/>
              <a:t>differences</a:t>
            </a:r>
            <a:endParaRPr lang="es-ES" sz="32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EB9147-60DC-7148-FD00-770248E46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 startAt="5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 company owns 100% of the shares of a French subsidiary. During fiscal year 2024, it received dividends from that subsidiary amounting to €5,000.</a:t>
            </a:r>
          </a:p>
          <a:p>
            <a:pPr marL="357188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In addition, the company paid a traffic fine to the city council of €100.</a:t>
            </a:r>
          </a:p>
          <a:p>
            <a:pPr marL="357188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It also has losses from previous years amounting to €1,000.</a:t>
            </a:r>
          </a:p>
          <a:p>
            <a:pPr marL="357188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>
                <a:solidFill>
                  <a:prstClr val="black"/>
                </a:solidFill>
                <a:latin typeface="Montserrat"/>
              </a:rPr>
              <a:t>E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arnings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before tax are €29,900.</a:t>
            </a:r>
          </a:p>
          <a:p>
            <a:pPr marL="357188" lvl="0" indent="0">
              <a:lnSpc>
                <a:spcPct val="100000"/>
              </a:lnSpc>
              <a:buNone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The </a:t>
            </a:r>
            <a:r>
              <a:rPr lang="en-US">
                <a:solidFill>
                  <a:prstClr val="black"/>
                </a:solidFill>
              </a:rPr>
              <a:t>company is entitled to a tax credit for job creation of €500 and has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made tax prepayments of €3,000.</a:t>
            </a:r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826327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8B863-1E96-E381-2AB2-D80F0A299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50F7B-26C7-91DA-28AE-F95F29E3C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" err="1"/>
              <a:t>Temporary</a:t>
            </a:r>
            <a:r>
              <a:rPr lang="es-ES"/>
              <a:t> </a:t>
            </a:r>
            <a:r>
              <a:rPr lang="es-ES" err="1"/>
              <a:t>differences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05CCD7-9EA6-1D9A-EB61-7F736CE50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ES" dirty="0" err="1"/>
              <a:t>Refer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items</a:t>
            </a:r>
            <a:r>
              <a:rPr lang="es-ES" dirty="0"/>
              <a:t> </a:t>
            </a:r>
            <a:r>
              <a:rPr lang="es-ES" dirty="0" err="1"/>
              <a:t>recognised</a:t>
            </a:r>
            <a:r>
              <a:rPr lang="es-ES" dirty="0"/>
              <a:t> in </a:t>
            </a:r>
            <a:r>
              <a:rPr lang="es-ES" dirty="0" err="1"/>
              <a:t>accounting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are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taxable</a:t>
            </a:r>
            <a:r>
              <a:rPr lang="es-ES" dirty="0"/>
              <a:t> / deductible and </a:t>
            </a:r>
            <a:r>
              <a:rPr lang="es-ES" b="1" dirty="0" err="1"/>
              <a:t>will</a:t>
            </a:r>
            <a:r>
              <a:rPr lang="es-ES" b="1" dirty="0"/>
              <a:t> reverse </a:t>
            </a:r>
            <a:r>
              <a:rPr lang="es-ES" dirty="0"/>
              <a:t>in future </a:t>
            </a:r>
            <a:r>
              <a:rPr lang="es-ES" dirty="0" err="1"/>
              <a:t>periods</a:t>
            </a:r>
            <a:r>
              <a:rPr lang="es-ES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A/L arising from deductible/taxable temporary differences (4740)/(479)</a:t>
            </a:r>
            <a:endParaRPr lang="es-ES" b="1" dirty="0"/>
          </a:p>
          <a:p>
            <a:pPr>
              <a:lnSpc>
                <a:spcPct val="100000"/>
              </a:lnSpc>
            </a:pPr>
            <a:r>
              <a:rPr lang="es-ES" dirty="0"/>
              <a:t>LIS art. 13: </a:t>
            </a:r>
            <a:r>
              <a:rPr lang="es-ES" dirty="0" err="1"/>
              <a:t>Impairment</a:t>
            </a:r>
            <a:r>
              <a:rPr lang="es-ES" dirty="0"/>
              <a:t> </a:t>
            </a:r>
            <a:r>
              <a:rPr lang="es-ES" dirty="0" err="1"/>
              <a:t>losses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receivables</a:t>
            </a:r>
            <a:r>
              <a:rPr lang="es-ES" dirty="0"/>
              <a:t>. </a:t>
            </a:r>
            <a:r>
              <a:rPr lang="es-ES" dirty="0" err="1"/>
              <a:t>When</a:t>
            </a:r>
            <a:r>
              <a:rPr lang="es-ES" dirty="0"/>
              <a:t>: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lphaLcParenR"/>
            </a:pPr>
            <a:r>
              <a:rPr lang="en-US" dirty="0"/>
              <a:t>6 months have passed since the payment was due.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lphaLcParenR"/>
            </a:pPr>
            <a:r>
              <a:rPr lang="en-US" dirty="0"/>
              <a:t>The debtor has been declared bankrupt.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lphaLcParenR"/>
            </a:pPr>
            <a:r>
              <a:rPr lang="en-US" dirty="0"/>
              <a:t>The debtor is being prosecuted for misappropriation.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lphaLcParenR"/>
            </a:pPr>
            <a:r>
              <a:rPr lang="en-US" dirty="0"/>
              <a:t>The receivable has been claimed in court or is subject to judicial proceedings affecting its collection.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Cannot be deducted when related to public entities (unless under judicial proceedings), related parties (unless liquidation phase), or general provisions for customer insolvency risk.</a:t>
            </a:r>
          </a:p>
        </p:txBody>
      </p:sp>
    </p:spTree>
    <p:extLst>
      <p:ext uri="{BB962C8B-B14F-4D97-AF65-F5344CB8AC3E}">
        <p14:creationId xmlns:p14="http://schemas.microsoft.com/office/powerpoint/2010/main" val="3716902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00183-E59D-E457-B657-2B921EAAD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D0869-6A76-9039-3205-4B1357B81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" err="1"/>
              <a:t>Temporary</a:t>
            </a:r>
            <a:r>
              <a:rPr lang="es-ES"/>
              <a:t> </a:t>
            </a:r>
            <a:r>
              <a:rPr lang="es-ES" err="1"/>
              <a:t>differences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54B749-7EF6-55C5-8A41-FBCF61B72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dirty="0"/>
              <a:t>LIS art. 106: </a:t>
            </a:r>
            <a:r>
              <a:rPr lang="es-ES" dirty="0" err="1"/>
              <a:t>Financial</a:t>
            </a:r>
            <a:r>
              <a:rPr lang="es-ES" dirty="0"/>
              <a:t> leasing </a:t>
            </a:r>
            <a:r>
              <a:rPr lang="es-ES" dirty="0" err="1"/>
              <a:t>contracts</a:t>
            </a:r>
            <a:endParaRPr lang="es-ES" dirty="0"/>
          </a:p>
          <a:p>
            <a:pPr lvl="1">
              <a:lnSpc>
                <a:spcPct val="100000"/>
              </a:lnSpc>
            </a:pPr>
            <a:r>
              <a:rPr lang="en-US" dirty="0"/>
              <a:t>Applies where the lessor is a credit or financial institution.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Minimum contract duration of 2 years for movable tangible goods and 10 for real estate.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Leasing contracts must separate asset cost recovery (deductible), purchase option (excluded), and financial interests (deductible). Annual cost recovery stays constant or increases.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Only depreciable portions of assets are deductible, with limits of 2× straight-line depreciation (special taxpayers: ×1.5). Deduction applies even if not in P&amp;L.</a:t>
            </a:r>
          </a:p>
          <a:p>
            <a:pPr>
              <a:lnSpc>
                <a:spcPct val="100000"/>
              </a:lnSpc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68813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D019E-5962-51C4-C54B-FBEF2A124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F6B3C-FC8C-6CA5-E68A-3308CC31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" err="1"/>
              <a:t>Temporary</a:t>
            </a:r>
            <a:r>
              <a:rPr lang="es-ES"/>
              <a:t> </a:t>
            </a:r>
            <a:r>
              <a:rPr lang="es-ES" err="1"/>
              <a:t>differences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0481E2-3903-DDD9-9FD7-1DE359AF8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 startAt="6"/>
            </a:pPr>
            <a:r>
              <a:rPr lang="en-US"/>
              <a:t>A company applies the individualized method for customer insolvencies. During fiscal year 2024:</a:t>
            </a:r>
          </a:p>
          <a:p>
            <a:pPr marL="722313">
              <a:lnSpc>
                <a:spcPct val="100000"/>
              </a:lnSpc>
            </a:pPr>
            <a:r>
              <a:rPr lang="en-US"/>
              <a:t>Customer 1 owed €2,000 and became insolvent on April 29, 2024, but the company has not yet initiated legal proceedings to collect the debt.</a:t>
            </a:r>
          </a:p>
          <a:p>
            <a:pPr marL="722313">
              <a:lnSpc>
                <a:spcPct val="100000"/>
              </a:lnSpc>
            </a:pPr>
            <a:r>
              <a:rPr lang="en-US"/>
              <a:t>Customer 2 owed €5,000 and was declared bankrupt in October, although the bankruptcy proceedings have not yet been resolved.</a:t>
            </a:r>
          </a:p>
          <a:p>
            <a:pPr marL="722313">
              <a:lnSpc>
                <a:spcPct val="100000"/>
              </a:lnSpc>
            </a:pPr>
            <a:r>
              <a:rPr lang="en-US"/>
              <a:t>Customer 3 owed €1,000 and did not pay by November 1, 2024, and no legal action has been taken to collect the debt.</a:t>
            </a:r>
          </a:p>
          <a:p>
            <a:pPr marL="361950" indent="0">
              <a:lnSpc>
                <a:spcPct val="100000"/>
              </a:lnSpc>
              <a:buNone/>
            </a:pPr>
            <a:r>
              <a:rPr lang="en-US"/>
              <a:t>The accounting profit before tax is €15,000, and tax prepayments amount to €1,000.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2845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542C9-A4C5-704B-7A78-795E3EE20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93F86-1E3C-918D-A90B-125DCC1AF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" err="1"/>
              <a:t>Temporary</a:t>
            </a:r>
            <a:r>
              <a:rPr lang="es-ES"/>
              <a:t> </a:t>
            </a:r>
            <a:r>
              <a:rPr lang="es-ES" err="1"/>
              <a:t>differences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7C1FC3-EC42-9A36-18F0-5F7AFAA6E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 startAt="7"/>
            </a:pPr>
            <a:r>
              <a:rPr lang="en-US"/>
              <a:t>A company acquired a machine at the beginning of year 2023 for €30,000.The machine has an estimated useful life of 3 years, no residual value, and is depreciated on a straight-line basis over that period.</a:t>
            </a:r>
          </a:p>
          <a:p>
            <a:pPr marL="357188" indent="0">
              <a:lnSpc>
                <a:spcPct val="100000"/>
              </a:lnSpc>
              <a:buNone/>
            </a:pPr>
            <a:r>
              <a:rPr lang="en-US"/>
              <a:t>The company benefits from a tax incentive, allowing it to fully deduct the acquisition cost in the year of purchase.</a:t>
            </a:r>
          </a:p>
          <a:p>
            <a:pPr marL="357188" indent="0">
              <a:lnSpc>
                <a:spcPct val="100000"/>
              </a:lnSpc>
              <a:buNone/>
            </a:pPr>
            <a:r>
              <a:rPr lang="en-US"/>
              <a:t>During fiscal year 2023:</a:t>
            </a:r>
          </a:p>
          <a:p>
            <a:pPr marL="722313">
              <a:lnSpc>
                <a:spcPct val="100000"/>
              </a:lnSpc>
            </a:pPr>
            <a:r>
              <a:rPr lang="en-US"/>
              <a:t>Accounting profit before tax: €100,000</a:t>
            </a:r>
          </a:p>
          <a:p>
            <a:pPr marL="722313">
              <a:lnSpc>
                <a:spcPct val="100000"/>
              </a:lnSpc>
            </a:pPr>
            <a:r>
              <a:rPr lang="en-US"/>
              <a:t>Losses from previous years: €10,000</a:t>
            </a:r>
          </a:p>
          <a:p>
            <a:pPr marL="722313">
              <a:lnSpc>
                <a:spcPct val="100000"/>
              </a:lnSpc>
            </a:pPr>
            <a:r>
              <a:rPr lang="en-US"/>
              <a:t>Withholding and prepayments: €12,000</a:t>
            </a:r>
          </a:p>
          <a:p>
            <a:pPr marL="357188" indent="0">
              <a:lnSpc>
                <a:spcPct val="100000"/>
              </a:lnSpc>
              <a:buNone/>
            </a:pPr>
            <a:r>
              <a:rPr lang="en-US"/>
              <a:t>During fiscal year 2024:</a:t>
            </a:r>
          </a:p>
          <a:p>
            <a:pPr marL="722313">
              <a:lnSpc>
                <a:spcPct val="100000"/>
              </a:lnSpc>
            </a:pPr>
            <a:r>
              <a:rPr lang="en-US"/>
              <a:t>Accounting profit before tax: €150,000</a:t>
            </a:r>
          </a:p>
          <a:p>
            <a:pPr marL="722313">
              <a:lnSpc>
                <a:spcPct val="100000"/>
              </a:lnSpc>
            </a:pPr>
            <a:r>
              <a:rPr lang="en-US"/>
              <a:t>Prepayments: €18,000</a:t>
            </a:r>
          </a:p>
        </p:txBody>
      </p:sp>
    </p:spTree>
    <p:extLst>
      <p:ext uri="{BB962C8B-B14F-4D97-AF65-F5344CB8AC3E}">
        <p14:creationId xmlns:p14="http://schemas.microsoft.com/office/powerpoint/2010/main" val="1319511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36AA4-85BE-882D-080A-27B070961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8EB4F-A08E-3B18-F40C-6177D06D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Grants, donations and bequest received (RMS 18</a:t>
            </a:r>
            <a:r>
              <a:rPr lang="en-US" baseline="30000" dirty="0"/>
              <a:t>th</a:t>
            </a:r>
            <a:r>
              <a:rPr lang="en-US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700188-2FD4-A744-E1F8-45ACF604F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They may represent </a:t>
            </a:r>
            <a:r>
              <a:rPr lang="en-US" b="1" dirty="0"/>
              <a:t>income</a:t>
            </a:r>
            <a:r>
              <a:rPr lang="en-US" dirty="0"/>
              <a:t> in the same period as the related expense or </a:t>
            </a:r>
            <a:r>
              <a:rPr lang="en-US" b="1" dirty="0"/>
              <a:t>financing </a:t>
            </a:r>
            <a:r>
              <a:rPr lang="en-US" dirty="0"/>
              <a:t>for asset acquisition or debt cancellation.</a:t>
            </a:r>
            <a:endParaRPr lang="es-E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Refundable grants are </a:t>
            </a:r>
            <a:r>
              <a:rPr lang="en-US" dirty="0" err="1"/>
              <a:t>recognised</a:t>
            </a:r>
            <a:r>
              <a:rPr lang="en-US" dirty="0"/>
              <a:t> as liabilities until they become non-refundable.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Non-refundable</a:t>
            </a:r>
            <a:r>
              <a:rPr lang="en-US" dirty="0"/>
              <a:t> grants are first recorded as equity and later </a:t>
            </a:r>
            <a:r>
              <a:rPr lang="en-US" dirty="0" err="1"/>
              <a:t>recognised</a:t>
            </a:r>
            <a:r>
              <a:rPr lang="en-US" dirty="0"/>
              <a:t> in profit or loss in line with related expenses. When: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It has been formally granted to the company.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All conditions for receipt have been met.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There are no reasonable doubts about collection.</a:t>
            </a:r>
          </a:p>
          <a:p>
            <a:pPr>
              <a:lnSpc>
                <a:spcPct val="100000"/>
              </a:lnSpc>
            </a:pPr>
            <a:r>
              <a:rPr lang="en-US" dirty="0"/>
              <a:t>All grants are measured at the </a:t>
            </a:r>
            <a:r>
              <a:rPr lang="en-US" b="1" dirty="0"/>
              <a:t>fair value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393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D36F1-AB3C-D11E-0331-946008721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40546-DDA7-6943-DE26-C730C796A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/>
              <a:t>Grants, donations and bequest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49F5C8-F84F-1142-6645-9B85B9232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 startAt="8"/>
            </a:pPr>
            <a:r>
              <a:rPr lang="en-US"/>
              <a:t>In 2023, a company was granted a subsidy of €1,000 to cover personnel expenses incurred during the year, for hiring employees under 25 years </a:t>
            </a:r>
            <a:r>
              <a:rPr lang="en-US" err="1"/>
              <a:t>old</a:t>
            </a:r>
            <a:r>
              <a:rPr lang="en-US"/>
              <a:t>. The grant has not yet been collected.</a:t>
            </a:r>
          </a:p>
          <a:p>
            <a:pPr marL="357188" indent="0">
              <a:lnSpc>
                <a:spcPct val="100000"/>
              </a:lnSpc>
              <a:buNone/>
            </a:pPr>
            <a:r>
              <a:rPr lang="en-US"/>
              <a:t>On 31 December 2023, the company also received a grant of €3,000 in cash to partially cover, in equal parts, the employer’s social security contributions for the next two years (2024 and 2025).</a:t>
            </a:r>
          </a:p>
          <a:p>
            <a:pPr marL="357188" indent="0">
              <a:lnSpc>
                <a:spcPct val="100000"/>
              </a:lnSpc>
              <a:buNone/>
            </a:pPr>
            <a:r>
              <a:rPr lang="en-US"/>
              <a:t>The accounting earnings before taxes are €20,000 in 2023 and €22,000 in 2024.</a:t>
            </a:r>
          </a:p>
          <a:p>
            <a:pPr marL="357188" indent="0">
              <a:lnSpc>
                <a:spcPct val="100000"/>
              </a:lnSpc>
              <a:buNone/>
            </a:pPr>
            <a:r>
              <a:rPr lang="en-US"/>
              <a:t>Tax prepayments amount to €6,000 in 2023 and €2,000 in 2024.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8438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34717-529B-26FB-3414-370859E5E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4865E-840F-5B7D-44A5-1B04713AE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/>
              <a:t>Grants, donations and bequest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DA9982-39B9-407F-413E-8E3F2D23A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 startAt="9"/>
            </a:pPr>
            <a:r>
              <a:rPr lang="en-US" dirty="0"/>
              <a:t>On 31/12/2020 a company bought a machine for €19,000 and paid €1,000 transport costs, all paid in cash. The machine’s useful life is 5 years and </a:t>
            </a:r>
            <a:r>
              <a:rPr lang="en-US" dirty="0" err="1"/>
              <a:t>amortisation</a:t>
            </a:r>
            <a:r>
              <a:rPr lang="en-US" dirty="0"/>
              <a:t> is straight-line.</a:t>
            </a:r>
          </a:p>
          <a:p>
            <a:pPr marL="361950" indent="0">
              <a:lnSpc>
                <a:spcPct val="100000"/>
              </a:lnSpc>
              <a:buNone/>
            </a:pPr>
            <a:r>
              <a:rPr lang="en-US" dirty="0"/>
              <a:t>The company applied for and was granted a capital grant equal to 40% of the investment. The grantor pays half immediately and commits to pay the remaining within 6 months.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337327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jgk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</TotalTime>
  <Words>1787</Words>
  <Application>Microsoft Office PowerPoint</Application>
  <PresentationFormat>Presentación en pantalla (4:3)</PresentationFormat>
  <Paragraphs>212</Paragraphs>
  <Slides>27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3" baseType="lpstr">
      <vt:lpstr>Arial</vt:lpstr>
      <vt:lpstr>Calibri</vt:lpstr>
      <vt:lpstr>Montserrat</vt:lpstr>
      <vt:lpstr>Montserrat SemiBold</vt:lpstr>
      <vt:lpstr>Wingdings</vt:lpstr>
      <vt:lpstr>Tema de Office</vt:lpstr>
      <vt:lpstr>Unit 2 Financial Statements I</vt:lpstr>
      <vt:lpstr>Financial Statements</vt:lpstr>
      <vt:lpstr>Abbreviated annual accounts</vt:lpstr>
      <vt:lpstr>Abbreviated annual accounts</vt:lpstr>
      <vt:lpstr>Balance sheet</vt:lpstr>
      <vt:lpstr>Balance sheet</vt:lpstr>
      <vt:lpstr>Financial components</vt:lpstr>
      <vt:lpstr>Presentación de PowerPoint</vt:lpstr>
      <vt:lpstr>Presentación de PowerPoint</vt:lpstr>
      <vt:lpstr>Presentación de PowerPoint</vt:lpstr>
      <vt:lpstr>Presentación de PowerPoint</vt:lpstr>
      <vt:lpstr>Income Statement</vt:lpstr>
      <vt:lpstr>Presentación de PowerPoint</vt:lpstr>
      <vt:lpstr>Presentación de PowerPoint</vt:lpstr>
      <vt:lpstr>Corporate income tax</vt:lpstr>
      <vt:lpstr>Withholdings and payments on account (473)</vt:lpstr>
      <vt:lpstr>Rights to tax deductions and credits pending application (4742)</vt:lpstr>
      <vt:lpstr>Tax loss carryforwards (4745)</vt:lpstr>
      <vt:lpstr>Permanent differences</vt:lpstr>
      <vt:lpstr>Permanent differences</vt:lpstr>
      <vt:lpstr>Temporary differences</vt:lpstr>
      <vt:lpstr>Temporary differences</vt:lpstr>
      <vt:lpstr>Temporary differences</vt:lpstr>
      <vt:lpstr>Temporary differences</vt:lpstr>
      <vt:lpstr>Grants, donations and bequest received (RMS 18th)</vt:lpstr>
      <vt:lpstr>Grants, donations and bequest</vt:lpstr>
      <vt:lpstr>Grants, donations and bequest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, docId:E9EC07B154617142189B27290182C271</cp:keywords>
  <cp:lastModifiedBy>JORGE GALLUD CANO</cp:lastModifiedBy>
  <cp:revision>1</cp:revision>
  <dcterms:created xsi:type="dcterms:W3CDTF">2021-03-24T11:03:23Z</dcterms:created>
  <dcterms:modified xsi:type="dcterms:W3CDTF">2026-09-11T08:30:59Z</dcterms:modified>
</cp:coreProperties>
</file>