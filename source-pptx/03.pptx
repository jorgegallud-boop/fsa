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0" r:id="rId2"/>
    <p:sldId id="261" r:id="rId3"/>
    <p:sldId id="262" r:id="rId4"/>
    <p:sldId id="265" r:id="rId5"/>
    <p:sldId id="266" r:id="rId6"/>
    <p:sldId id="267" r:id="rId7"/>
    <p:sldId id="264" r:id="rId8"/>
    <p:sldId id="268" r:id="rId9"/>
    <p:sldId id="269" r:id="rId10"/>
  </p:sldIdLst>
  <p:sldSz cx="9144000" cy="6858000" type="screen4x3"/>
  <p:notesSz cx="6799263" cy="9929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FDBD31-F42D-463C-A96D-59B26F4594BD}" v="3" dt="2025-10-27T12:34:14.303"/>
    <p1510:client id="{F4A1A7EC-6064-4891-AE4D-BC7A29A73F2D}" v="61" dt="2025-10-27T09:49:34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86432" autoAdjust="0"/>
  </p:normalViewPr>
  <p:slideViewPr>
    <p:cSldViewPr snapToGrid="0">
      <p:cViewPr varScale="1">
        <p:scale>
          <a:sx n="92" d="100"/>
          <a:sy n="92" d="100"/>
        </p:scale>
        <p:origin x="22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GALLUD CANO" userId="aa07a950-3061-465d-9845-1f16ea714d1e" providerId="ADAL" clId="{652E886E-EB52-40C6-999B-D6033CDA24D2}"/>
    <pc:docChg chg="undo custSel modSld modNotesMaster modHandout">
      <pc:chgData name="JORGE GALLUD CANO" userId="aa07a950-3061-465d-9845-1f16ea714d1e" providerId="ADAL" clId="{652E886E-EB52-40C6-999B-D6033CDA24D2}" dt="2025-10-27T12:34:45.140" v="52" actId="20577"/>
      <pc:docMkLst>
        <pc:docMk/>
      </pc:docMkLst>
      <pc:sldChg chg="modSp mod">
        <pc:chgData name="JORGE GALLUD CANO" userId="aa07a950-3061-465d-9845-1f16ea714d1e" providerId="ADAL" clId="{652E886E-EB52-40C6-999B-D6033CDA24D2}" dt="2025-10-27T12:34:45.140" v="52" actId="20577"/>
        <pc:sldMkLst>
          <pc:docMk/>
          <pc:sldMk cId="3087793293" sldId="260"/>
        </pc:sldMkLst>
        <pc:spChg chg="mod">
          <ac:chgData name="JORGE GALLUD CANO" userId="aa07a950-3061-465d-9845-1f16ea714d1e" providerId="ADAL" clId="{652E886E-EB52-40C6-999B-D6033CDA24D2}" dt="2025-10-27T12:34:45.140" v="52" actId="20577"/>
          <ac:spMkLst>
            <pc:docMk/>
            <pc:sldMk cId="3087793293" sldId="260"/>
            <ac:spMk id="17" creationId="{00000000-0000-0000-0000-000000000000}"/>
          </ac:spMkLst>
        </pc:spChg>
      </pc:sldChg>
      <pc:sldChg chg="modSp mod">
        <pc:chgData name="JORGE GALLUD CANO" userId="aa07a950-3061-465d-9845-1f16ea714d1e" providerId="ADAL" clId="{652E886E-EB52-40C6-999B-D6033CDA24D2}" dt="2025-10-27T12:33:55.305" v="28" actId="404"/>
        <pc:sldMkLst>
          <pc:docMk/>
          <pc:sldMk cId="3150193090" sldId="261"/>
        </pc:sldMkLst>
        <pc:spChg chg="mod">
          <ac:chgData name="JORGE GALLUD CANO" userId="aa07a950-3061-465d-9845-1f16ea714d1e" providerId="ADAL" clId="{652E886E-EB52-40C6-999B-D6033CDA24D2}" dt="2025-10-27T12:33:55.305" v="28" actId="404"/>
          <ac:spMkLst>
            <pc:docMk/>
            <pc:sldMk cId="3150193090" sldId="261"/>
            <ac:spMk id="3" creationId="{C5C83847-FCCD-6E5A-D4D3-4DEA235D54A2}"/>
          </ac:spMkLst>
        </pc:spChg>
      </pc:sldChg>
    </pc:docChg>
  </pc:docChgLst>
  <pc:docChgLst>
    <pc:chgData name="JORGE GALLUD CANO" userId="aa07a950-3061-465d-9845-1f16ea714d1e" providerId="ADAL" clId="{D5F518D7-5D08-48A0-AE37-FAC94EDFC64E}"/>
    <pc:docChg chg="undo custSel addSld modSld sldOrd modNotesMaster modHandout">
      <pc:chgData name="JORGE GALLUD CANO" userId="aa07a950-3061-465d-9845-1f16ea714d1e" providerId="ADAL" clId="{D5F518D7-5D08-48A0-AE37-FAC94EDFC64E}" dt="2025-10-27T09:50:55.598" v="1361" actId="113"/>
      <pc:docMkLst>
        <pc:docMk/>
      </pc:docMkLst>
      <pc:sldChg chg="modSp mod">
        <pc:chgData name="JORGE GALLUD CANO" userId="aa07a950-3061-465d-9845-1f16ea714d1e" providerId="ADAL" clId="{D5F518D7-5D08-48A0-AE37-FAC94EDFC64E}" dt="2025-10-27T09:48:57.957" v="1297" actId="20577"/>
        <pc:sldMkLst>
          <pc:docMk/>
          <pc:sldMk cId="3087793293" sldId="260"/>
        </pc:sldMkLst>
        <pc:spChg chg="mod">
          <ac:chgData name="JORGE GALLUD CANO" userId="aa07a950-3061-465d-9845-1f16ea714d1e" providerId="ADAL" clId="{D5F518D7-5D08-48A0-AE37-FAC94EDFC64E}" dt="2025-10-22T21:41:51.978" v="3" actId="20577"/>
          <ac:spMkLst>
            <pc:docMk/>
            <pc:sldMk cId="3087793293" sldId="260"/>
            <ac:spMk id="17" creationId="{00000000-0000-0000-0000-000000000000}"/>
          </ac:spMkLst>
        </pc:spChg>
        <pc:spChg chg="mod">
          <ac:chgData name="JORGE GALLUD CANO" userId="aa07a950-3061-465d-9845-1f16ea714d1e" providerId="ADAL" clId="{D5F518D7-5D08-48A0-AE37-FAC94EDFC64E}" dt="2025-10-27T09:48:57.957" v="1297" actId="20577"/>
          <ac:spMkLst>
            <pc:docMk/>
            <pc:sldMk cId="3087793293" sldId="260"/>
            <ac:spMk id="18" creationId="{00000000-0000-0000-0000-000000000000}"/>
          </ac:spMkLst>
        </pc:spChg>
      </pc:sldChg>
      <pc:sldChg chg="modSp mod">
        <pc:chgData name="JORGE GALLUD CANO" userId="aa07a950-3061-465d-9845-1f16ea714d1e" providerId="ADAL" clId="{D5F518D7-5D08-48A0-AE37-FAC94EDFC64E}" dt="2025-10-27T09:50:55.598" v="1361" actId="113"/>
        <pc:sldMkLst>
          <pc:docMk/>
          <pc:sldMk cId="3150193090" sldId="261"/>
        </pc:sldMkLst>
        <pc:spChg chg="mod">
          <ac:chgData name="JORGE GALLUD CANO" userId="aa07a950-3061-465d-9845-1f16ea714d1e" providerId="ADAL" clId="{D5F518D7-5D08-48A0-AE37-FAC94EDFC64E}" dt="2025-10-22T21:41:58.975" v="13" actId="20577"/>
          <ac:spMkLst>
            <pc:docMk/>
            <pc:sldMk cId="3150193090" sldId="261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50:55.598" v="1361" actId="113"/>
          <ac:spMkLst>
            <pc:docMk/>
            <pc:sldMk cId="3150193090" sldId="261"/>
            <ac:spMk id="3" creationId="{C5C83847-FCCD-6E5A-D4D3-4DEA235D54A2}"/>
          </ac:spMkLst>
        </pc:spChg>
      </pc:sldChg>
      <pc:sldChg chg="modSp mod modNotesTx">
        <pc:chgData name="JORGE GALLUD CANO" userId="aa07a950-3061-465d-9845-1f16ea714d1e" providerId="ADAL" clId="{D5F518D7-5D08-48A0-AE37-FAC94EDFC64E}" dt="2025-10-27T09:46:18.297" v="1290" actId="20577"/>
        <pc:sldMkLst>
          <pc:docMk/>
          <pc:sldMk cId="594737123" sldId="262"/>
        </pc:sldMkLst>
        <pc:spChg chg="mod">
          <ac:chgData name="JORGE GALLUD CANO" userId="aa07a950-3061-465d-9845-1f16ea714d1e" providerId="ADAL" clId="{D5F518D7-5D08-48A0-AE37-FAC94EDFC64E}" dt="2025-10-22T21:42:15.181" v="16" actId="20577"/>
          <ac:spMkLst>
            <pc:docMk/>
            <pc:sldMk cId="594737123" sldId="262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46:18.297" v="1290" actId="20577"/>
          <ac:spMkLst>
            <pc:docMk/>
            <pc:sldMk cId="594737123" sldId="262"/>
            <ac:spMk id="3" creationId="{C5C83847-FCCD-6E5A-D4D3-4DEA235D54A2}"/>
          </ac:spMkLst>
        </pc:spChg>
      </pc:sldChg>
      <pc:sldChg chg="modSp mod modNotesTx">
        <pc:chgData name="JORGE GALLUD CANO" userId="aa07a950-3061-465d-9845-1f16ea714d1e" providerId="ADAL" clId="{D5F518D7-5D08-48A0-AE37-FAC94EDFC64E}" dt="2025-10-27T09:26:08.659" v="432" actId="20577"/>
        <pc:sldMkLst>
          <pc:docMk/>
          <pc:sldMk cId="3467514994" sldId="264"/>
        </pc:sldMkLst>
        <pc:spChg chg="mod">
          <ac:chgData name="JORGE GALLUD CANO" userId="aa07a950-3061-465d-9845-1f16ea714d1e" providerId="ADAL" clId="{D5F518D7-5D08-48A0-AE37-FAC94EDFC64E}" dt="2025-10-22T21:42:44.395" v="30" actId="20577"/>
          <ac:spMkLst>
            <pc:docMk/>
            <pc:sldMk cId="3467514994" sldId="264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26:08.659" v="432" actId="20577"/>
          <ac:spMkLst>
            <pc:docMk/>
            <pc:sldMk cId="3467514994" sldId="264"/>
            <ac:spMk id="3" creationId="{C5C83847-FCCD-6E5A-D4D3-4DEA235D54A2}"/>
          </ac:spMkLst>
        </pc:spChg>
      </pc:sldChg>
      <pc:sldChg chg="modSp mod modNotesTx">
        <pc:chgData name="JORGE GALLUD CANO" userId="aa07a950-3061-465d-9845-1f16ea714d1e" providerId="ADAL" clId="{D5F518D7-5D08-48A0-AE37-FAC94EDFC64E}" dt="2025-10-27T09:45:10.573" v="1181" actId="20577"/>
        <pc:sldMkLst>
          <pc:docMk/>
          <pc:sldMk cId="2631823192" sldId="265"/>
        </pc:sldMkLst>
        <pc:spChg chg="mod">
          <ac:chgData name="JORGE GALLUD CANO" userId="aa07a950-3061-465d-9845-1f16ea714d1e" providerId="ADAL" clId="{D5F518D7-5D08-48A0-AE37-FAC94EDFC64E}" dt="2025-10-22T21:42:25.902" v="21" actId="20577"/>
          <ac:spMkLst>
            <pc:docMk/>
            <pc:sldMk cId="2631823192" sldId="265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45:10.573" v="1181" actId="20577"/>
          <ac:spMkLst>
            <pc:docMk/>
            <pc:sldMk cId="2631823192" sldId="265"/>
            <ac:spMk id="3" creationId="{C5C83847-FCCD-6E5A-D4D3-4DEA235D54A2}"/>
          </ac:spMkLst>
        </pc:spChg>
      </pc:sldChg>
      <pc:sldChg chg="modSp mod">
        <pc:chgData name="JORGE GALLUD CANO" userId="aa07a950-3061-465d-9845-1f16ea714d1e" providerId="ADAL" clId="{D5F518D7-5D08-48A0-AE37-FAC94EDFC64E}" dt="2025-10-27T09:32:33.444" v="587" actId="20577"/>
        <pc:sldMkLst>
          <pc:docMk/>
          <pc:sldMk cId="706568294" sldId="266"/>
        </pc:sldMkLst>
        <pc:spChg chg="mod">
          <ac:chgData name="JORGE GALLUD CANO" userId="aa07a950-3061-465d-9845-1f16ea714d1e" providerId="ADAL" clId="{D5F518D7-5D08-48A0-AE37-FAC94EDFC64E}" dt="2025-10-22T21:42:30.744" v="24" actId="20577"/>
          <ac:spMkLst>
            <pc:docMk/>
            <pc:sldMk cId="706568294" sldId="266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32:33.444" v="587" actId="20577"/>
          <ac:spMkLst>
            <pc:docMk/>
            <pc:sldMk cId="706568294" sldId="266"/>
            <ac:spMk id="3" creationId="{C5C83847-FCCD-6E5A-D4D3-4DEA235D54A2}"/>
          </ac:spMkLst>
        </pc:spChg>
      </pc:sldChg>
      <pc:sldChg chg="modSp mod">
        <pc:chgData name="JORGE GALLUD CANO" userId="aa07a950-3061-465d-9845-1f16ea714d1e" providerId="ADAL" clId="{D5F518D7-5D08-48A0-AE37-FAC94EDFC64E}" dt="2025-10-27T09:30:12.790" v="544" actId="20577"/>
        <pc:sldMkLst>
          <pc:docMk/>
          <pc:sldMk cId="1848052176" sldId="267"/>
        </pc:sldMkLst>
        <pc:spChg chg="mod">
          <ac:chgData name="JORGE GALLUD CANO" userId="aa07a950-3061-465d-9845-1f16ea714d1e" providerId="ADAL" clId="{D5F518D7-5D08-48A0-AE37-FAC94EDFC64E}" dt="2025-10-22T21:42:35.834" v="27" actId="20577"/>
          <ac:spMkLst>
            <pc:docMk/>
            <pc:sldMk cId="1848052176" sldId="267"/>
            <ac:spMk id="2" creationId="{9D1EB62C-530D-CAA1-C1E9-9A6797CF86C3}"/>
          </ac:spMkLst>
        </pc:spChg>
        <pc:spChg chg="mod">
          <ac:chgData name="JORGE GALLUD CANO" userId="aa07a950-3061-465d-9845-1f16ea714d1e" providerId="ADAL" clId="{D5F518D7-5D08-48A0-AE37-FAC94EDFC64E}" dt="2025-10-27T09:30:12.790" v="544" actId="20577"/>
          <ac:spMkLst>
            <pc:docMk/>
            <pc:sldMk cId="1848052176" sldId="267"/>
            <ac:spMk id="3" creationId="{C5C83847-FCCD-6E5A-D4D3-4DEA235D54A2}"/>
          </ac:spMkLst>
        </pc:spChg>
      </pc:sldChg>
      <pc:sldChg chg="modSp mod modNotesTx">
        <pc:chgData name="JORGE GALLUD CANO" userId="aa07a950-3061-465d-9845-1f16ea714d1e" providerId="ADAL" clId="{D5F518D7-5D08-48A0-AE37-FAC94EDFC64E}" dt="2025-10-27T09:26:34.290" v="438" actId="20577"/>
        <pc:sldMkLst>
          <pc:docMk/>
          <pc:sldMk cId="2055150764" sldId="268"/>
        </pc:sldMkLst>
        <pc:spChg chg="mod">
          <ac:chgData name="JORGE GALLUD CANO" userId="aa07a950-3061-465d-9845-1f16ea714d1e" providerId="ADAL" clId="{D5F518D7-5D08-48A0-AE37-FAC94EDFC64E}" dt="2025-10-22T21:42:51.402" v="33" actId="20577"/>
          <ac:spMkLst>
            <pc:docMk/>
            <pc:sldMk cId="2055150764" sldId="268"/>
            <ac:spMk id="2" creationId="{9D1EB62C-530D-CAA1-C1E9-9A6797CF86C3}"/>
          </ac:spMkLst>
        </pc:spChg>
        <pc:graphicFrameChg chg="modGraphic">
          <ac:chgData name="JORGE GALLUD CANO" userId="aa07a950-3061-465d-9845-1f16ea714d1e" providerId="ADAL" clId="{D5F518D7-5D08-48A0-AE37-FAC94EDFC64E}" dt="2025-10-27T09:26:34.290" v="438" actId="20577"/>
          <ac:graphicFrameMkLst>
            <pc:docMk/>
            <pc:sldMk cId="2055150764" sldId="268"/>
            <ac:graphicFrameMk id="4" creationId="{41C0237A-71FA-8EB3-C80C-9905220E8256}"/>
          </ac:graphicFrameMkLst>
        </pc:graphicFrameChg>
      </pc:sldChg>
      <pc:sldChg chg="addSp modSp add mod ord">
        <pc:chgData name="JORGE GALLUD CANO" userId="aa07a950-3061-465d-9845-1f16ea714d1e" providerId="ADAL" clId="{D5F518D7-5D08-48A0-AE37-FAC94EDFC64E}" dt="2025-10-27T09:16:39.825" v="192"/>
        <pc:sldMkLst>
          <pc:docMk/>
          <pc:sldMk cId="1095028522" sldId="269"/>
        </pc:sldMkLst>
        <pc:spChg chg="mod">
          <ac:chgData name="JORGE GALLUD CANO" userId="aa07a950-3061-465d-9845-1f16ea714d1e" providerId="ADAL" clId="{D5F518D7-5D08-48A0-AE37-FAC94EDFC64E}" dt="2025-10-27T09:11:32.760" v="54" actId="6549"/>
          <ac:spMkLst>
            <pc:docMk/>
            <pc:sldMk cId="1095028522" sldId="269"/>
            <ac:spMk id="2" creationId="{5C31EC46-02C1-1F40-4550-D2B12A24491C}"/>
          </ac:spMkLst>
        </pc:spChg>
        <pc:spChg chg="mod">
          <ac:chgData name="JORGE GALLUD CANO" userId="aa07a950-3061-465d-9845-1f16ea714d1e" providerId="ADAL" clId="{D5F518D7-5D08-48A0-AE37-FAC94EDFC64E}" dt="2025-10-27T09:14:04.493" v="71" actId="20577"/>
          <ac:spMkLst>
            <pc:docMk/>
            <pc:sldMk cId="1095028522" sldId="269"/>
            <ac:spMk id="3" creationId="{FCA547F2-B7EA-FBAC-0FED-96437E56EF01}"/>
          </ac:spMkLst>
        </pc:spChg>
        <pc:graphicFrameChg chg="add mod modGraphic">
          <ac:chgData name="JORGE GALLUD CANO" userId="aa07a950-3061-465d-9845-1f16ea714d1e" providerId="ADAL" clId="{D5F518D7-5D08-48A0-AE37-FAC94EDFC64E}" dt="2025-10-27T09:16:02.604" v="189" actId="1076"/>
          <ac:graphicFrameMkLst>
            <pc:docMk/>
            <pc:sldMk cId="1095028522" sldId="269"/>
            <ac:graphicFrameMk id="4" creationId="{D7EA8E5D-6DBD-D1E5-2839-1F5A7CD09219}"/>
          </ac:graphicFrameMkLst>
        </pc:graphicFrameChg>
      </pc:sldChg>
    </pc:docChg>
  </pc:docChgLst>
  <pc:docChgLst>
    <pc:chgData name="JORGE GALLUD CANO" userId="aa07a950-3061-465d-9845-1f16ea714d1e" providerId="ADAL" clId="{BBB9F374-60E1-4350-B3C5-48EB7C73D119}"/>
    <pc:docChg chg="delSld">
      <pc:chgData name="JORGE GALLUD CANO" userId="aa07a950-3061-465d-9845-1f16ea714d1e" providerId="ADAL" clId="{BBB9F374-60E1-4350-B3C5-48EB7C73D119}" dt="2025-08-23T11:00:28.711" v="2" actId="47"/>
      <pc:docMkLst>
        <pc:docMk/>
      </pc:docMkLst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220813665" sldId="26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599127546" sldId="270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04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952336111" sldId="315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801989857" sldId="31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17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18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1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013899992" sldId="321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885165775" sldId="322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23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24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25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2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3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33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4021750541" sldId="36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785731025" sldId="370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607650453" sldId="371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863811219" sldId="372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391918928" sldId="373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845031517" sldId="374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537315646" sldId="375"/>
        </pc:sldMkLst>
      </pc:sldChg>
      <pc:sldChg chg="del">
        <pc:chgData name="JORGE GALLUD CANO" userId="aa07a950-3061-465d-9845-1f16ea714d1e" providerId="ADAL" clId="{BBB9F374-60E1-4350-B3C5-48EB7C73D119}" dt="2025-08-23T11:00:28.711" v="2" actId="47"/>
        <pc:sldMkLst>
          <pc:docMk/>
          <pc:sldMk cId="707880807" sldId="53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465850784" sldId="537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4067792214" sldId="538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448990937" sldId="53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955192983" sldId="540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848481124" sldId="541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306932417" sldId="542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12043818" sldId="543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834304839" sldId="544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999834531" sldId="545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977175055" sldId="54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563079690" sldId="547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608954207" sldId="548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495028577" sldId="54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98734755" sldId="550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871274626" sldId="551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585274247" sldId="552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727437492" sldId="553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405569845" sldId="554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757646886" sldId="555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498805622" sldId="556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980255656" sldId="557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572385549" sldId="558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71635713" sldId="559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2549226878" sldId="560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0" sldId="561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4222404445" sldId="562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386519322" sldId="563"/>
        </pc:sldMkLst>
      </pc:sldChg>
      <pc:sldChg chg="del">
        <pc:chgData name="JORGE GALLUD CANO" userId="aa07a950-3061-465d-9845-1f16ea714d1e" providerId="ADAL" clId="{BBB9F374-60E1-4350-B3C5-48EB7C73D119}" dt="2025-08-23T11:00:25.324" v="0" actId="47"/>
        <pc:sldMkLst>
          <pc:docMk/>
          <pc:sldMk cId="1967072604" sldId="564"/>
        </pc:sldMkLst>
      </pc:sldChg>
      <pc:sldChg chg="del">
        <pc:chgData name="JORGE GALLUD CANO" userId="aa07a950-3061-465d-9845-1f16ea714d1e" providerId="ADAL" clId="{BBB9F374-60E1-4350-B3C5-48EB7C73D119}" dt="2025-08-23T11:00:27.632" v="1" actId="47"/>
        <pc:sldMkLst>
          <pc:docMk/>
          <pc:sldMk cId="3947039945" sldId="5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1345" y="1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9356850D-52B1-405F-8CD7-E0365C566C9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3" y="9431602"/>
            <a:ext cx="2946347" cy="498213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1345" y="9431602"/>
            <a:ext cx="2946347" cy="498213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AA1D005A-BFD1-4A33-B93F-A326C62FF44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982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1345" y="1"/>
            <a:ext cx="2946347" cy="498215"/>
          </a:xfrm>
          <a:prstGeom prst="rect">
            <a:avLst/>
          </a:prstGeom>
        </p:spPr>
        <p:txBody>
          <a:bodyPr vert="horz" lIns="91430" tIns="45716" rIns="91430" bIns="45716" rtlCol="0"/>
          <a:lstStyle>
            <a:lvl1pPr algn="r">
              <a:defRPr sz="1200"/>
            </a:lvl1pPr>
          </a:lstStyle>
          <a:p>
            <a:fld id="{EA1C35A5-6E39-4CDE-A04F-1B1EEA008340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8813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927" y="4778724"/>
            <a:ext cx="5439410" cy="3909864"/>
          </a:xfrm>
          <a:prstGeom prst="rect">
            <a:avLst/>
          </a:prstGeom>
        </p:spPr>
        <p:txBody>
          <a:bodyPr vert="horz" lIns="91430" tIns="45716" rIns="91430" bIns="45716" rtlCol="0"/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3" y="9431602"/>
            <a:ext cx="2946347" cy="498213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1345" y="9431602"/>
            <a:ext cx="2946347" cy="498213"/>
          </a:xfrm>
          <a:prstGeom prst="rect">
            <a:avLst/>
          </a:prstGeom>
        </p:spPr>
        <p:txBody>
          <a:bodyPr vert="horz" lIns="91430" tIns="45716" rIns="91430" bIns="45716" rtlCol="0" anchor="b"/>
          <a:lstStyle>
            <a:lvl1pPr algn="r">
              <a:defRPr sz="1200"/>
            </a:lvl1pPr>
          </a:lstStyle>
          <a:p>
            <a:fld id="{1AC4CD01-607E-441F-90BB-5949BD8D465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8173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30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832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Explains the reasons for the changes in the E.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 err="1"/>
              <a:t>Appears in </a:t>
            </a:r>
            <a:r>
              <a:rPr lang="en-GB" dirty="0"/>
              <a:t>2007. Previously, </a:t>
            </a:r>
            <a:r>
              <a:rPr lang="en-GB" dirty="0" err="1"/>
              <a:t>own funds </a:t>
            </a:r>
            <a:r>
              <a:rPr lang="en-GB" dirty="0"/>
              <a:t>were </a:t>
            </a:r>
            <a:r>
              <a:rPr lang="en-GB" dirty="0" err="1"/>
              <a:t>simply explained</a:t>
            </a:r>
            <a:r>
              <a:rPr lang="en-GB" dirty="0"/>
              <a:t>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In 2016 it became voluntary when complying with the requirements for abbreviated BS.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In 2021 </a:t>
            </a:r>
            <a:r>
              <a:rPr lang="en-GB" dirty="0" err="1"/>
              <a:t>changed by </a:t>
            </a:r>
            <a:r>
              <a:rPr lang="en-GB" dirty="0"/>
              <a:t>the </a:t>
            </a:r>
            <a:r>
              <a:rPr lang="en-GB" dirty="0" err="1"/>
              <a:t>new classification </a:t>
            </a:r>
            <a:r>
              <a:rPr lang="en-GB" dirty="0"/>
              <a:t>and </a:t>
            </a:r>
            <a:r>
              <a:rPr lang="en-GB" dirty="0" err="1"/>
              <a:t>valuation </a:t>
            </a:r>
            <a:r>
              <a:rPr lang="en-GB" dirty="0"/>
              <a:t>of FAs</a:t>
            </a:r>
          </a:p>
          <a:p>
            <a:r>
              <a:rPr lang="en-GB" dirty="0"/>
              <a:t>Gathers information for shareholders (dividend policy, reserves, business development, self-financing, FA profitability, etc).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EIGR: on how and when to recover investment and whether it will have to be disbursed.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ETCPN: </a:t>
            </a:r>
            <a:r>
              <a:rPr lang="en-GB" dirty="0" err="1"/>
              <a:t>efficiency in the use </a:t>
            </a:r>
            <a:r>
              <a:rPr lang="en-GB" dirty="0"/>
              <a:t>of </a:t>
            </a:r>
            <a:r>
              <a:rPr lang="en-GB" dirty="0" err="1"/>
              <a:t>resources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466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5559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489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634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Explains the cash variation.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This is a more </a:t>
            </a:r>
            <a:r>
              <a:rPr lang="en-GB" b="0" dirty="0"/>
              <a:t>objective</a:t>
            </a:r>
            <a:r>
              <a:rPr lang="en-GB" b="1" dirty="0"/>
              <a:t> </a:t>
            </a:r>
            <a:r>
              <a:rPr lang="en-GB" dirty="0"/>
              <a:t>variation than that of the profit (vs EM).</a:t>
            </a:r>
          </a:p>
          <a:p>
            <a:pPr marL="171501" indent="-171501">
              <a:buFont typeface="Arial" panose="020B0604020202020204" pitchFamily="34" charset="0"/>
              <a:buChar char="•"/>
            </a:pPr>
            <a:r>
              <a:rPr lang="en-GB" dirty="0"/>
              <a:t>Cash includes deposits + financial instruments convertible into cash.</a:t>
            </a:r>
          </a:p>
          <a:p>
            <a:r>
              <a:rPr lang="en-GB" dirty="0"/>
              <a:t>OA indirect method (adjust EBT). IA, FA direct method.</a:t>
            </a:r>
          </a:p>
          <a:p>
            <a:r>
              <a:rPr lang="en-GB" dirty="0"/>
              <a:t>Voluntary if abbreviated BS</a:t>
            </a:r>
          </a:p>
        </p:txBody>
      </p:sp>
    </p:spTree>
    <p:extLst>
      <p:ext uri="{BB962C8B-B14F-4D97-AF65-F5344CB8AC3E}">
        <p14:creationId xmlns:p14="http://schemas.microsoft.com/office/powerpoint/2010/main" val="3403494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Analysis: interrelationship between the 3 (where does the cash or liquidity problem come from); profitability-liquidity ratio (how long does it take to </a:t>
            </a:r>
            <a:r>
              <a:rPr lang="en-GB" i="1" dirty="0"/>
              <a:t>liquidate </a:t>
            </a:r>
            <a:r>
              <a:rPr lang="en-GB" dirty="0"/>
              <a:t>sales).</a:t>
            </a:r>
          </a:p>
          <a:p>
            <a:r>
              <a:rPr lang="en-GB" dirty="0"/>
              <a:t>It also allows to assess the phase of the company's life cycle. Intro, Growth (FE&lt;0); Maturity (</a:t>
            </a:r>
            <a:r>
              <a:rPr lang="en-GB" dirty="0" err="1"/>
              <a:t>Rtdo</a:t>
            </a:r>
            <a:r>
              <a:rPr lang="en-GB" dirty="0"/>
              <a:t> = FE); Decline (FE&lt;0). According to sector...</a:t>
            </a:r>
          </a:p>
        </p:txBody>
      </p:sp>
    </p:spTree>
    <p:extLst>
      <p:ext uri="{BB962C8B-B14F-4D97-AF65-F5344CB8AC3E}">
        <p14:creationId xmlns:p14="http://schemas.microsoft.com/office/powerpoint/2010/main" val="3426740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C34C-4924-79B5-6E8E-CF4A8ECDE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674546-2561-420A-9E0C-16888AD09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17818F-677F-83E6-4E4F-C431D0C40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98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66447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406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FC21</a:t>
            </a:r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4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365126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355726"/>
            <a:ext cx="3868340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365127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355726"/>
            <a:ext cx="3887391" cy="48339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470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Click to modify the pattern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 the text style of the pattern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FC21</a:t>
            </a:r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0205EE-51C7-4D1A-8E6C-D977F3A45C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068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ctrTitle"/>
          </p:nvPr>
        </p:nvSpPr>
        <p:spPr>
          <a:xfrm>
            <a:off x="1142999" y="1122363"/>
            <a:ext cx="6996954" cy="2387600"/>
          </a:xfrm>
        </p:spPr>
        <p:txBody>
          <a:bodyPr/>
          <a:lstStyle/>
          <a:p>
            <a:r>
              <a:rPr lang="es-ES" dirty="0" err="1"/>
              <a:t>Unit</a:t>
            </a:r>
            <a:r>
              <a:rPr lang="es-ES" dirty="0"/>
              <a:t> 3</a:t>
            </a:r>
            <a:br>
              <a:rPr lang="es-ES" dirty="0"/>
            </a:b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/>
              <a:t> II</a:t>
            </a:r>
            <a:endParaRPr lang="es-ES" dirty="0"/>
          </a:p>
        </p:txBody>
      </p:sp>
      <p:sp>
        <p:nvSpPr>
          <p:cNvPr id="18" name="Subtítulo 17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7387936" cy="1655762"/>
          </a:xfrm>
        </p:spPr>
        <p:txBody>
          <a:bodyPr>
            <a:noAutofit/>
          </a:bodyPr>
          <a:lstStyle/>
          <a:p>
            <a:r>
              <a:rPr lang="es-ES" dirty="0"/>
              <a:t>Notes</a:t>
            </a:r>
          </a:p>
          <a:p>
            <a:r>
              <a:rPr lang="es-ES" dirty="0"/>
              <a:t>Statement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in </a:t>
            </a:r>
            <a:r>
              <a:rPr lang="es-ES" dirty="0" err="1"/>
              <a:t>Equity</a:t>
            </a:r>
            <a:r>
              <a:rPr lang="es-ES" dirty="0"/>
              <a:t> (SCE)</a:t>
            </a:r>
          </a:p>
          <a:p>
            <a:r>
              <a:rPr lang="es-ES" dirty="0"/>
              <a:t>Cash Flow Statement (CFS)</a:t>
            </a:r>
          </a:p>
        </p:txBody>
      </p:sp>
    </p:spTree>
    <p:extLst>
      <p:ext uri="{BB962C8B-B14F-4D97-AF65-F5344CB8AC3E}">
        <p14:creationId xmlns:p14="http://schemas.microsoft.com/office/powerpoint/2010/main" val="308779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Notes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dirty="0"/>
              <a:t>Art. 260, LSC. Notes contained in Part 3 of </a:t>
            </a:r>
            <a:r>
              <a:rPr lang="es-ES" dirty="0" err="1"/>
              <a:t>the</a:t>
            </a:r>
            <a:r>
              <a:rPr lang="es-ES" dirty="0"/>
              <a:t> SGAP.</a:t>
            </a:r>
          </a:p>
          <a:p>
            <a:pPr>
              <a:lnSpc>
                <a:spcPct val="100000"/>
              </a:lnSpc>
            </a:pPr>
            <a:r>
              <a:rPr lang="es-ES" dirty="0"/>
              <a:t>Complete the information that does not appear in the other documents.</a:t>
            </a:r>
          </a:p>
          <a:p>
            <a:pPr>
              <a:lnSpc>
                <a:spcPct val="100000"/>
              </a:lnSpc>
            </a:pPr>
            <a:r>
              <a:rPr lang="es-ES" dirty="0"/>
              <a:t> It describes aspects that are insufficiently covered.</a:t>
            </a:r>
          </a:p>
          <a:p>
            <a:pPr>
              <a:lnSpc>
                <a:spcPct val="100000"/>
              </a:lnSpc>
            </a:pPr>
            <a:r>
              <a:rPr lang="es-ES" dirty="0"/>
              <a:t>Interpret the data reflected in the annual accounts.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Management report</a:t>
            </a:r>
            <a:r>
              <a:rPr lang="es-ES" dirty="0"/>
              <a:t>: this does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belong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statements</a:t>
            </a:r>
            <a:r>
              <a:rPr lang="es-ES" dirty="0"/>
              <a:t>, but the LSC</a:t>
            </a:r>
            <a:r>
              <a:rPr lang="es-ES" b="1" dirty="0"/>
              <a:t> </a:t>
            </a:r>
            <a:r>
              <a:rPr lang="es-ES" dirty="0"/>
              <a:t>(Art. 253) requires it to be drawn up. Its content (risks and uncertainties of the company) is regulated in the LSC (Art. 262).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requirements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presenting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n-GB" dirty="0"/>
              <a:t>abbreviated</a:t>
            </a:r>
            <a:r>
              <a:rPr lang="es-ES" dirty="0"/>
              <a:t> notes and </a:t>
            </a:r>
            <a:r>
              <a:rPr lang="es-ES" dirty="0" err="1"/>
              <a:t>omitting</a:t>
            </a:r>
            <a:r>
              <a:rPr lang="es-ES" dirty="0"/>
              <a:t> </a:t>
            </a:r>
            <a:r>
              <a:rPr lang="es-ES" dirty="0" err="1"/>
              <a:t>management</a:t>
            </a:r>
            <a:r>
              <a:rPr lang="es-ES" dirty="0"/>
              <a:t> </a:t>
            </a:r>
            <a:r>
              <a:rPr lang="es-ES" dirty="0" err="1"/>
              <a:t>report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same</a:t>
            </a:r>
            <a:r>
              <a:rPr lang="es-ES" dirty="0"/>
              <a:t> as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n-GB" dirty="0"/>
              <a:t>abbreviated</a:t>
            </a:r>
            <a:r>
              <a:rPr lang="es-ES" dirty="0"/>
              <a:t> BS.</a:t>
            </a:r>
          </a:p>
        </p:txBody>
      </p:sp>
    </p:spTree>
    <p:extLst>
      <p:ext uri="{BB962C8B-B14F-4D97-AF65-F5344CB8AC3E}">
        <p14:creationId xmlns:p14="http://schemas.microsoft.com/office/powerpoint/2010/main" val="315019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dirty="0" err="1"/>
              <a:t>Statement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Recognised</a:t>
            </a:r>
            <a:r>
              <a:rPr lang="es-ES" dirty="0"/>
              <a:t> </a:t>
            </a:r>
            <a:r>
              <a:rPr lang="es-ES" dirty="0" err="1"/>
              <a:t>Income</a:t>
            </a:r>
            <a:r>
              <a:rPr lang="es-ES" dirty="0"/>
              <a:t> / Expense (SRIE)</a:t>
            </a:r>
          </a:p>
          <a:p>
            <a:pPr marL="800100" lvl="1" indent="-342900">
              <a:buFont typeface="+mj-lt"/>
              <a:buAutoNum type="alphaUcPeriod"/>
            </a:pPr>
            <a:r>
              <a:rPr lang="es-ES" dirty="0" err="1"/>
              <a:t>Profit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period</a:t>
            </a:r>
            <a:endParaRPr lang="es-ES" dirty="0"/>
          </a:p>
          <a:p>
            <a:pPr marL="800100" lvl="1" indent="-342900">
              <a:buFont typeface="+mj-lt"/>
              <a:buAutoNum type="alphaUcPeriod"/>
            </a:pPr>
            <a:r>
              <a:rPr lang="es-ES" dirty="0"/>
              <a:t>I and E </a:t>
            </a:r>
            <a:r>
              <a:rPr lang="es-ES" dirty="0" err="1"/>
              <a:t>recognised</a:t>
            </a:r>
            <a:r>
              <a:rPr lang="es-ES" dirty="0"/>
              <a:t> </a:t>
            </a:r>
            <a:r>
              <a:rPr lang="es-ES" dirty="0" err="1"/>
              <a:t>directly</a:t>
            </a:r>
            <a:r>
              <a:rPr lang="es-ES" dirty="0"/>
              <a:t> in E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instruments</a:t>
            </a:r>
            <a:endParaRPr lang="es-ES" dirty="0"/>
          </a:p>
          <a:p>
            <a:pPr marL="1314450" lvl="2" indent="-400050">
              <a:buFont typeface="+mj-lt"/>
              <a:buAutoNum type="romanUcPeriod"/>
            </a:pPr>
            <a:r>
              <a:rPr lang="es-ES" dirty="0"/>
              <a:t>Cash flow hedges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s-ES" dirty="0"/>
              <a:t>Grants, donations and </a:t>
            </a:r>
            <a:r>
              <a:rPr lang="es-ES" dirty="0" err="1"/>
              <a:t>bequests</a:t>
            </a:r>
            <a:r>
              <a:rPr lang="es-ES" dirty="0"/>
              <a:t> </a:t>
            </a:r>
            <a:r>
              <a:rPr lang="es-ES" dirty="0" err="1"/>
              <a:t>received</a:t>
            </a:r>
            <a:endParaRPr lang="es-ES" dirty="0"/>
          </a:p>
          <a:p>
            <a:pPr marL="1314450" lvl="2" indent="-400050">
              <a:buFont typeface="+mj-lt"/>
              <a:buAutoNum type="romanUcPeriod"/>
            </a:pPr>
            <a:r>
              <a:rPr lang="es-ES" dirty="0"/>
              <a:t>Actuarial gains and losses</a:t>
            </a:r>
          </a:p>
          <a:p>
            <a:pPr marL="1314450" lvl="2" indent="-400050">
              <a:buFont typeface="+mj-lt"/>
              <a:buAutoNum type="romanUcPeriod"/>
            </a:pPr>
            <a:r>
              <a:rPr lang="es-ES" dirty="0"/>
              <a:t>Tax effect</a:t>
            </a:r>
          </a:p>
          <a:p>
            <a:pPr marL="800100" lvl="1" indent="-342900">
              <a:buFont typeface="+mj-lt"/>
              <a:buAutoNum type="alphaUcPeriod"/>
            </a:pPr>
            <a:r>
              <a:rPr lang="es-ES" dirty="0"/>
              <a:t>Transfers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Income</a:t>
            </a:r>
            <a:r>
              <a:rPr lang="es-ES" dirty="0"/>
              <a:t> </a:t>
            </a:r>
            <a:r>
              <a:rPr lang="es-ES" dirty="0" err="1"/>
              <a:t>Statement</a:t>
            </a:r>
            <a:endParaRPr lang="es-ES" dirty="0"/>
          </a:p>
          <a:p>
            <a:pPr marL="1314450" lvl="2" indent="-400050">
              <a:buFont typeface="+mj-lt"/>
              <a:buAutoNum type="romanUcPeriod" startAt="6"/>
            </a:pP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instruments</a:t>
            </a:r>
            <a:endParaRPr lang="es-ES" dirty="0"/>
          </a:p>
          <a:p>
            <a:pPr marL="1314450" lvl="2" indent="-400050">
              <a:buFont typeface="+mj-lt"/>
              <a:buAutoNum type="romanUcPeriod" startAt="6"/>
            </a:pPr>
            <a:r>
              <a:rPr lang="es-ES" dirty="0"/>
              <a:t>Cash flow hedges</a:t>
            </a:r>
          </a:p>
          <a:p>
            <a:pPr marL="1314450" lvl="2" indent="-400050">
              <a:buFont typeface="+mj-lt"/>
              <a:buAutoNum type="romanUcPeriod" startAt="6"/>
            </a:pPr>
            <a:r>
              <a:rPr lang="es-ES" dirty="0"/>
              <a:t>Grants, </a:t>
            </a:r>
            <a:r>
              <a:rPr lang="es-ES" dirty="0" err="1"/>
              <a:t>donations</a:t>
            </a:r>
            <a:r>
              <a:rPr lang="es-ES" dirty="0"/>
              <a:t> and </a:t>
            </a:r>
            <a:r>
              <a:rPr lang="es-ES" dirty="0" err="1"/>
              <a:t>bequests</a:t>
            </a:r>
            <a:r>
              <a:rPr lang="es-ES" dirty="0"/>
              <a:t> </a:t>
            </a:r>
            <a:r>
              <a:rPr lang="es-ES" dirty="0" err="1"/>
              <a:t>received</a:t>
            </a:r>
            <a:endParaRPr lang="es-ES" dirty="0"/>
          </a:p>
          <a:p>
            <a:pPr marL="1314450" lvl="2" indent="-400050">
              <a:buFont typeface="+mj-lt"/>
              <a:buAutoNum type="romanUcPeriod" startAt="6"/>
            </a:pPr>
            <a:r>
              <a:rPr lang="es-ES" dirty="0"/>
              <a:t>Tax effect</a:t>
            </a:r>
          </a:p>
        </p:txBody>
      </p:sp>
    </p:spTree>
    <p:extLst>
      <p:ext uri="{BB962C8B-B14F-4D97-AF65-F5344CB8AC3E}">
        <p14:creationId xmlns:p14="http://schemas.microsoft.com/office/powerpoint/2010/main" val="594737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es-ES" dirty="0" err="1"/>
              <a:t>Statement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Total </a:t>
            </a:r>
            <a:r>
              <a:rPr lang="es-ES" dirty="0" err="1"/>
              <a:t>Changes</a:t>
            </a:r>
            <a:r>
              <a:rPr lang="es-ES" dirty="0"/>
              <a:t> in </a:t>
            </a:r>
            <a:r>
              <a:rPr lang="es-ES" dirty="0" err="1"/>
              <a:t>Equity</a:t>
            </a:r>
            <a:r>
              <a:rPr lang="es-ES" dirty="0"/>
              <a:t> (STCE)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Vertically: 3 years. T-2 end, T-1 beginning, T-1 end, T beginning, T end.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rows</a:t>
            </a:r>
            <a:r>
              <a:rPr lang="es-ES" dirty="0"/>
              <a:t> </a:t>
            </a:r>
            <a:r>
              <a:rPr lang="es-ES" dirty="0" err="1"/>
              <a:t>relating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prior </a:t>
            </a:r>
            <a:r>
              <a:rPr lang="es-ES" dirty="0" err="1"/>
              <a:t>years</a:t>
            </a:r>
            <a:r>
              <a:rPr lang="es-ES" dirty="0"/>
              <a:t>' </a:t>
            </a:r>
            <a:r>
              <a:rPr lang="es-ES" dirty="0" err="1"/>
              <a:t>year-end</a:t>
            </a:r>
            <a:r>
              <a:rPr lang="es-ES" dirty="0"/>
              <a:t> </a:t>
            </a:r>
            <a:r>
              <a:rPr lang="es-ES" dirty="0" err="1"/>
              <a:t>include</a:t>
            </a:r>
            <a:r>
              <a:rPr lang="es-ES" dirty="0"/>
              <a:t> </a:t>
            </a:r>
            <a:r>
              <a:rPr lang="es-ES" dirty="0" err="1"/>
              <a:t>adjustments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 in </a:t>
            </a:r>
            <a:r>
              <a:rPr lang="es-ES" dirty="0" err="1"/>
              <a:t>accounting</a:t>
            </a:r>
            <a:r>
              <a:rPr lang="es-ES" dirty="0"/>
              <a:t> </a:t>
            </a:r>
            <a:r>
              <a:rPr lang="es-ES" dirty="0" err="1"/>
              <a:t>policies</a:t>
            </a:r>
            <a:r>
              <a:rPr lang="es-ES" dirty="0"/>
              <a:t> and </a:t>
            </a:r>
            <a:r>
              <a:rPr lang="es-ES" dirty="0" err="1"/>
              <a:t>adjustments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errors</a:t>
            </a:r>
            <a:r>
              <a:rPr lang="es-ES" dirty="0"/>
              <a:t>. </a:t>
            </a:r>
            <a:r>
              <a:rPr lang="es-ES" dirty="0" err="1"/>
              <a:t>Also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allocation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profit</a:t>
            </a:r>
            <a:r>
              <a:rPr lang="es-ES" dirty="0"/>
              <a:t>.</a:t>
            </a:r>
            <a:endParaRPr lang="en-GB" dirty="0"/>
          </a:p>
          <a:p>
            <a:pPr lvl="1">
              <a:lnSpc>
                <a:spcPct val="100000"/>
              </a:lnSpc>
            </a:pPr>
            <a:r>
              <a:rPr lang="en-US" dirty="0"/>
              <a:t>Horizontally: equity accounts.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Total SRIE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Owners:</a:t>
            </a:r>
          </a:p>
          <a:p>
            <a:pPr lvl="3">
              <a:lnSpc>
                <a:spcPct val="100000"/>
              </a:lnSpc>
            </a:pPr>
            <a:r>
              <a:rPr lang="en-US" dirty="0"/>
              <a:t>Capital increases.</a:t>
            </a:r>
          </a:p>
          <a:p>
            <a:pPr lvl="3">
              <a:lnSpc>
                <a:spcPct val="100000"/>
              </a:lnSpc>
            </a:pPr>
            <a:r>
              <a:rPr lang="es-ES" dirty="0" err="1"/>
              <a:t>Conversion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financial</a:t>
            </a:r>
            <a:r>
              <a:rPr lang="es-ES" dirty="0"/>
              <a:t> </a:t>
            </a:r>
            <a:r>
              <a:rPr lang="es-ES" dirty="0" err="1"/>
              <a:t>liabilities</a:t>
            </a:r>
            <a:r>
              <a:rPr lang="es-ES" dirty="0"/>
              <a:t> </a:t>
            </a:r>
            <a:r>
              <a:rPr lang="en-US" dirty="0"/>
              <a:t>(bonds-shares).</a:t>
            </a:r>
          </a:p>
          <a:p>
            <a:pPr lvl="3">
              <a:lnSpc>
                <a:spcPct val="100000"/>
              </a:lnSpc>
            </a:pPr>
            <a:r>
              <a:rPr lang="en-US" dirty="0"/>
              <a:t>Dividends distributions.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Other qualitative changes (profit to reserves).</a:t>
            </a:r>
          </a:p>
        </p:txBody>
      </p:sp>
    </p:spTree>
    <p:extLst>
      <p:ext uri="{BB962C8B-B14F-4D97-AF65-F5344CB8AC3E}">
        <p14:creationId xmlns:p14="http://schemas.microsoft.com/office/powerpoint/2010/main" val="263182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SCE - example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" dirty="0"/>
              <a:t>On 1 </a:t>
            </a:r>
            <a:r>
              <a:rPr lang="es-ES" dirty="0" err="1"/>
              <a:t>January</a:t>
            </a:r>
            <a:r>
              <a:rPr lang="es-ES" dirty="0"/>
              <a:t> 2021 a machine worth €100,000 was purchased, with a useful life of 5 years. On the same date a capital grant of €50,000 was obtained for which it will be taxed at 25%.</a:t>
            </a:r>
          </a:p>
          <a:p>
            <a:pPr marL="0" indent="0">
              <a:buNone/>
            </a:pPr>
            <a:r>
              <a:rPr lang="es-ES" dirty="0"/>
              <a:t>In April 2022, 10,000 shares (€ 10 nominal value) were acquired at 118%, paying expenses of € 2,000; they were classified as FA at fair value </a:t>
            </a:r>
            <a:r>
              <a:rPr lang="es-ES" dirty="0" err="1"/>
              <a:t>through</a:t>
            </a:r>
            <a:r>
              <a:rPr lang="es-ES" dirty="0"/>
              <a:t> </a:t>
            </a:r>
            <a:r>
              <a:rPr lang="es-ES" dirty="0" err="1"/>
              <a:t>equity</a:t>
            </a:r>
            <a:r>
              <a:rPr lang="es-ES" dirty="0"/>
              <a:t>. At 31 December they were trading at 110%. The tax rate is 25%.</a:t>
            </a:r>
          </a:p>
          <a:p>
            <a:pPr marL="0" indent="0">
              <a:buNone/>
            </a:pP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profit</a:t>
            </a:r>
            <a:r>
              <a:rPr lang="es-ES" dirty="0"/>
              <a:t> for the year amounted to €50,000 in 2021 and €70,000 in 2022.</a:t>
            </a:r>
          </a:p>
          <a:p>
            <a:r>
              <a:rPr lang="es-ES" dirty="0" err="1"/>
              <a:t>Accounting</a:t>
            </a:r>
            <a:r>
              <a:rPr lang="es-ES" dirty="0"/>
              <a:t> entries.</a:t>
            </a:r>
          </a:p>
          <a:p>
            <a:r>
              <a:rPr lang="es-ES" dirty="0"/>
              <a:t>Balance sheet and profit and loss items.</a:t>
            </a:r>
          </a:p>
          <a:p>
            <a:r>
              <a:rPr lang="es-ES" dirty="0" err="1"/>
              <a:t>Statement</a:t>
            </a:r>
            <a:r>
              <a:rPr lang="es-ES" dirty="0"/>
              <a:t> of Recognised Income and Expense.</a:t>
            </a:r>
          </a:p>
        </p:txBody>
      </p:sp>
    </p:spTree>
    <p:extLst>
      <p:ext uri="{BB962C8B-B14F-4D97-AF65-F5344CB8AC3E}">
        <p14:creationId xmlns:p14="http://schemas.microsoft.com/office/powerpoint/2010/main" val="70656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SCE - example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" dirty="0"/>
              <a:t>In 2021 the company was incorporated with a capital of €60,000, paying up the minimum required (25%). The profit for the year was €10,000.</a:t>
            </a:r>
          </a:p>
          <a:p>
            <a:pPr marL="0" indent="0">
              <a:buNone/>
            </a:pPr>
            <a:r>
              <a:rPr lang="es-ES" dirty="0"/>
              <a:t>In 2022 the profit was €20,000. Over the year:</a:t>
            </a:r>
          </a:p>
          <a:p>
            <a:r>
              <a:rPr lang="es-ES" dirty="0"/>
              <a:t>A grant was received on 1 January for the acquisition of fixed assets with an estimated useful life of 10 years. </a:t>
            </a:r>
            <a:r>
              <a:rPr lang="es-ES" dirty="0" err="1"/>
              <a:t>Tax</a:t>
            </a:r>
            <a:r>
              <a:rPr lang="es-ES" dirty="0"/>
              <a:t> </a:t>
            </a:r>
            <a:r>
              <a:rPr lang="es-ES" dirty="0" err="1"/>
              <a:t>rate</a:t>
            </a:r>
            <a:r>
              <a:rPr lang="es-ES" dirty="0"/>
              <a:t>: 25%.</a:t>
            </a:r>
          </a:p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allocation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profit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year</a:t>
            </a:r>
            <a:r>
              <a:rPr lang="es-ES" dirty="0"/>
              <a:t> </a:t>
            </a:r>
            <a:r>
              <a:rPr lang="es-ES" dirty="0" err="1"/>
              <a:t>included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minimum legal reserve (10%), a 2% </a:t>
            </a:r>
            <a:r>
              <a:rPr lang="es-ES" dirty="0" err="1"/>
              <a:t>dividend</a:t>
            </a:r>
            <a:r>
              <a:rPr lang="es-ES" dirty="0"/>
              <a:t> and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remaining</a:t>
            </a:r>
            <a:r>
              <a:rPr lang="es-ES" dirty="0"/>
              <a:t> balance </a:t>
            </a:r>
            <a:r>
              <a:rPr lang="es-ES" dirty="0" err="1"/>
              <a:t>transferred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voluntary reserves.</a:t>
            </a:r>
          </a:p>
          <a:p>
            <a:r>
              <a:rPr lang="es-ES" dirty="0"/>
              <a:t>The capital was increased by 50%, with the new shareholders paying in the minimum required amount and with a share premium of 20%.</a:t>
            </a:r>
          </a:p>
          <a:p>
            <a:pPr marL="0" indent="0">
              <a:buNone/>
            </a:pPr>
            <a:r>
              <a:rPr lang="es-ES" dirty="0"/>
              <a:t>Prepare the Statement of Changes in Total Equity.</a:t>
            </a:r>
          </a:p>
        </p:txBody>
      </p:sp>
    </p:spTree>
    <p:extLst>
      <p:ext uri="{BB962C8B-B14F-4D97-AF65-F5344CB8AC3E}">
        <p14:creationId xmlns:p14="http://schemas.microsoft.com/office/powerpoint/2010/main" val="184805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CFS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C83847-FCCD-6E5A-D4D3-4DEA235D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9148"/>
            <a:ext cx="7886700" cy="5459704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s-ES" dirty="0" err="1"/>
              <a:t>Operating</a:t>
            </a:r>
            <a:r>
              <a:rPr lang="es-ES" dirty="0"/>
              <a:t> </a:t>
            </a:r>
            <a:r>
              <a:rPr lang="es-ES" dirty="0" err="1"/>
              <a:t>activities</a:t>
            </a:r>
            <a:r>
              <a:rPr lang="es-ES" dirty="0"/>
              <a:t> (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Earnings</a:t>
            </a:r>
            <a:r>
              <a:rPr lang="es-ES" dirty="0"/>
              <a:t> before tax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Adjustments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profit</a:t>
            </a:r>
            <a:endParaRPr lang="es-ES" dirty="0"/>
          </a:p>
          <a:p>
            <a:pPr marL="800100" lvl="1" indent="-342900">
              <a:buFont typeface="+mj-lt"/>
              <a:buAutoNum type="arabicPeriod"/>
            </a:pPr>
            <a:r>
              <a:rPr lang="es-ES" dirty="0"/>
              <a:t>Changes in working capital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dirty="0" err="1"/>
              <a:t>Other</a:t>
            </a:r>
            <a:endParaRPr lang="es-ES" dirty="0"/>
          </a:p>
          <a:p>
            <a:pPr marL="342900" indent="-342900">
              <a:buFont typeface="+mj-lt"/>
              <a:buAutoNum type="alphaUcPeriod"/>
            </a:pPr>
            <a:r>
              <a:rPr lang="es-ES" dirty="0"/>
              <a:t>Investing </a:t>
            </a:r>
            <a:r>
              <a:rPr lang="es-ES" dirty="0" err="1"/>
              <a:t>activities</a:t>
            </a:r>
            <a:r>
              <a:rPr lang="es-ES" dirty="0"/>
              <a:t> (Non-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Assets</a:t>
            </a:r>
            <a:r>
              <a:rPr lang="es-ES" dirty="0"/>
              <a:t>)</a:t>
            </a:r>
          </a:p>
          <a:p>
            <a:pPr marL="800100" lvl="1" indent="-342900">
              <a:buFont typeface="+mj-lt"/>
              <a:buAutoNum type="arabicPeriod" startAt="6"/>
            </a:pPr>
            <a:r>
              <a:rPr lang="es-ES" dirty="0" err="1"/>
              <a:t>Investment</a:t>
            </a:r>
            <a:r>
              <a:rPr lang="es-ES" dirty="0"/>
              <a:t> </a:t>
            </a:r>
            <a:r>
              <a:rPr lang="es-ES" dirty="0" err="1"/>
              <a:t>payments</a:t>
            </a:r>
            <a:endParaRPr lang="es-ES" dirty="0"/>
          </a:p>
          <a:p>
            <a:pPr marL="800100" lvl="1" indent="-342900">
              <a:buFont typeface="+mj-lt"/>
              <a:buAutoNum type="arabicPeriod" startAt="6"/>
            </a:pPr>
            <a:r>
              <a:rPr lang="es-ES" dirty="0" err="1"/>
              <a:t>Investment</a:t>
            </a:r>
            <a:r>
              <a:rPr lang="es-ES" dirty="0"/>
              <a:t> </a:t>
            </a:r>
            <a:r>
              <a:rPr lang="es-ES" dirty="0" err="1"/>
              <a:t>collections</a:t>
            </a:r>
            <a:endParaRPr lang="es-ES" dirty="0"/>
          </a:p>
          <a:p>
            <a:pPr marL="342900" indent="-342900">
              <a:buFont typeface="+mj-lt"/>
              <a:buAutoNum type="alphaUcPeriod"/>
            </a:pPr>
            <a:r>
              <a:rPr lang="es-ES" dirty="0"/>
              <a:t>Financing </a:t>
            </a:r>
            <a:r>
              <a:rPr lang="es-ES" dirty="0" err="1"/>
              <a:t>activities</a:t>
            </a:r>
            <a:r>
              <a:rPr lang="es-ES" dirty="0"/>
              <a:t> (</a:t>
            </a:r>
            <a:r>
              <a:rPr lang="es-ES" dirty="0" err="1"/>
              <a:t>Equity</a:t>
            </a:r>
            <a:r>
              <a:rPr lang="es-ES" dirty="0"/>
              <a:t>, </a:t>
            </a:r>
            <a:r>
              <a:rPr lang="es-ES" dirty="0" err="1"/>
              <a:t>Liabilities</a:t>
            </a:r>
            <a:r>
              <a:rPr lang="es-ES" dirty="0"/>
              <a:t>)</a:t>
            </a:r>
          </a:p>
          <a:p>
            <a:pPr marL="800100" lvl="1" indent="-342900">
              <a:buFont typeface="+mj-lt"/>
              <a:buAutoNum type="arabicPeriod" startAt="9"/>
            </a:pPr>
            <a:r>
              <a:rPr lang="es-ES" dirty="0"/>
              <a:t>E </a:t>
            </a:r>
            <a:r>
              <a:rPr lang="es-ES" dirty="0" err="1"/>
              <a:t>instruments</a:t>
            </a:r>
            <a:r>
              <a:rPr lang="es-ES" dirty="0"/>
              <a:t> </a:t>
            </a:r>
            <a:r>
              <a:rPr lang="es-ES" dirty="0" err="1"/>
              <a:t>collections</a:t>
            </a:r>
            <a:r>
              <a:rPr lang="es-ES" dirty="0"/>
              <a:t> and payments</a:t>
            </a:r>
          </a:p>
          <a:p>
            <a:pPr marL="800100" lvl="1" indent="-342900">
              <a:buFont typeface="+mj-lt"/>
              <a:buAutoNum type="arabicPeriod" startAt="9"/>
            </a:pPr>
            <a:r>
              <a:rPr lang="es-ES" dirty="0" err="1"/>
              <a:t>Financial</a:t>
            </a:r>
            <a:r>
              <a:rPr lang="es-ES" dirty="0"/>
              <a:t> L </a:t>
            </a:r>
            <a:r>
              <a:rPr lang="es-ES" dirty="0" err="1"/>
              <a:t>collections</a:t>
            </a:r>
            <a:r>
              <a:rPr lang="es-ES" dirty="0"/>
              <a:t> and payments</a:t>
            </a:r>
          </a:p>
          <a:p>
            <a:pPr marL="800100" lvl="1" indent="-342900">
              <a:buFont typeface="+mj-lt"/>
              <a:buAutoNum type="arabicPeriod" startAt="9"/>
            </a:pPr>
            <a:r>
              <a:rPr lang="es-ES" dirty="0" err="1"/>
              <a:t>Dividends</a:t>
            </a:r>
            <a:r>
              <a:rPr lang="es-ES" dirty="0"/>
              <a:t> and </a:t>
            </a:r>
            <a:r>
              <a:rPr lang="es-ES" dirty="0" err="1"/>
              <a:t>interests</a:t>
            </a:r>
            <a:endParaRPr lang="es-ES" dirty="0"/>
          </a:p>
          <a:p>
            <a:pPr marL="342900" indent="-342900">
              <a:buFont typeface="+mj-lt"/>
              <a:buAutoNum type="alphaUcPeriod"/>
            </a:pPr>
            <a:r>
              <a:rPr lang="es-ES" dirty="0"/>
              <a:t>Effect of exchange </a:t>
            </a:r>
            <a:r>
              <a:rPr lang="es-ES" dirty="0" err="1"/>
              <a:t>rate</a:t>
            </a:r>
            <a:r>
              <a:rPr lang="es-ES" dirty="0"/>
              <a:t> </a:t>
            </a:r>
            <a:r>
              <a:rPr lang="es-ES" dirty="0" err="1"/>
              <a:t>fluctuations</a:t>
            </a:r>
            <a:endParaRPr lang="es-ES" dirty="0"/>
          </a:p>
          <a:p>
            <a:pPr marL="342900" indent="-342900">
              <a:buFont typeface="+mj-lt"/>
              <a:buAutoNum type="alphaUcPeriod"/>
            </a:pPr>
            <a:r>
              <a:rPr lang="es-ES" dirty="0"/>
              <a:t>Net increase/decrease in cash</a:t>
            </a:r>
          </a:p>
          <a:p>
            <a:pPr marL="0" indent="0">
              <a:buNone/>
            </a:pPr>
            <a:r>
              <a:rPr lang="es-ES" dirty="0"/>
              <a:t>Cash at beginning of year</a:t>
            </a:r>
          </a:p>
          <a:p>
            <a:pPr marL="0" indent="0">
              <a:buNone/>
            </a:pPr>
            <a:r>
              <a:rPr lang="es-ES" dirty="0"/>
              <a:t>Cash at year-end</a:t>
            </a:r>
          </a:p>
        </p:txBody>
      </p:sp>
    </p:spTree>
    <p:extLst>
      <p:ext uri="{BB962C8B-B14F-4D97-AF65-F5344CB8AC3E}">
        <p14:creationId xmlns:p14="http://schemas.microsoft.com/office/powerpoint/2010/main" val="346751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EB62C-530D-CAA1-C1E9-9A6797CF8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CFS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1C0237A-71FA-8EB3-C80C-9905220E82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685120"/>
              </p:ext>
            </p:extLst>
          </p:nvPr>
        </p:nvGraphicFramePr>
        <p:xfrm>
          <a:off x="628649" y="1825625"/>
          <a:ext cx="522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61366480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35675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6468438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7690195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Life cycle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458914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ntroduction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960781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growth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055146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maturity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914317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decline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0834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restructuring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443713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l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liquidation</a:t>
                      </a:r>
                    </a:p>
                  </a:txBody>
                  <a:tcPr marL="180000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5037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150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8018-55ED-2BF2-DDF0-CC04CCD3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1EC46-02C1-1F40-4550-D2B12A24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CFS - </a:t>
            </a:r>
            <a:r>
              <a:rPr lang="es-ES" dirty="0" err="1"/>
              <a:t>example</a:t>
            </a:r>
            <a:r>
              <a:rPr lang="es-ES" dirty="0"/>
              <a:t>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A547F2-B7EA-FBAC-0FED-96437E56E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 company presents the following comparative data for its current assets and current liabilities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US" dirty="0"/>
              <a:t>Obtain the cash flows from operating activities for the year 20XX.</a:t>
            </a: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7EA8E5D-6DBD-D1E5-2839-1F5A7CD09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542519"/>
              </p:ext>
            </p:extLst>
          </p:nvPr>
        </p:nvGraphicFramePr>
        <p:xfrm>
          <a:off x="1512000" y="2501900"/>
          <a:ext cx="612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63333293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8906888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3087320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53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Inventories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74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Trade receivables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45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42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Trade payables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98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028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jgk">
      <a:majorFont>
        <a:latin typeface="Montserrat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892</Words>
  <Application>Microsoft Office PowerPoint</Application>
  <PresentationFormat>Presentación en pantalla (4:3)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Montserrat</vt:lpstr>
      <vt:lpstr>Montserrat SemiBold</vt:lpstr>
      <vt:lpstr>Wingdings</vt:lpstr>
      <vt:lpstr>Tema de Office</vt:lpstr>
      <vt:lpstr>Unit 3 Financial Statements II</vt:lpstr>
      <vt:lpstr>Notes</vt:lpstr>
      <vt:lpstr>SCE</vt:lpstr>
      <vt:lpstr>SCE</vt:lpstr>
      <vt:lpstr>SCE - example 1</vt:lpstr>
      <vt:lpstr>SCE - example 2</vt:lpstr>
      <vt:lpstr>CFS</vt:lpstr>
      <vt:lpstr>CFS</vt:lpstr>
      <vt:lpstr>CFS - example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, docId:E9EC07B154617142189B27290182C271</cp:keywords>
  <cp:lastModifiedBy>JORGE GALLUD CANO</cp:lastModifiedBy>
  <cp:revision>2</cp:revision>
  <dcterms:created xsi:type="dcterms:W3CDTF">2021-03-24T11:03:23Z</dcterms:created>
  <dcterms:modified xsi:type="dcterms:W3CDTF">2025-10-27T12:34:46Z</dcterms:modified>
</cp:coreProperties>
</file>